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9144000" cy="2743200"/>
          </a:xfrm>
          <a:prstGeom prst="rect">
            <a:avLst/>
          </a:prstGeom>
          <a:solidFill>
            <a:srgbClr val="021E3E"/>
          </a:solidFill>
          <a:ln/>
        </p:spPr>
      </p:sp>
      <p:sp>
        <p:nvSpPr>
          <p:cNvPr id="3" name="Shape 1"/>
          <p:cNvSpPr/>
          <p:nvPr/>
        </p:nvSpPr>
        <p:spPr>
          <a:xfrm>
            <a:off x="0" y="2743200"/>
            <a:ext cx="914400" cy="4114800"/>
          </a:xfrm>
          <a:prstGeom prst="rect">
            <a:avLst/>
          </a:prstGeom>
          <a:solidFill>
            <a:srgbClr val="02C39A"/>
          </a:solidFill>
          <a:ln/>
        </p:spPr>
      </p:sp>
      <p:sp>
        <p:nvSpPr>
          <p:cNvPr id="4" name="Text 2"/>
          <p:cNvSpPr/>
          <p:nvPr/>
        </p:nvSpPr>
        <p:spPr>
          <a:xfrm>
            <a:off x="1371600" y="2286000"/>
            <a:ext cx="7315200" cy="1371600"/>
          </a:xfrm>
          <a:prstGeom prst="rect">
            <a:avLst/>
          </a:prstGeom>
          <a:noFill/>
          <a:ln/>
        </p:spPr>
        <p:txBody>
          <a:bodyPr wrap="square" rtlCol="0" anchor="ctr"/>
          <a:lstStyle/>
          <a:p>
            <a:pPr algn="l" indent="0" marL="0">
              <a:buNone/>
            </a:pPr>
            <a:r>
              <a:rPr lang="en-US" sz="5400" b="1" dirty="0">
                <a:solidFill>
                  <a:srgbClr val="E8F4F8"/>
                </a:solidFill>
                <a:latin typeface="Calibri" pitchFamily="34" charset="0"/>
                <a:ea typeface="Calibri" pitchFamily="34" charset="-122"/>
                <a:cs typeface="Calibri" pitchFamily="34" charset="-120"/>
              </a:rPr>
              <a:t>DBSCAN Algorithm</a:t>
            </a:r>
            <a:endParaRPr lang="en-US" sz="5400" dirty="0"/>
          </a:p>
        </p:txBody>
      </p:sp>
      <p:sp>
        <p:nvSpPr>
          <p:cNvPr id="5" name="Text 3"/>
          <p:cNvSpPr/>
          <p:nvPr/>
        </p:nvSpPr>
        <p:spPr>
          <a:xfrm>
            <a:off x="1371600" y="3840480"/>
            <a:ext cx="7315200" cy="1828800"/>
          </a:xfrm>
          <a:prstGeom prst="rect">
            <a:avLst/>
          </a:prstGeom>
          <a:noFill/>
          <a:ln/>
        </p:spPr>
        <p:txBody>
          <a:bodyPr wrap="square" rtlCol="0" anchor="ctr"/>
          <a:lstStyle/>
          <a:p>
            <a:pPr algn="l" indent="0" marL="0">
              <a:buNone/>
            </a:pPr>
            <a:r>
              <a:rPr lang="en-US" sz="2400" dirty="0">
                <a:solidFill>
                  <a:srgbClr val="E8F4F8"/>
                </a:solidFill>
                <a:latin typeface="Calibri" pitchFamily="34" charset="0"/>
                <a:ea typeface="Calibri" pitchFamily="34" charset="-122"/>
                <a:cs typeface="Calibri" pitchFamily="34" charset="-120"/>
              </a:rPr>
              <a:t>Density-Based Spatial Clustering for Sentence Reconstruction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What is DBSCAN?</a:t>
            </a:r>
            <a:endParaRPr lang="en-US" sz="4000" dirty="0"/>
          </a:p>
        </p:txBody>
      </p:sp>
      <p:sp>
        <p:nvSpPr>
          <p:cNvPr id="5" name="Text 3"/>
          <p:cNvSpPr/>
          <p:nvPr/>
        </p:nvSpPr>
        <p:spPr>
          <a:xfrm>
            <a:off x="731520" y="1097280"/>
            <a:ext cx="777240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DBSCAN (Density-Based Spatial Clustering with Noise)</a:t>
            </a:r>
            <a:endParaRPr lang="en-US" sz="2000" dirty="0"/>
          </a:p>
        </p:txBody>
      </p:sp>
      <p:sp>
        <p:nvSpPr>
          <p:cNvPr id="6" name="Text 4"/>
          <p:cNvSpPr/>
          <p:nvPr/>
        </p:nvSpPr>
        <p:spPr>
          <a:xfrm>
            <a:off x="731520" y="1737360"/>
            <a:ext cx="7772400" cy="9144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 clustering algorithm that groups objects that are closely packed together, marking outliers as noise.</a:t>
            </a:r>
            <a:endParaRPr lang="en-US" sz="1400" dirty="0"/>
          </a:p>
        </p:txBody>
      </p:sp>
      <p:sp>
        <p:nvSpPr>
          <p:cNvPr id="7" name="Text 5"/>
          <p:cNvSpPr/>
          <p:nvPr/>
        </p:nvSpPr>
        <p:spPr>
          <a:xfrm>
            <a:off x="1097280" y="2834640"/>
            <a:ext cx="7315200" cy="3657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 Density-based approach (not partition-based)</a:t>
            </a:r>
            <a:endParaRPr lang="en-US" sz="1400" dirty="0"/>
          </a:p>
        </p:txBody>
      </p:sp>
      <p:sp>
        <p:nvSpPr>
          <p:cNvPr id="8" name="Text 6"/>
          <p:cNvSpPr/>
          <p:nvPr/>
        </p:nvSpPr>
        <p:spPr>
          <a:xfrm>
            <a:off x="1097280" y="3291840"/>
            <a:ext cx="7315200" cy="3657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 Discovers clusters of arbitrary shape</a:t>
            </a:r>
            <a:endParaRPr lang="en-US" sz="1400" dirty="0"/>
          </a:p>
        </p:txBody>
      </p:sp>
      <p:sp>
        <p:nvSpPr>
          <p:cNvPr id="9" name="Text 7"/>
          <p:cNvSpPr/>
          <p:nvPr/>
        </p:nvSpPr>
        <p:spPr>
          <a:xfrm>
            <a:off x="1097280" y="3749040"/>
            <a:ext cx="7315200" cy="3657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 Handles outliers naturally</a:t>
            </a:r>
            <a:endParaRPr lang="en-US" sz="1400" dirty="0"/>
          </a:p>
        </p:txBody>
      </p:sp>
      <p:sp>
        <p:nvSpPr>
          <p:cNvPr id="10" name="Text 8"/>
          <p:cNvSpPr/>
          <p:nvPr/>
        </p:nvSpPr>
        <p:spPr>
          <a:xfrm>
            <a:off x="1097280" y="4206240"/>
            <a:ext cx="7315200" cy="3657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 Works with spatial and semantic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DBSCAN Parameters</a:t>
            </a:r>
            <a:endParaRPr lang="en-US" sz="4000" dirty="0"/>
          </a:p>
        </p:txBody>
      </p:sp>
      <p:sp>
        <p:nvSpPr>
          <p:cNvPr id="5" name="Shape 3"/>
          <p:cNvSpPr/>
          <p:nvPr/>
        </p:nvSpPr>
        <p:spPr>
          <a:xfrm>
            <a:off x="731520" y="1188720"/>
            <a:ext cx="7772400" cy="1005840"/>
          </a:xfrm>
          <a:prstGeom prst="rect">
            <a:avLst/>
          </a:prstGeom>
          <a:solidFill>
            <a:srgbClr val="E8F4F8"/>
          </a:solidFill>
          <a:ln w="25400">
            <a:solidFill>
              <a:srgbClr val="1C7293"/>
            </a:solidFill>
            <a:prstDash val="solid"/>
          </a:ln>
        </p:spPr>
      </p:sp>
      <p:sp>
        <p:nvSpPr>
          <p:cNvPr id="6" name="Text 4"/>
          <p:cNvSpPr/>
          <p:nvPr/>
        </p:nvSpPr>
        <p:spPr>
          <a:xfrm>
            <a:off x="914400" y="1280160"/>
            <a:ext cx="2286000" cy="365760"/>
          </a:xfrm>
          <a:prstGeom prst="rect">
            <a:avLst/>
          </a:prstGeom>
          <a:noFill/>
          <a:ln/>
        </p:spPr>
        <p:txBody>
          <a:bodyPr wrap="square"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eps (ε)</a:t>
            </a:r>
            <a:endParaRPr lang="en-US" sz="1600" dirty="0"/>
          </a:p>
        </p:txBody>
      </p:sp>
      <p:sp>
        <p:nvSpPr>
          <p:cNvPr id="7" name="Text 5"/>
          <p:cNvSpPr/>
          <p:nvPr/>
        </p:nvSpPr>
        <p:spPr>
          <a:xfrm>
            <a:off x="914400" y="1691640"/>
            <a:ext cx="73152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Maximum distance between points in a cluster</a:t>
            </a:r>
            <a:endParaRPr lang="en-US" sz="1200" dirty="0"/>
          </a:p>
        </p:txBody>
      </p:sp>
      <p:sp>
        <p:nvSpPr>
          <p:cNvPr id="8" name="Shape 6"/>
          <p:cNvSpPr/>
          <p:nvPr/>
        </p:nvSpPr>
        <p:spPr>
          <a:xfrm>
            <a:off x="731520" y="2377440"/>
            <a:ext cx="7772400" cy="1005840"/>
          </a:xfrm>
          <a:prstGeom prst="rect">
            <a:avLst/>
          </a:prstGeom>
          <a:solidFill>
            <a:srgbClr val="E8F4F8"/>
          </a:solidFill>
          <a:ln w="25400">
            <a:solidFill>
              <a:srgbClr val="1C7293"/>
            </a:solidFill>
            <a:prstDash val="solid"/>
          </a:ln>
        </p:spPr>
      </p:sp>
      <p:sp>
        <p:nvSpPr>
          <p:cNvPr id="9" name="Text 7"/>
          <p:cNvSpPr/>
          <p:nvPr/>
        </p:nvSpPr>
        <p:spPr>
          <a:xfrm>
            <a:off x="914400" y="2468880"/>
            <a:ext cx="2286000" cy="365760"/>
          </a:xfrm>
          <a:prstGeom prst="rect">
            <a:avLst/>
          </a:prstGeom>
          <a:noFill/>
          <a:ln/>
        </p:spPr>
        <p:txBody>
          <a:bodyPr wrap="square"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min_points</a:t>
            </a:r>
            <a:endParaRPr lang="en-US" sz="1600" dirty="0"/>
          </a:p>
        </p:txBody>
      </p:sp>
      <p:sp>
        <p:nvSpPr>
          <p:cNvPr id="10" name="Text 8"/>
          <p:cNvSpPr/>
          <p:nvPr/>
        </p:nvSpPr>
        <p:spPr>
          <a:xfrm>
            <a:off x="914400" y="2880360"/>
            <a:ext cx="73152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Minimum number of points to form a dense region</a:t>
            </a:r>
            <a:endParaRPr lang="en-US" sz="1200" dirty="0"/>
          </a:p>
        </p:txBody>
      </p:sp>
      <p:sp>
        <p:nvSpPr>
          <p:cNvPr id="11" name="Shape 9"/>
          <p:cNvSpPr/>
          <p:nvPr/>
        </p:nvSpPr>
        <p:spPr>
          <a:xfrm>
            <a:off x="731520" y="3566160"/>
            <a:ext cx="7772400" cy="1005840"/>
          </a:xfrm>
          <a:prstGeom prst="rect">
            <a:avLst/>
          </a:prstGeom>
          <a:solidFill>
            <a:srgbClr val="E8F4F8"/>
          </a:solidFill>
          <a:ln w="25400">
            <a:solidFill>
              <a:srgbClr val="1C7293"/>
            </a:solidFill>
            <a:prstDash val="solid"/>
          </a:ln>
        </p:spPr>
      </p:sp>
      <p:sp>
        <p:nvSpPr>
          <p:cNvPr id="12" name="Text 10"/>
          <p:cNvSpPr/>
          <p:nvPr/>
        </p:nvSpPr>
        <p:spPr>
          <a:xfrm>
            <a:off x="914400" y="3657600"/>
            <a:ext cx="2286000" cy="365760"/>
          </a:xfrm>
          <a:prstGeom prst="rect">
            <a:avLst/>
          </a:prstGeom>
          <a:noFill/>
          <a:ln/>
        </p:spPr>
        <p:txBody>
          <a:bodyPr wrap="square"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distance metric</a:t>
            </a:r>
            <a:endParaRPr lang="en-US" sz="1600" dirty="0"/>
          </a:p>
        </p:txBody>
      </p:sp>
      <p:sp>
        <p:nvSpPr>
          <p:cNvPr id="13" name="Text 11"/>
          <p:cNvSpPr/>
          <p:nvPr/>
        </p:nvSpPr>
        <p:spPr>
          <a:xfrm>
            <a:off x="914400" y="4069080"/>
            <a:ext cx="73152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How to measure similarity (Euclidean, Cosine, etc.)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How DBSCAN Works</a:t>
            </a:r>
            <a:endParaRPr lang="en-US" sz="4000" dirty="0"/>
          </a:p>
        </p:txBody>
      </p:sp>
      <p:sp>
        <p:nvSpPr>
          <p:cNvPr id="5" name="Shape 3"/>
          <p:cNvSpPr/>
          <p:nvPr/>
        </p:nvSpPr>
        <p:spPr>
          <a:xfrm>
            <a:off x="914400" y="1143000"/>
            <a:ext cx="320040" cy="320040"/>
          </a:xfrm>
          <a:prstGeom prst="ellipse">
            <a:avLst/>
          </a:prstGeom>
          <a:solidFill>
            <a:srgbClr val="02C39A"/>
          </a:solidFill>
          <a:ln/>
        </p:spPr>
      </p:sp>
      <p:sp>
        <p:nvSpPr>
          <p:cNvPr id="6" name="Text 4"/>
          <p:cNvSpPr/>
          <p:nvPr/>
        </p:nvSpPr>
        <p:spPr>
          <a:xfrm>
            <a:off x="914400" y="1143000"/>
            <a:ext cx="320040" cy="320040"/>
          </a:xfrm>
          <a:prstGeom prst="rect">
            <a:avLst/>
          </a:prstGeom>
          <a:noFill/>
          <a:ln/>
        </p:spPr>
        <p:txBody>
          <a:bodyPr wrap="square" rtlCol="0" anchor="ctr"/>
          <a:lstStyle/>
          <a:p>
            <a:pPr algn="ctr" indent="0" marL="0">
              <a:buNone/>
            </a:pPr>
            <a:r>
              <a:rPr lang="en-US" sz="1400" b="1" dirty="0">
                <a:solidFill>
                  <a:srgbClr val="021E3E"/>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188720"/>
            <a:ext cx="704088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1. For each unvisited point, calculate its ε-neighborhood</a:t>
            </a:r>
            <a:endParaRPr lang="en-US" sz="1400" dirty="0"/>
          </a:p>
        </p:txBody>
      </p:sp>
      <p:sp>
        <p:nvSpPr>
          <p:cNvPr id="8" name="Shape 6"/>
          <p:cNvSpPr/>
          <p:nvPr/>
        </p:nvSpPr>
        <p:spPr>
          <a:xfrm>
            <a:off x="914400" y="2057400"/>
            <a:ext cx="320040" cy="320040"/>
          </a:xfrm>
          <a:prstGeom prst="ellipse">
            <a:avLst/>
          </a:prstGeom>
          <a:solidFill>
            <a:srgbClr val="02C39A"/>
          </a:solidFill>
          <a:ln/>
        </p:spPr>
      </p:sp>
      <p:sp>
        <p:nvSpPr>
          <p:cNvPr id="9" name="Text 7"/>
          <p:cNvSpPr/>
          <p:nvPr/>
        </p:nvSpPr>
        <p:spPr>
          <a:xfrm>
            <a:off x="914400" y="2057400"/>
            <a:ext cx="320040" cy="320040"/>
          </a:xfrm>
          <a:prstGeom prst="rect">
            <a:avLst/>
          </a:prstGeom>
          <a:noFill/>
          <a:ln/>
        </p:spPr>
        <p:txBody>
          <a:bodyPr wrap="square" rtlCol="0" anchor="ctr"/>
          <a:lstStyle/>
          <a:p>
            <a:pPr algn="ctr" indent="0" marL="0">
              <a:buNone/>
            </a:pPr>
            <a:r>
              <a:rPr lang="en-US" sz="1400" b="1" dirty="0">
                <a:solidFill>
                  <a:srgbClr val="021E3E"/>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463040" y="2103120"/>
            <a:ext cx="704088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2. If neighborhood has ≥ min_points, form a new cluster</a:t>
            </a:r>
            <a:endParaRPr lang="en-US" sz="1400" dirty="0"/>
          </a:p>
        </p:txBody>
      </p:sp>
      <p:sp>
        <p:nvSpPr>
          <p:cNvPr id="11" name="Shape 9"/>
          <p:cNvSpPr/>
          <p:nvPr/>
        </p:nvSpPr>
        <p:spPr>
          <a:xfrm>
            <a:off x="914400" y="2971800"/>
            <a:ext cx="320040" cy="320040"/>
          </a:xfrm>
          <a:prstGeom prst="ellipse">
            <a:avLst/>
          </a:prstGeom>
          <a:solidFill>
            <a:srgbClr val="02C39A"/>
          </a:solidFill>
          <a:ln/>
        </p:spPr>
      </p:sp>
      <p:sp>
        <p:nvSpPr>
          <p:cNvPr id="12" name="Text 10"/>
          <p:cNvSpPr/>
          <p:nvPr/>
        </p:nvSpPr>
        <p:spPr>
          <a:xfrm>
            <a:off x="914400" y="2971800"/>
            <a:ext cx="320040" cy="320040"/>
          </a:xfrm>
          <a:prstGeom prst="rect">
            <a:avLst/>
          </a:prstGeom>
          <a:noFill/>
          <a:ln/>
        </p:spPr>
        <p:txBody>
          <a:bodyPr wrap="square" rtlCol="0" anchor="ctr"/>
          <a:lstStyle/>
          <a:p>
            <a:pPr algn="ctr" indent="0" marL="0">
              <a:buNone/>
            </a:pPr>
            <a:r>
              <a:rPr lang="en-US" sz="1400" b="1" dirty="0">
                <a:solidFill>
                  <a:srgbClr val="021E3E"/>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463040" y="3017520"/>
            <a:ext cx="704088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3. Expand cluster by adding all density-reachable points</a:t>
            </a:r>
            <a:endParaRPr lang="en-US" sz="1400" dirty="0"/>
          </a:p>
        </p:txBody>
      </p:sp>
      <p:sp>
        <p:nvSpPr>
          <p:cNvPr id="14" name="Shape 12"/>
          <p:cNvSpPr/>
          <p:nvPr/>
        </p:nvSpPr>
        <p:spPr>
          <a:xfrm>
            <a:off x="914400" y="3886200"/>
            <a:ext cx="320040" cy="320040"/>
          </a:xfrm>
          <a:prstGeom prst="ellipse">
            <a:avLst/>
          </a:prstGeom>
          <a:solidFill>
            <a:srgbClr val="02C39A"/>
          </a:solidFill>
          <a:ln/>
        </p:spPr>
      </p:sp>
      <p:sp>
        <p:nvSpPr>
          <p:cNvPr id="15" name="Text 13"/>
          <p:cNvSpPr/>
          <p:nvPr/>
        </p:nvSpPr>
        <p:spPr>
          <a:xfrm>
            <a:off x="914400" y="3886200"/>
            <a:ext cx="320040" cy="320040"/>
          </a:xfrm>
          <a:prstGeom prst="rect">
            <a:avLst/>
          </a:prstGeom>
          <a:noFill/>
          <a:ln/>
        </p:spPr>
        <p:txBody>
          <a:bodyPr wrap="square" rtlCol="0" anchor="ctr"/>
          <a:lstStyle/>
          <a:p>
            <a:pPr algn="ctr" indent="0" marL="0">
              <a:buNone/>
            </a:pPr>
            <a:r>
              <a:rPr lang="en-US" sz="1400" b="1" dirty="0">
                <a:solidFill>
                  <a:srgbClr val="021E3E"/>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463040" y="3931920"/>
            <a:ext cx="704088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4. Mark isolated points as noise/outliers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Sentence Reconstruction</a:t>
            </a:r>
            <a:endParaRPr lang="en-US" sz="4000" dirty="0"/>
          </a:p>
        </p:txBody>
      </p:sp>
      <p:sp>
        <p:nvSpPr>
          <p:cNvPr id="5" name="Text 3"/>
          <p:cNvSpPr/>
          <p:nvPr/>
        </p:nvSpPr>
        <p:spPr>
          <a:xfrm>
            <a:off x="731520" y="1097280"/>
            <a:ext cx="7772400" cy="365760"/>
          </a:xfrm>
          <a:prstGeom prst="rect">
            <a:avLst/>
          </a:prstGeom>
          <a:noFill/>
          <a:ln/>
        </p:spPr>
        <p:txBody>
          <a:bodyPr wrap="square" rtlCol="0" anchor="ctr"/>
          <a:lstStyle/>
          <a:p>
            <a:pPr indent="0" marL="0">
              <a:buNone/>
            </a:pPr>
            <a:r>
              <a:rPr lang="en-US" sz="1800" b="1" dirty="0">
                <a:solidFill>
                  <a:srgbClr val="065A82"/>
                </a:solidFill>
                <a:latin typeface="Calibri" pitchFamily="34" charset="0"/>
                <a:ea typeface="Calibri" pitchFamily="34" charset="-122"/>
                <a:cs typeface="Calibri" pitchFamily="34" charset="-120"/>
              </a:rPr>
              <a:t>Applying DBSCAN to NLP Tasks</a:t>
            </a:r>
            <a:endParaRPr lang="en-US" sz="1800" dirty="0"/>
          </a:p>
        </p:txBody>
      </p:sp>
      <p:sp>
        <p:nvSpPr>
          <p:cNvPr id="6" name="Text 4"/>
          <p:cNvSpPr/>
          <p:nvPr/>
        </p:nvSpPr>
        <p:spPr>
          <a:xfrm>
            <a:off x="731520" y="1645920"/>
            <a:ext cx="7772400" cy="548640"/>
          </a:xfrm>
          <a:prstGeom prst="rect">
            <a:avLst/>
          </a:prstGeom>
          <a:noFill/>
          <a:ln/>
        </p:spPr>
        <p:txBody>
          <a:bodyPr wrap="square"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Problem: Reconstruct coherent sentences from scrambled or fragmented text</a:t>
            </a:r>
            <a:endParaRPr lang="en-US" sz="1300" dirty="0"/>
          </a:p>
        </p:txBody>
      </p:sp>
      <p:sp>
        <p:nvSpPr>
          <p:cNvPr id="7" name="Text 5"/>
          <p:cNvSpPr/>
          <p:nvPr/>
        </p:nvSpPr>
        <p:spPr>
          <a:xfrm>
            <a:off x="1097280" y="2468880"/>
            <a:ext cx="731520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1. Embed words/phrases using word vectors (Word2Vec, GloVe, BERT)</a:t>
            </a:r>
            <a:endParaRPr lang="en-US" sz="1300" dirty="0"/>
          </a:p>
        </p:txBody>
      </p:sp>
      <p:sp>
        <p:nvSpPr>
          <p:cNvPr id="8" name="Text 6"/>
          <p:cNvSpPr/>
          <p:nvPr/>
        </p:nvSpPr>
        <p:spPr>
          <a:xfrm>
            <a:off x="1097280" y="2971800"/>
            <a:ext cx="731520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2. Treat embeddings as points in high-dimensional space</a:t>
            </a:r>
            <a:endParaRPr lang="en-US" sz="1300" dirty="0"/>
          </a:p>
        </p:txBody>
      </p:sp>
      <p:sp>
        <p:nvSpPr>
          <p:cNvPr id="9" name="Text 7"/>
          <p:cNvSpPr/>
          <p:nvPr/>
        </p:nvSpPr>
        <p:spPr>
          <a:xfrm>
            <a:off x="1097280" y="3474720"/>
            <a:ext cx="731520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3. Apply DBSCAN with semantic similarity as distance metric</a:t>
            </a:r>
            <a:endParaRPr lang="en-US" sz="1300" dirty="0"/>
          </a:p>
        </p:txBody>
      </p:sp>
      <p:sp>
        <p:nvSpPr>
          <p:cNvPr id="10" name="Text 8"/>
          <p:cNvSpPr/>
          <p:nvPr/>
        </p:nvSpPr>
        <p:spPr>
          <a:xfrm>
            <a:off x="1097280" y="3977640"/>
            <a:ext cx="731520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4. Cluster semantically related words together</a:t>
            </a:r>
            <a:endParaRPr lang="en-US" sz="1300" dirty="0"/>
          </a:p>
        </p:txBody>
      </p:sp>
      <p:sp>
        <p:nvSpPr>
          <p:cNvPr id="11" name="Text 9"/>
          <p:cNvSpPr/>
          <p:nvPr/>
        </p:nvSpPr>
        <p:spPr>
          <a:xfrm>
            <a:off x="1097280" y="4480560"/>
            <a:ext cx="731520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5. Reconstruct sentences from coherent clusters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Workflow Example</a:t>
            </a:r>
            <a:endParaRPr lang="en-US" sz="4000" dirty="0"/>
          </a:p>
        </p:txBody>
      </p:sp>
      <p:sp>
        <p:nvSpPr>
          <p:cNvPr id="5" name="Shape 3"/>
          <p:cNvSpPr/>
          <p:nvPr/>
        </p:nvSpPr>
        <p:spPr>
          <a:xfrm>
            <a:off x="1371600" y="1188720"/>
            <a:ext cx="1371600" cy="365760"/>
          </a:xfrm>
          <a:prstGeom prst="rect">
            <a:avLst/>
          </a:prstGeom>
          <a:solidFill>
            <a:srgbClr val="1C7293"/>
          </a:solidFill>
          <a:ln/>
        </p:spPr>
      </p:sp>
      <p:sp>
        <p:nvSpPr>
          <p:cNvPr id="6" name="Text 4"/>
          <p:cNvSpPr/>
          <p:nvPr/>
        </p:nvSpPr>
        <p:spPr>
          <a:xfrm>
            <a:off x="1371600" y="1188720"/>
            <a:ext cx="1371600" cy="36576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INPUT</a:t>
            </a:r>
            <a:endParaRPr lang="en-US" sz="1100" dirty="0"/>
          </a:p>
        </p:txBody>
      </p:sp>
      <p:sp>
        <p:nvSpPr>
          <p:cNvPr id="7" name="Shape 5"/>
          <p:cNvSpPr/>
          <p:nvPr/>
        </p:nvSpPr>
        <p:spPr>
          <a:xfrm>
            <a:off x="3383280" y="1143000"/>
            <a:ext cx="4572000" cy="457200"/>
          </a:xfrm>
          <a:prstGeom prst="rect">
            <a:avLst/>
          </a:prstGeom>
          <a:solidFill>
            <a:srgbClr val="E8F4F8"/>
          </a:solidFill>
          <a:ln w="12700">
            <a:solidFill>
              <a:srgbClr val="1C7293"/>
            </a:solidFill>
            <a:prstDash val="solid"/>
          </a:ln>
        </p:spPr>
      </p:sp>
      <p:sp>
        <p:nvSpPr>
          <p:cNvPr id="8" name="Text 6"/>
          <p:cNvSpPr/>
          <p:nvPr/>
        </p:nvSpPr>
        <p:spPr>
          <a:xfrm>
            <a:off x="3566160" y="1143000"/>
            <a:ext cx="4206240" cy="45720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Jumbled words: "cat the sat on mat"</a:t>
            </a:r>
            <a:endParaRPr lang="en-US" sz="1200" dirty="0"/>
          </a:p>
        </p:txBody>
      </p:sp>
      <p:sp>
        <p:nvSpPr>
          <p:cNvPr id="9" name="Shape 7"/>
          <p:cNvSpPr/>
          <p:nvPr/>
        </p:nvSpPr>
        <p:spPr>
          <a:xfrm>
            <a:off x="1371600" y="2240280"/>
            <a:ext cx="1371600" cy="365760"/>
          </a:xfrm>
          <a:prstGeom prst="rect">
            <a:avLst/>
          </a:prstGeom>
          <a:solidFill>
            <a:srgbClr val="02C39A"/>
          </a:solidFill>
          <a:ln/>
        </p:spPr>
      </p:sp>
      <p:sp>
        <p:nvSpPr>
          <p:cNvPr id="10" name="Text 8"/>
          <p:cNvSpPr/>
          <p:nvPr/>
        </p:nvSpPr>
        <p:spPr>
          <a:xfrm>
            <a:off x="1371600" y="2240280"/>
            <a:ext cx="1371600" cy="36576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EMBED</a:t>
            </a:r>
            <a:endParaRPr lang="en-US" sz="1100" dirty="0"/>
          </a:p>
        </p:txBody>
      </p:sp>
      <p:sp>
        <p:nvSpPr>
          <p:cNvPr id="11" name="Shape 9"/>
          <p:cNvSpPr/>
          <p:nvPr/>
        </p:nvSpPr>
        <p:spPr>
          <a:xfrm rot="5400000">
            <a:off x="2926080" y="1920240"/>
            <a:ext cx="274320" cy="274320"/>
          </a:xfrm>
          <a:prstGeom prst="triangle">
            <a:avLst/>
          </a:prstGeom>
          <a:solidFill>
            <a:srgbClr val="02C39A"/>
          </a:solidFill>
          <a:ln/>
        </p:spPr>
      </p:sp>
      <p:sp>
        <p:nvSpPr>
          <p:cNvPr id="12" name="Shape 10"/>
          <p:cNvSpPr/>
          <p:nvPr/>
        </p:nvSpPr>
        <p:spPr>
          <a:xfrm>
            <a:off x="3383280" y="2194560"/>
            <a:ext cx="4572000" cy="457200"/>
          </a:xfrm>
          <a:prstGeom prst="rect">
            <a:avLst/>
          </a:prstGeom>
          <a:solidFill>
            <a:srgbClr val="E8F4F8"/>
          </a:solidFill>
          <a:ln w="12700">
            <a:solidFill>
              <a:srgbClr val="02C39A"/>
            </a:solidFill>
            <a:prstDash val="solid"/>
          </a:ln>
        </p:spPr>
      </p:sp>
      <p:sp>
        <p:nvSpPr>
          <p:cNvPr id="13" name="Text 11"/>
          <p:cNvSpPr/>
          <p:nvPr/>
        </p:nvSpPr>
        <p:spPr>
          <a:xfrm>
            <a:off x="3566160" y="2194560"/>
            <a:ext cx="4206240" cy="45720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Vector representations created</a:t>
            </a:r>
            <a:endParaRPr lang="en-US" sz="1200" dirty="0"/>
          </a:p>
        </p:txBody>
      </p:sp>
      <p:sp>
        <p:nvSpPr>
          <p:cNvPr id="14" name="Shape 12"/>
          <p:cNvSpPr/>
          <p:nvPr/>
        </p:nvSpPr>
        <p:spPr>
          <a:xfrm>
            <a:off x="1371600" y="3291840"/>
            <a:ext cx="1371600" cy="365760"/>
          </a:xfrm>
          <a:prstGeom prst="rect">
            <a:avLst/>
          </a:prstGeom>
          <a:solidFill>
            <a:srgbClr val="065A82"/>
          </a:solidFill>
          <a:ln/>
        </p:spPr>
      </p:sp>
      <p:sp>
        <p:nvSpPr>
          <p:cNvPr id="15" name="Text 13"/>
          <p:cNvSpPr/>
          <p:nvPr/>
        </p:nvSpPr>
        <p:spPr>
          <a:xfrm>
            <a:off x="1371600" y="3291840"/>
            <a:ext cx="1371600" cy="36576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CLUSTER</a:t>
            </a:r>
            <a:endParaRPr lang="en-US" sz="1100" dirty="0"/>
          </a:p>
        </p:txBody>
      </p:sp>
      <p:sp>
        <p:nvSpPr>
          <p:cNvPr id="16" name="Shape 14"/>
          <p:cNvSpPr/>
          <p:nvPr/>
        </p:nvSpPr>
        <p:spPr>
          <a:xfrm rot="5400000">
            <a:off x="2926080" y="2971800"/>
            <a:ext cx="274320" cy="274320"/>
          </a:xfrm>
          <a:prstGeom prst="triangle">
            <a:avLst/>
          </a:prstGeom>
          <a:solidFill>
            <a:srgbClr val="02C39A"/>
          </a:solidFill>
          <a:ln/>
        </p:spPr>
      </p:sp>
      <p:sp>
        <p:nvSpPr>
          <p:cNvPr id="17" name="Shape 15"/>
          <p:cNvSpPr/>
          <p:nvPr/>
        </p:nvSpPr>
        <p:spPr>
          <a:xfrm>
            <a:off x="3383280" y="3246120"/>
            <a:ext cx="4572000" cy="457200"/>
          </a:xfrm>
          <a:prstGeom prst="rect">
            <a:avLst/>
          </a:prstGeom>
          <a:solidFill>
            <a:srgbClr val="E8F4F8"/>
          </a:solidFill>
          <a:ln w="12700">
            <a:solidFill>
              <a:srgbClr val="065A82"/>
            </a:solidFill>
            <a:prstDash val="solid"/>
          </a:ln>
        </p:spPr>
      </p:sp>
      <p:sp>
        <p:nvSpPr>
          <p:cNvPr id="18" name="Text 16"/>
          <p:cNvSpPr/>
          <p:nvPr/>
        </p:nvSpPr>
        <p:spPr>
          <a:xfrm>
            <a:off x="3566160" y="3246120"/>
            <a:ext cx="4206240" cy="45720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DBSCAN groups semantic units</a:t>
            </a:r>
            <a:endParaRPr lang="en-US" sz="1200" dirty="0"/>
          </a:p>
        </p:txBody>
      </p:sp>
      <p:sp>
        <p:nvSpPr>
          <p:cNvPr id="19" name="Shape 17"/>
          <p:cNvSpPr/>
          <p:nvPr/>
        </p:nvSpPr>
        <p:spPr>
          <a:xfrm>
            <a:off x="1371600" y="4343400"/>
            <a:ext cx="1371600" cy="365760"/>
          </a:xfrm>
          <a:prstGeom prst="rect">
            <a:avLst/>
          </a:prstGeom>
          <a:solidFill>
            <a:srgbClr val="1C7293"/>
          </a:solidFill>
          <a:ln/>
        </p:spPr>
      </p:sp>
      <p:sp>
        <p:nvSpPr>
          <p:cNvPr id="20" name="Text 18"/>
          <p:cNvSpPr/>
          <p:nvPr/>
        </p:nvSpPr>
        <p:spPr>
          <a:xfrm>
            <a:off x="1371600" y="4343400"/>
            <a:ext cx="1371600" cy="36576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OUTPUT</a:t>
            </a:r>
            <a:endParaRPr lang="en-US" sz="1100" dirty="0"/>
          </a:p>
        </p:txBody>
      </p:sp>
      <p:sp>
        <p:nvSpPr>
          <p:cNvPr id="21" name="Shape 19"/>
          <p:cNvSpPr/>
          <p:nvPr/>
        </p:nvSpPr>
        <p:spPr>
          <a:xfrm rot="5400000">
            <a:off x="2926080" y="4023360"/>
            <a:ext cx="274320" cy="274320"/>
          </a:xfrm>
          <a:prstGeom prst="triangle">
            <a:avLst/>
          </a:prstGeom>
          <a:solidFill>
            <a:srgbClr val="02C39A"/>
          </a:solidFill>
          <a:ln/>
        </p:spPr>
      </p:sp>
      <p:sp>
        <p:nvSpPr>
          <p:cNvPr id="22" name="Shape 20"/>
          <p:cNvSpPr/>
          <p:nvPr/>
        </p:nvSpPr>
        <p:spPr>
          <a:xfrm>
            <a:off x="3383280" y="4297680"/>
            <a:ext cx="4572000" cy="457200"/>
          </a:xfrm>
          <a:prstGeom prst="rect">
            <a:avLst/>
          </a:prstGeom>
          <a:solidFill>
            <a:srgbClr val="E8F4F8"/>
          </a:solidFill>
          <a:ln w="12700">
            <a:solidFill>
              <a:srgbClr val="1C7293"/>
            </a:solidFill>
            <a:prstDash val="solid"/>
          </a:ln>
        </p:spPr>
      </p:sp>
      <p:sp>
        <p:nvSpPr>
          <p:cNvPr id="23" name="Text 21"/>
          <p:cNvSpPr/>
          <p:nvPr/>
        </p:nvSpPr>
        <p:spPr>
          <a:xfrm>
            <a:off x="3566160" y="4297680"/>
            <a:ext cx="4206240" cy="45720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Reconstructed: "the cat sat on mat"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Advantages of DBSCAN</a:t>
            </a:r>
            <a:endParaRPr lang="en-US" sz="4000" dirty="0"/>
          </a:p>
        </p:txBody>
      </p:sp>
      <p:sp>
        <p:nvSpPr>
          <p:cNvPr id="5" name="Shape 3"/>
          <p:cNvSpPr/>
          <p:nvPr/>
        </p:nvSpPr>
        <p:spPr>
          <a:xfrm>
            <a:off x="914400" y="1188720"/>
            <a:ext cx="457200" cy="457200"/>
          </a:xfrm>
          <a:prstGeom prst="ellipse">
            <a:avLst/>
          </a:prstGeom>
          <a:solidFill>
            <a:srgbClr val="02C39A"/>
          </a:solidFill>
          <a:ln/>
        </p:spPr>
      </p:sp>
      <p:sp>
        <p:nvSpPr>
          <p:cNvPr id="6" name="Text 4"/>
          <p:cNvSpPr/>
          <p:nvPr/>
        </p:nvSpPr>
        <p:spPr>
          <a:xfrm>
            <a:off x="914400" y="1188720"/>
            <a:ext cx="457200" cy="457200"/>
          </a:xfrm>
          <a:prstGeom prst="rect">
            <a:avLst/>
          </a:prstGeom>
          <a:noFill/>
          <a:ln/>
        </p:spPr>
        <p:txBody>
          <a:bodyPr wrap="square" rtlCol="0" anchor="ctr"/>
          <a:lstStyle/>
          <a:p>
            <a:pPr algn="ctr" indent="0" marL="0">
              <a:buNone/>
            </a:pPr>
            <a:r>
              <a:rPr lang="en-US" sz="2400" b="1" dirty="0">
                <a:solidFill>
                  <a:srgbClr val="021E3E"/>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554480" y="1234440"/>
            <a:ext cx="2286000" cy="27432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Arbitrary Shapes</a:t>
            </a:r>
            <a:endParaRPr lang="en-US" sz="1400" dirty="0"/>
          </a:p>
        </p:txBody>
      </p:sp>
      <p:sp>
        <p:nvSpPr>
          <p:cNvPr id="8" name="Text 6"/>
          <p:cNvSpPr/>
          <p:nvPr/>
        </p:nvSpPr>
        <p:spPr>
          <a:xfrm>
            <a:off x="1554480" y="1508760"/>
            <a:ext cx="68580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Finds clusters of any shape, unlike K-means</a:t>
            </a:r>
            <a:endParaRPr lang="en-US" sz="1200" dirty="0"/>
          </a:p>
        </p:txBody>
      </p:sp>
      <p:sp>
        <p:nvSpPr>
          <p:cNvPr id="9" name="Shape 7"/>
          <p:cNvSpPr/>
          <p:nvPr/>
        </p:nvSpPr>
        <p:spPr>
          <a:xfrm>
            <a:off x="914400" y="2194560"/>
            <a:ext cx="457200" cy="457200"/>
          </a:xfrm>
          <a:prstGeom prst="ellipse">
            <a:avLst/>
          </a:prstGeom>
          <a:solidFill>
            <a:srgbClr val="02C39A"/>
          </a:solidFill>
          <a:ln/>
        </p:spPr>
      </p:sp>
      <p:sp>
        <p:nvSpPr>
          <p:cNvPr id="10" name="Text 8"/>
          <p:cNvSpPr/>
          <p:nvPr/>
        </p:nvSpPr>
        <p:spPr>
          <a:xfrm>
            <a:off x="914400" y="2194560"/>
            <a:ext cx="457200" cy="457200"/>
          </a:xfrm>
          <a:prstGeom prst="rect">
            <a:avLst/>
          </a:prstGeom>
          <a:noFill/>
          <a:ln/>
        </p:spPr>
        <p:txBody>
          <a:bodyPr wrap="square" rtlCol="0" anchor="ctr"/>
          <a:lstStyle/>
          <a:p>
            <a:pPr algn="ctr" indent="0" marL="0">
              <a:buNone/>
            </a:pPr>
            <a:r>
              <a:rPr lang="en-US" sz="2400" b="1" dirty="0">
                <a:solidFill>
                  <a:srgbClr val="021E3E"/>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1554480" y="2240280"/>
            <a:ext cx="2286000" cy="27432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No K Selection</a:t>
            </a:r>
            <a:endParaRPr lang="en-US" sz="1400" dirty="0"/>
          </a:p>
        </p:txBody>
      </p:sp>
      <p:sp>
        <p:nvSpPr>
          <p:cNvPr id="12" name="Text 10"/>
          <p:cNvSpPr/>
          <p:nvPr/>
        </p:nvSpPr>
        <p:spPr>
          <a:xfrm>
            <a:off x="1554480" y="2514600"/>
            <a:ext cx="68580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No need to pre-specify number of clusters</a:t>
            </a:r>
            <a:endParaRPr lang="en-US" sz="1200" dirty="0"/>
          </a:p>
        </p:txBody>
      </p:sp>
      <p:sp>
        <p:nvSpPr>
          <p:cNvPr id="13" name="Shape 11"/>
          <p:cNvSpPr/>
          <p:nvPr/>
        </p:nvSpPr>
        <p:spPr>
          <a:xfrm>
            <a:off x="914400" y="3200400"/>
            <a:ext cx="457200" cy="457200"/>
          </a:xfrm>
          <a:prstGeom prst="ellipse">
            <a:avLst/>
          </a:prstGeom>
          <a:solidFill>
            <a:srgbClr val="02C39A"/>
          </a:solidFill>
          <a:ln/>
        </p:spPr>
      </p:sp>
      <p:sp>
        <p:nvSpPr>
          <p:cNvPr id="14" name="Text 12"/>
          <p:cNvSpPr/>
          <p:nvPr/>
        </p:nvSpPr>
        <p:spPr>
          <a:xfrm>
            <a:off x="914400" y="3200400"/>
            <a:ext cx="457200" cy="457200"/>
          </a:xfrm>
          <a:prstGeom prst="rect">
            <a:avLst/>
          </a:prstGeom>
          <a:noFill/>
          <a:ln/>
        </p:spPr>
        <p:txBody>
          <a:bodyPr wrap="square" rtlCol="0" anchor="ctr"/>
          <a:lstStyle/>
          <a:p>
            <a:pPr algn="ctr" indent="0" marL="0">
              <a:buNone/>
            </a:pPr>
            <a:r>
              <a:rPr lang="en-US" sz="2400" b="1" dirty="0">
                <a:solidFill>
                  <a:srgbClr val="021E3E"/>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1554480" y="3246120"/>
            <a:ext cx="2286000" cy="27432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Outlier Detection</a:t>
            </a:r>
            <a:endParaRPr lang="en-US" sz="1400" dirty="0"/>
          </a:p>
        </p:txBody>
      </p:sp>
      <p:sp>
        <p:nvSpPr>
          <p:cNvPr id="16" name="Text 14"/>
          <p:cNvSpPr/>
          <p:nvPr/>
        </p:nvSpPr>
        <p:spPr>
          <a:xfrm>
            <a:off x="1554480" y="3520440"/>
            <a:ext cx="68580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Naturally identifies noise and anomalies</a:t>
            </a:r>
            <a:endParaRPr lang="en-US" sz="1200" dirty="0"/>
          </a:p>
        </p:txBody>
      </p:sp>
      <p:sp>
        <p:nvSpPr>
          <p:cNvPr id="17" name="Shape 15"/>
          <p:cNvSpPr/>
          <p:nvPr/>
        </p:nvSpPr>
        <p:spPr>
          <a:xfrm>
            <a:off x="914400" y="4206240"/>
            <a:ext cx="457200" cy="457200"/>
          </a:xfrm>
          <a:prstGeom prst="ellipse">
            <a:avLst/>
          </a:prstGeom>
          <a:solidFill>
            <a:srgbClr val="02C39A"/>
          </a:solidFill>
          <a:ln/>
        </p:spPr>
      </p:sp>
      <p:sp>
        <p:nvSpPr>
          <p:cNvPr id="18" name="Text 16"/>
          <p:cNvSpPr/>
          <p:nvPr/>
        </p:nvSpPr>
        <p:spPr>
          <a:xfrm>
            <a:off x="914400" y="4206240"/>
            <a:ext cx="457200" cy="457200"/>
          </a:xfrm>
          <a:prstGeom prst="rect">
            <a:avLst/>
          </a:prstGeom>
          <a:noFill/>
          <a:ln/>
        </p:spPr>
        <p:txBody>
          <a:bodyPr wrap="square" rtlCol="0" anchor="ctr"/>
          <a:lstStyle/>
          <a:p>
            <a:pPr algn="ctr" indent="0" marL="0">
              <a:buNone/>
            </a:pPr>
            <a:r>
              <a:rPr lang="en-US" sz="2400" b="1" dirty="0">
                <a:solidFill>
                  <a:srgbClr val="021E3E"/>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1554480" y="4251960"/>
            <a:ext cx="2286000" cy="27432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Semantic Coherence</a:t>
            </a:r>
            <a:endParaRPr lang="en-US" sz="1400" dirty="0"/>
          </a:p>
        </p:txBody>
      </p:sp>
      <p:sp>
        <p:nvSpPr>
          <p:cNvPr id="20" name="Text 18"/>
          <p:cNvSpPr/>
          <p:nvPr/>
        </p:nvSpPr>
        <p:spPr>
          <a:xfrm>
            <a:off x="1554480" y="4526280"/>
            <a:ext cx="6858000" cy="3657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Groups semantically related words effectively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Challenges &amp; Considerations</a:t>
            </a:r>
            <a:endParaRPr lang="en-US" sz="4000" dirty="0"/>
          </a:p>
        </p:txBody>
      </p:sp>
      <p:sp>
        <p:nvSpPr>
          <p:cNvPr id="5" name="Shape 3"/>
          <p:cNvSpPr/>
          <p:nvPr/>
        </p:nvSpPr>
        <p:spPr>
          <a:xfrm>
            <a:off x="914400" y="1188720"/>
            <a:ext cx="7772400" cy="822960"/>
          </a:xfrm>
          <a:prstGeom prst="rect">
            <a:avLst/>
          </a:prstGeom>
          <a:solidFill>
            <a:srgbClr val="FFF3E0"/>
          </a:solidFill>
          <a:ln w="12700">
            <a:solidFill>
              <a:srgbClr val="FF9800"/>
            </a:solidFill>
            <a:prstDash val="solid"/>
          </a:ln>
        </p:spPr>
      </p:sp>
      <p:sp>
        <p:nvSpPr>
          <p:cNvPr id="6" name="Text 4"/>
          <p:cNvSpPr/>
          <p:nvPr/>
        </p:nvSpPr>
        <p:spPr>
          <a:xfrm>
            <a:off x="1097280" y="1234440"/>
            <a:ext cx="7315200" cy="27432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Parameter Sensitivity</a:t>
            </a:r>
            <a:endParaRPr lang="en-US" sz="1300" dirty="0"/>
          </a:p>
        </p:txBody>
      </p:sp>
      <p:sp>
        <p:nvSpPr>
          <p:cNvPr id="7" name="Text 5"/>
          <p:cNvSpPr/>
          <p:nvPr/>
        </p:nvSpPr>
        <p:spPr>
          <a:xfrm>
            <a:off x="1097280" y="1508760"/>
            <a:ext cx="7315200" cy="41148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Results depend heavily on ε and min_points values</a:t>
            </a:r>
            <a:endParaRPr lang="en-US" sz="1100" dirty="0"/>
          </a:p>
        </p:txBody>
      </p:sp>
      <p:sp>
        <p:nvSpPr>
          <p:cNvPr id="8" name="Shape 6"/>
          <p:cNvSpPr/>
          <p:nvPr/>
        </p:nvSpPr>
        <p:spPr>
          <a:xfrm>
            <a:off x="914400" y="2148840"/>
            <a:ext cx="7772400" cy="822960"/>
          </a:xfrm>
          <a:prstGeom prst="rect">
            <a:avLst/>
          </a:prstGeom>
          <a:solidFill>
            <a:srgbClr val="FFF3E0"/>
          </a:solidFill>
          <a:ln w="12700">
            <a:solidFill>
              <a:srgbClr val="FF9800"/>
            </a:solidFill>
            <a:prstDash val="solid"/>
          </a:ln>
        </p:spPr>
      </p:sp>
      <p:sp>
        <p:nvSpPr>
          <p:cNvPr id="9" name="Text 7"/>
          <p:cNvSpPr/>
          <p:nvPr/>
        </p:nvSpPr>
        <p:spPr>
          <a:xfrm>
            <a:off x="1097280" y="2194560"/>
            <a:ext cx="7315200" cy="27432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Scalability</a:t>
            </a:r>
            <a:endParaRPr lang="en-US" sz="1300" dirty="0"/>
          </a:p>
        </p:txBody>
      </p:sp>
      <p:sp>
        <p:nvSpPr>
          <p:cNvPr id="10" name="Text 8"/>
          <p:cNvSpPr/>
          <p:nvPr/>
        </p:nvSpPr>
        <p:spPr>
          <a:xfrm>
            <a:off x="1097280" y="2468880"/>
            <a:ext cx="7315200" cy="41148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Computational complexity increases with high dimensions</a:t>
            </a:r>
            <a:endParaRPr lang="en-US" sz="1100" dirty="0"/>
          </a:p>
        </p:txBody>
      </p:sp>
      <p:sp>
        <p:nvSpPr>
          <p:cNvPr id="11" name="Shape 9"/>
          <p:cNvSpPr/>
          <p:nvPr/>
        </p:nvSpPr>
        <p:spPr>
          <a:xfrm>
            <a:off x="914400" y="3108960"/>
            <a:ext cx="7772400" cy="822960"/>
          </a:xfrm>
          <a:prstGeom prst="rect">
            <a:avLst/>
          </a:prstGeom>
          <a:solidFill>
            <a:srgbClr val="FFF3E0"/>
          </a:solidFill>
          <a:ln w="12700">
            <a:solidFill>
              <a:srgbClr val="FF9800"/>
            </a:solidFill>
            <a:prstDash val="solid"/>
          </a:ln>
        </p:spPr>
      </p:sp>
      <p:sp>
        <p:nvSpPr>
          <p:cNvPr id="12" name="Text 10"/>
          <p:cNvSpPr/>
          <p:nvPr/>
        </p:nvSpPr>
        <p:spPr>
          <a:xfrm>
            <a:off x="1097280" y="3154680"/>
            <a:ext cx="7315200" cy="27432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Variable Density</a:t>
            </a:r>
            <a:endParaRPr lang="en-US" sz="1300" dirty="0"/>
          </a:p>
        </p:txBody>
      </p:sp>
      <p:sp>
        <p:nvSpPr>
          <p:cNvPr id="13" name="Text 11"/>
          <p:cNvSpPr/>
          <p:nvPr/>
        </p:nvSpPr>
        <p:spPr>
          <a:xfrm>
            <a:off x="1097280" y="3429000"/>
            <a:ext cx="7315200" cy="41148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Struggles with clusters of varying densities</a:t>
            </a:r>
            <a:endParaRPr lang="en-US" sz="1100" dirty="0"/>
          </a:p>
        </p:txBody>
      </p:sp>
      <p:sp>
        <p:nvSpPr>
          <p:cNvPr id="14" name="Shape 12"/>
          <p:cNvSpPr/>
          <p:nvPr/>
        </p:nvSpPr>
        <p:spPr>
          <a:xfrm>
            <a:off x="914400" y="4069080"/>
            <a:ext cx="7772400" cy="822960"/>
          </a:xfrm>
          <a:prstGeom prst="rect">
            <a:avLst/>
          </a:prstGeom>
          <a:solidFill>
            <a:srgbClr val="FFF3E0"/>
          </a:solidFill>
          <a:ln w="12700">
            <a:solidFill>
              <a:srgbClr val="FF9800"/>
            </a:solidFill>
            <a:prstDash val="solid"/>
          </a:ln>
        </p:spPr>
      </p:sp>
      <p:sp>
        <p:nvSpPr>
          <p:cNvPr id="15" name="Text 13"/>
          <p:cNvSpPr/>
          <p:nvPr/>
        </p:nvSpPr>
        <p:spPr>
          <a:xfrm>
            <a:off x="1097280" y="4114800"/>
            <a:ext cx="7315200" cy="27432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Embedding Quality</a:t>
            </a:r>
            <a:endParaRPr lang="en-US" sz="1300" dirty="0"/>
          </a:p>
        </p:txBody>
      </p:sp>
      <p:sp>
        <p:nvSpPr>
          <p:cNvPr id="16" name="Text 14"/>
          <p:cNvSpPr/>
          <p:nvPr/>
        </p:nvSpPr>
        <p:spPr>
          <a:xfrm>
            <a:off x="1097280" y="4389120"/>
            <a:ext cx="7315200" cy="41148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Performance depends on quality of word embeddings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Implementation Pseudocode</a:t>
            </a:r>
            <a:endParaRPr lang="en-US" sz="4000" dirty="0"/>
          </a:p>
        </p:txBody>
      </p:sp>
      <p:sp>
        <p:nvSpPr>
          <p:cNvPr id="5" name="Shape 3"/>
          <p:cNvSpPr/>
          <p:nvPr/>
        </p:nvSpPr>
        <p:spPr>
          <a:xfrm>
            <a:off x="731520" y="1188720"/>
            <a:ext cx="7772400" cy="5029200"/>
          </a:xfrm>
          <a:prstGeom prst="rect">
            <a:avLst/>
          </a:prstGeom>
          <a:solidFill>
            <a:srgbClr val="021E3E"/>
          </a:solidFill>
          <a:ln w="25400">
            <a:solidFill>
              <a:srgbClr val="02C39A"/>
            </a:solidFill>
            <a:prstDash val="solid"/>
          </a:ln>
        </p:spPr>
      </p:sp>
      <p:sp>
        <p:nvSpPr>
          <p:cNvPr id="6" name="Text 4"/>
          <p:cNvSpPr/>
          <p:nvPr/>
        </p:nvSpPr>
        <p:spPr>
          <a:xfrm>
            <a:off x="914400" y="1371600"/>
            <a:ext cx="7406640" cy="4663440"/>
          </a:xfrm>
          <a:prstGeom prst="rect">
            <a:avLst/>
          </a:prstGeom>
          <a:noFill/>
          <a:ln/>
        </p:spPr>
        <p:txBody>
          <a:bodyPr wrap="square" rtlCol="0" anchor="t"/>
          <a:lstStyle/>
          <a:p>
            <a:pPr indent="0" marL="0">
              <a:buNone/>
            </a:pPr>
            <a:r>
              <a:rPr lang="en-US" sz="1000" dirty="0">
                <a:solidFill>
                  <a:srgbClr val="02C39A"/>
                </a:solidFill>
                <a:latin typeface="Courier New" pitchFamily="34" charset="0"/>
                <a:ea typeface="Courier New" pitchFamily="34" charset="-122"/>
                <a:cs typeface="Courier New" pitchFamily="34" charset="-120"/>
              </a:rPr>
              <a:t>def dbscan_sentence_reconstruction(words, embeddings, eps, min_points):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clusters = []</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visited = set()</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for i, word in enumerate(words):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if i in visited:</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continue</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neighbors = find_neighbors(embeddings[i], embeddings, eps)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if len(neighbors) &gt;= min_points: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cluster = expand_cluster(i, neighbors, visited, eps)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clusters.append(cluster)</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else:</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mark_as_noise(word)</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reconstructed = order_clusters_coherently(clusters)</a:t>
            </a:r>
            <a:endParaRPr lang="en-US" sz="1000" dirty="0"/>
          </a:p>
          <a:p>
            <a:pPr indent="0" marL="0">
              <a:buNone/>
            </a:pPr>
            <a:r>
              <a:rPr lang="en-US" sz="1000" dirty="0">
                <a:solidFill>
                  <a:srgbClr val="02C39A"/>
                </a:solidFill>
                <a:latin typeface="Courier New" pitchFamily="34" charset="0"/>
                <a:ea typeface="Courier New" pitchFamily="34" charset="-122"/>
                <a:cs typeface="Courier New" pitchFamily="34" charset="-120"/>
              </a:rPr>
              <a:t>    return reconstructed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sp>
      <p:sp>
        <p:nvSpPr>
          <p:cNvPr id="3" name="Shape 1"/>
          <p:cNvSpPr/>
          <p:nvPr/>
        </p:nvSpPr>
        <p:spPr>
          <a:xfrm>
            <a:off x="0" y="731520"/>
            <a:ext cx="365760" cy="6126480"/>
          </a:xfrm>
          <a:prstGeom prst="rect">
            <a:avLst/>
          </a:prstGeom>
          <a:solidFill>
            <a:srgbClr val="02C39A"/>
          </a:solidFill>
          <a:ln/>
        </p:spPr>
      </p:sp>
      <p:sp>
        <p:nvSpPr>
          <p:cNvPr id="4" name="Text 2"/>
          <p:cNvSpPr/>
          <p:nvPr/>
        </p:nvSpPr>
        <p:spPr>
          <a:xfrm>
            <a:off x="91440" y="137160"/>
            <a:ext cx="8686800" cy="457200"/>
          </a:xfrm>
          <a:prstGeom prst="rect">
            <a:avLst/>
          </a:prstGeom>
          <a:noFill/>
          <a:ln/>
        </p:spPr>
        <p:txBody>
          <a:bodyPr wrap="square" rtlCol="0" anchor="ctr"/>
          <a:lstStyle/>
          <a:p>
            <a:pPr indent="0" marL="0">
              <a:buNone/>
            </a:pPr>
            <a:r>
              <a:rPr lang="en-US" sz="4000" b="1" dirty="0">
                <a:solidFill>
                  <a:srgbClr val="E8F4F8"/>
                </a:solidFill>
                <a:latin typeface="Calibri" pitchFamily="34" charset="0"/>
                <a:ea typeface="Calibri" pitchFamily="34" charset="-122"/>
                <a:cs typeface="Calibri" pitchFamily="34" charset="-120"/>
              </a:rPr>
              <a:t>Conclusion</a:t>
            </a:r>
            <a:endParaRPr lang="en-US" sz="4000" dirty="0"/>
          </a:p>
        </p:txBody>
      </p:sp>
      <p:sp>
        <p:nvSpPr>
          <p:cNvPr id="5" name="Text 3"/>
          <p:cNvSpPr/>
          <p:nvPr/>
        </p:nvSpPr>
        <p:spPr>
          <a:xfrm>
            <a:off x="731520" y="1097280"/>
            <a:ext cx="777240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DBSCAN for Sentence Reconstruction</a:t>
            </a:r>
            <a:endParaRPr lang="en-US" sz="2000" dirty="0"/>
          </a:p>
        </p:txBody>
      </p:sp>
      <p:sp>
        <p:nvSpPr>
          <p:cNvPr id="6" name="Text 4"/>
          <p:cNvSpPr/>
          <p:nvPr/>
        </p:nvSpPr>
        <p:spPr>
          <a:xfrm>
            <a:off x="731520" y="1828800"/>
            <a:ext cx="7772400" cy="256032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DBSCAN provides a powerful, density-based approach to clustering semantic units for sentence reconstruction. By treating word embeddings as points in vector space, it can discover natural groupings of semantically related words without requiring prior knowledge of cluster counts. While parameter tuning and embedding quality are important considerations, DBSCAN's ability to identify arbitrary cluster shapes and handle outliers makes it particularly effective for NLP tasks involving fragmented or scrambled text.</a:t>
            </a:r>
            <a:endParaRPr lang="en-US" sz="1300" dirty="0"/>
          </a:p>
        </p:txBody>
      </p:sp>
      <p:sp>
        <p:nvSpPr>
          <p:cNvPr id="7" name="Shape 5"/>
          <p:cNvSpPr/>
          <p:nvPr/>
        </p:nvSpPr>
        <p:spPr>
          <a:xfrm>
            <a:off x="731520" y="4663440"/>
            <a:ext cx="7772400" cy="1645920"/>
          </a:xfrm>
          <a:prstGeom prst="rect">
            <a:avLst/>
          </a:prstGeom>
          <a:solidFill>
            <a:srgbClr val="E8F4F8"/>
          </a:solidFill>
          <a:ln w="25400">
            <a:solidFill>
              <a:srgbClr val="02C39A"/>
            </a:solidFill>
            <a:prstDash val="solid"/>
          </a:ln>
        </p:spPr>
      </p:sp>
      <p:sp>
        <p:nvSpPr>
          <p:cNvPr id="8" name="Text 6"/>
          <p:cNvSpPr/>
          <p:nvPr/>
        </p:nvSpPr>
        <p:spPr>
          <a:xfrm>
            <a:off x="914400" y="4754880"/>
            <a:ext cx="7315200" cy="32004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Key Takeaway:</a:t>
            </a:r>
            <a:endParaRPr lang="en-US" sz="1400" dirty="0"/>
          </a:p>
        </p:txBody>
      </p:sp>
      <p:sp>
        <p:nvSpPr>
          <p:cNvPr id="9" name="Text 7"/>
          <p:cNvSpPr/>
          <p:nvPr/>
        </p:nvSpPr>
        <p:spPr>
          <a:xfrm>
            <a:off x="914400" y="5120640"/>
            <a:ext cx="7315200" cy="109728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Density-based clustering bridges the gap between traditional NLP and modern deep learning approaches, offering interpretability and flexibility for text reconstruction tasks.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2026-07-02T15:37:29Z</dcterms:created>
  <dcterms:modified xsi:type="dcterms:W3CDTF">2026-07-02T15:37:29Z</dcterms:modified>
</cp:coreProperties>
</file>