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22"/>
  </p:notesMasterIdLst>
  <p:sldIdLst>
    <p:sldId id="256" r:id="rId2"/>
    <p:sldId id="257" r:id="rId3"/>
    <p:sldId id="258" r:id="rId4"/>
    <p:sldId id="259" r:id="rId5"/>
    <p:sldId id="260" r:id="rId6"/>
    <p:sldId id="274" r:id="rId7"/>
    <p:sldId id="275" r:id="rId8"/>
    <p:sldId id="276" r:id="rId9"/>
    <p:sldId id="267" r:id="rId10"/>
    <p:sldId id="268" r:id="rId11"/>
    <p:sldId id="261" r:id="rId12"/>
    <p:sldId id="262" r:id="rId13"/>
    <p:sldId id="263" r:id="rId14"/>
    <p:sldId id="264" r:id="rId15"/>
    <p:sldId id="265" r:id="rId16"/>
    <p:sldId id="266" r:id="rId17"/>
    <p:sldId id="269" r:id="rId18"/>
    <p:sldId id="270" r:id="rId19"/>
    <p:sldId id="272" r:id="rId20"/>
    <p:sldId id="273" r:id="rId21"/>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5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11F828-7B41-49C0-BBD9-6A09A0F8F3F7}">
  <a:tblStyle styleId="{9C11F828-7B41-49C0-BBD9-6A09A0F8F3F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3" d="100"/>
          <a:sy n="133" d="100"/>
        </p:scale>
        <p:origin x="90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 name="Google Shape;3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 name="Google Shape;3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 name="Google Shape;7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5" name="Google Shape;7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9" name="Google Shape;19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9" name="Google Shape;23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7" name="Google Shape;32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28" name="Google Shape;32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9" name="Google Shape;60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0" name="Google Shape;610;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1" name="Google Shape;55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52" name="Google Shape;55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30153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image" Target="../media/image23.jpg"/><Relationship Id="rId7" Type="http://schemas.openxmlformats.org/officeDocument/2006/relationships/image" Target="../media/image27.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 Id="rId9" Type="http://schemas.openxmlformats.org/officeDocument/2006/relationships/image" Target="../media/image29.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Shape 15"/>
        <p:cNvGrpSpPr/>
        <p:nvPr/>
      </p:nvGrpSpPr>
      <p:grpSpPr>
        <a:xfrm>
          <a:off x="0" y="0"/>
          <a:ext cx="0" cy="0"/>
          <a:chOff x="0" y="0"/>
          <a:chExt cx="0" cy="0"/>
        </a:xfrm>
      </p:grpSpPr>
      <p:sp>
        <p:nvSpPr>
          <p:cNvPr id="16" name="Google Shape;16;p3"/>
          <p:cNvSpPr/>
          <p:nvPr/>
        </p:nvSpPr>
        <p:spPr>
          <a:xfrm>
            <a:off x="7863840" y="182880"/>
            <a:ext cx="128016" cy="128016"/>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8229600" y="320040"/>
            <a:ext cx="91440" cy="91440"/>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8503920" y="164592"/>
            <a:ext cx="73152" cy="73152"/>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8138160" y="594360"/>
            <a:ext cx="54864" cy="54864"/>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8595360" y="502920"/>
            <a:ext cx="91440" cy="91440"/>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8321040" y="822960"/>
            <a:ext cx="73152" cy="73152"/>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7955280" y="685800"/>
            <a:ext cx="54864" cy="54864"/>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365760" y="320040"/>
            <a:ext cx="658368" cy="658368"/>
          </a:xfrm>
          <a:prstGeom prst="ellipse">
            <a:avLst/>
          </a:prstGeom>
          <a:solidFill>
            <a:srgbClr val="16202E"/>
          </a:solidFill>
          <a:ln w="1905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 name="Google Shape;24;p3" descr="preencoded.png"/>
          <p:cNvPicPr preferRelativeResize="0"/>
          <p:nvPr/>
        </p:nvPicPr>
        <p:blipFill rotWithShape="1">
          <a:blip r:embed="rId3">
            <a:alphaModFix/>
          </a:blip>
          <a:srcRect/>
          <a:stretch/>
        </p:blipFill>
        <p:spPr>
          <a:xfrm>
            <a:off x="512064" y="466344"/>
            <a:ext cx="365760" cy="365760"/>
          </a:xfrm>
          <a:prstGeom prst="rect">
            <a:avLst/>
          </a:prstGeom>
          <a:noFill/>
          <a:ln>
            <a:noFill/>
          </a:ln>
        </p:spPr>
      </p:pic>
      <p:sp>
        <p:nvSpPr>
          <p:cNvPr id="25" name="Google Shape;25;p3"/>
          <p:cNvSpPr/>
          <p:nvPr/>
        </p:nvSpPr>
        <p:spPr>
          <a:xfrm>
            <a:off x="1115568" y="540802"/>
            <a:ext cx="7315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0" i="0" u="none" strike="noStrike" cap="none" dirty="0">
                <a:solidFill>
                  <a:srgbClr val="F5A623"/>
                </a:solidFill>
                <a:latin typeface="Calibri"/>
                <a:ea typeface="Calibri"/>
                <a:cs typeface="Calibri"/>
                <a:sym typeface="Calibri"/>
              </a:rPr>
              <a:t>A CROSS-MODALITY SIDE-CHANNEL ATTACK ON AR/VR</a:t>
            </a:r>
            <a:endParaRPr sz="900" b="0" i="0" u="none" strike="noStrike" cap="none" dirty="0">
              <a:solidFill>
                <a:schemeClr val="dk1"/>
              </a:solidFill>
              <a:latin typeface="Calibri"/>
              <a:ea typeface="Calibri"/>
              <a:cs typeface="Calibri"/>
              <a:sym typeface="Calibri"/>
            </a:endParaRPr>
          </a:p>
        </p:txBody>
      </p:sp>
      <p:sp>
        <p:nvSpPr>
          <p:cNvPr id="26" name="Google Shape;26;p3"/>
          <p:cNvSpPr/>
          <p:nvPr/>
        </p:nvSpPr>
        <p:spPr>
          <a:xfrm>
            <a:off x="365760" y="822960"/>
            <a:ext cx="8412480" cy="12801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7200"/>
              <a:buFont typeface="Calibri"/>
              <a:buNone/>
            </a:pPr>
            <a:r>
              <a:rPr lang="en-US" sz="7200" b="1" i="0" u="none" strike="noStrike" cap="none" dirty="0">
                <a:solidFill>
                  <a:srgbClr val="FFFFFF"/>
                </a:solidFill>
                <a:latin typeface="Calibri"/>
                <a:ea typeface="Calibri"/>
                <a:cs typeface="Calibri"/>
                <a:sym typeface="Calibri"/>
              </a:rPr>
              <a:t>SNOOPFINGER</a:t>
            </a:r>
            <a:endParaRPr sz="7200" b="0" i="0" u="none" strike="noStrike" cap="none" dirty="0">
              <a:solidFill>
                <a:schemeClr val="dk1"/>
              </a:solidFill>
              <a:latin typeface="Calibri"/>
              <a:ea typeface="Calibri"/>
              <a:cs typeface="Calibri"/>
              <a:sym typeface="Calibri"/>
            </a:endParaRPr>
          </a:p>
        </p:txBody>
      </p:sp>
      <p:sp>
        <p:nvSpPr>
          <p:cNvPr id="27" name="Google Shape;27;p3"/>
          <p:cNvSpPr/>
          <p:nvPr/>
        </p:nvSpPr>
        <p:spPr>
          <a:xfrm>
            <a:off x="365760" y="2103120"/>
            <a:ext cx="658368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1400"/>
              <a:buFont typeface="Calibri"/>
              <a:buNone/>
            </a:pPr>
            <a:r>
              <a:rPr lang="en-US" sz="1400" b="0" i="0" u="none" strike="noStrike" cap="none" dirty="0">
                <a:solidFill>
                  <a:srgbClr val="E8EEF7"/>
                </a:solidFill>
                <a:latin typeface="Calibri"/>
                <a:ea typeface="Calibri"/>
                <a:cs typeface="Calibri"/>
                <a:sym typeface="Calibri"/>
              </a:rPr>
              <a:t>Snooping finger motions on virtual keyboards — using nothing but the</a:t>
            </a:r>
            <a:endParaRPr sz="140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Clr>
                <a:srgbClr val="E8EEF7"/>
              </a:buClr>
              <a:buSzPts val="1400"/>
              <a:buFont typeface="Calibri"/>
              <a:buNone/>
            </a:pPr>
            <a:r>
              <a:rPr lang="en-US" sz="1400" b="0" i="0" u="none" strike="noStrike" cap="none" dirty="0">
                <a:solidFill>
                  <a:srgbClr val="E8EEF7"/>
                </a:solidFill>
                <a:latin typeface="Calibri"/>
                <a:ea typeface="Calibri"/>
                <a:cs typeface="Calibri"/>
                <a:sym typeface="Calibri"/>
              </a:rPr>
              <a:t>headset's head-orientation data, accessible with zero permissions.</a:t>
            </a:r>
            <a:endParaRPr sz="1400" b="0" i="0" u="none" strike="noStrike" cap="none" dirty="0">
              <a:solidFill>
                <a:schemeClr val="dk1"/>
              </a:solidFill>
              <a:latin typeface="Calibri"/>
              <a:ea typeface="Calibri"/>
              <a:cs typeface="Calibri"/>
              <a:sym typeface="Calibri"/>
            </a:endParaRPr>
          </a:p>
        </p:txBody>
      </p:sp>
      <p:sp>
        <p:nvSpPr>
          <p:cNvPr id="28" name="Google Shape;28;p3"/>
          <p:cNvSpPr/>
          <p:nvPr/>
        </p:nvSpPr>
        <p:spPr>
          <a:xfrm>
            <a:off x="457200" y="3445143"/>
            <a:ext cx="3562500" cy="1922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850"/>
              <a:buFont typeface="Calibri"/>
              <a:buNone/>
            </a:pPr>
            <a:r>
              <a:rPr lang="en-US" sz="850" b="0" i="0" u="none" strike="noStrike" cap="none" dirty="0">
                <a:solidFill>
                  <a:srgbClr val="E8EEF7"/>
                </a:solidFill>
                <a:latin typeface="Calibri"/>
                <a:ea typeface="Calibri"/>
                <a:cs typeface="Calibri"/>
                <a:sym typeface="Calibri"/>
              </a:rPr>
              <a:t>Sunwoo Lee · Seoul Women's University</a:t>
            </a:r>
            <a:endParaRPr sz="850" b="0" i="0" u="none" strike="noStrike" cap="none" dirty="0">
              <a:solidFill>
                <a:schemeClr val="dk1"/>
              </a:solidFill>
              <a:latin typeface="Calibri"/>
              <a:ea typeface="Calibri"/>
              <a:cs typeface="Calibri"/>
              <a:sym typeface="Calibri"/>
            </a:endParaRPr>
          </a:p>
        </p:txBody>
      </p:sp>
      <p:sp>
        <p:nvSpPr>
          <p:cNvPr id="29" name="Google Shape;29;p3"/>
          <p:cNvSpPr/>
          <p:nvPr/>
        </p:nvSpPr>
        <p:spPr>
          <a:xfrm>
            <a:off x="3337560" y="3413323"/>
            <a:ext cx="287121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850"/>
              <a:buFont typeface="Calibri"/>
              <a:buNone/>
            </a:pPr>
            <a:r>
              <a:rPr lang="en-US" sz="850" b="0" i="0" u="none" strike="noStrike" cap="none">
                <a:solidFill>
                  <a:srgbClr val="E8EEF7"/>
                </a:solidFill>
                <a:latin typeface="Calibri"/>
                <a:ea typeface="Calibri"/>
                <a:cs typeface="Calibri"/>
                <a:sym typeface="Calibri"/>
              </a:rPr>
              <a:t>Wonsuk Choi · Korea University</a:t>
            </a:r>
            <a:endParaRPr sz="850" b="0" i="0" u="none" strike="noStrike" cap="none">
              <a:solidFill>
                <a:schemeClr val="dk1"/>
              </a:solidFill>
              <a:latin typeface="Calibri"/>
              <a:ea typeface="Calibri"/>
              <a:cs typeface="Calibri"/>
              <a:sym typeface="Calibri"/>
            </a:endParaRPr>
          </a:p>
        </p:txBody>
      </p:sp>
      <p:sp>
        <p:nvSpPr>
          <p:cNvPr id="30" name="Google Shape;30;p3"/>
          <p:cNvSpPr/>
          <p:nvPr/>
        </p:nvSpPr>
        <p:spPr>
          <a:xfrm>
            <a:off x="5989320" y="3413323"/>
            <a:ext cx="1192378"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850"/>
              <a:buFont typeface="Calibri"/>
              <a:buNone/>
            </a:pPr>
            <a:r>
              <a:rPr lang="en-US" sz="850" b="0" i="0" u="none" strike="noStrike" cap="none" dirty="0">
                <a:solidFill>
                  <a:srgbClr val="E8EEF7"/>
                </a:solidFill>
                <a:latin typeface="Calibri"/>
                <a:ea typeface="Calibri"/>
                <a:cs typeface="Calibri"/>
                <a:sym typeface="Calibri"/>
              </a:rPr>
              <a:t>IEEE S&amp;P 2025</a:t>
            </a:r>
            <a:endParaRPr sz="850" b="0" i="0" u="none" strike="noStrike" cap="none" dirty="0">
              <a:solidFill>
                <a:schemeClr val="dk1"/>
              </a:solidFill>
              <a:latin typeface="Calibri"/>
              <a:ea typeface="Calibri"/>
              <a:cs typeface="Calibri"/>
              <a:sym typeface="Calibri"/>
            </a:endParaRPr>
          </a:p>
        </p:txBody>
      </p:sp>
      <p:sp>
        <p:nvSpPr>
          <p:cNvPr id="31" name="Google Shape;31;p3"/>
          <p:cNvSpPr/>
          <p:nvPr/>
        </p:nvSpPr>
        <p:spPr>
          <a:xfrm>
            <a:off x="1767840" y="4320540"/>
            <a:ext cx="1982419"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850"/>
              <a:buFont typeface="Calibri"/>
              <a:buNone/>
            </a:pPr>
            <a:r>
              <a:rPr lang="en-US" sz="850" b="0" i="0" u="none" strike="noStrike" cap="none" dirty="0">
                <a:solidFill>
                  <a:srgbClr val="E8EEF7"/>
                </a:solidFill>
                <a:latin typeface="Calibri"/>
                <a:ea typeface="Calibri"/>
                <a:cs typeface="Calibri"/>
                <a:sym typeface="Calibri"/>
              </a:rPr>
              <a:t>Group 2 · IIT Jodhpur</a:t>
            </a:r>
            <a:endParaRPr sz="850" b="0" i="0" u="none" strike="noStrike" cap="none" dirty="0">
              <a:solidFill>
                <a:schemeClr val="dk1"/>
              </a:solidFill>
              <a:latin typeface="Calibri"/>
              <a:ea typeface="Calibri"/>
              <a:cs typeface="Calibri"/>
              <a:sym typeface="Calibri"/>
            </a:endParaRPr>
          </a:p>
        </p:txBody>
      </p:sp>
      <p:cxnSp>
        <p:nvCxnSpPr>
          <p:cNvPr id="32" name="Google Shape;32;p3"/>
          <p:cNvCxnSpPr>
            <a:cxnSpLocks/>
          </p:cNvCxnSpPr>
          <p:nvPr/>
        </p:nvCxnSpPr>
        <p:spPr>
          <a:xfrm>
            <a:off x="365760" y="3811413"/>
            <a:ext cx="6815938" cy="0"/>
          </a:xfrm>
          <a:prstGeom prst="straightConnector1">
            <a:avLst/>
          </a:prstGeom>
          <a:noFill/>
          <a:ln w="19050" cap="flat" cmpd="sng">
            <a:solidFill>
              <a:srgbClr val="F5A623"/>
            </a:solidFill>
            <a:prstDash val="solid"/>
            <a:round/>
            <a:headEnd type="none" w="sm" len="sm"/>
            <a:tailEnd type="none" w="sm" len="sm"/>
          </a:ln>
        </p:spPr>
      </p:cxnSp>
      <p:sp>
        <p:nvSpPr>
          <p:cNvPr id="2" name="Google Shape;25;p3">
            <a:extLst>
              <a:ext uri="{FF2B5EF4-FFF2-40B4-BE49-F238E27FC236}">
                <a16:creationId xmlns:a16="http://schemas.microsoft.com/office/drawing/2014/main" id="{C3CDB237-8582-2BAC-0F86-12F7B7A127DB}"/>
              </a:ext>
            </a:extLst>
          </p:cNvPr>
          <p:cNvSpPr/>
          <p:nvPr/>
        </p:nvSpPr>
        <p:spPr>
          <a:xfrm>
            <a:off x="322220" y="4312921"/>
            <a:ext cx="7315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0" i="0" u="none" strike="noStrike" cap="none" dirty="0">
                <a:solidFill>
                  <a:srgbClr val="F5A623"/>
                </a:solidFill>
                <a:latin typeface="Calibri"/>
                <a:ea typeface="Calibri"/>
                <a:cs typeface="Calibri"/>
                <a:sym typeface="Calibri"/>
              </a:rPr>
              <a:t> </a:t>
            </a:r>
            <a:r>
              <a:rPr lang="en-US" sz="900" dirty="0">
                <a:solidFill>
                  <a:srgbClr val="F5A623"/>
                </a:solidFill>
                <a:latin typeface="Calibri"/>
                <a:ea typeface="Calibri"/>
                <a:cs typeface="Calibri"/>
                <a:sym typeface="Calibri"/>
              </a:rPr>
              <a:t>PRESENTED BY</a:t>
            </a:r>
            <a:endParaRPr sz="900" b="0" i="0" u="none" strike="noStrike" cap="none"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460CC639-1ABE-A1D5-0895-9B9EEE8B71F3}"/>
              </a:ext>
            </a:extLst>
          </p:cNvPr>
          <p:cNvPicPr>
            <a:picLocks noChangeAspect="1"/>
          </p:cNvPicPr>
          <p:nvPr/>
        </p:nvPicPr>
        <p:blipFill>
          <a:blip r:embed="rId4"/>
          <a:stretch/>
        </p:blipFill>
        <p:spPr>
          <a:xfrm>
            <a:off x="7653963" y="91440"/>
            <a:ext cx="1407305" cy="1552434"/>
          </a:xfrm>
          <a:prstGeom prst="rect">
            <a:avLst/>
          </a:prstGeom>
        </p:spPr>
      </p:pic>
      <p:sp>
        <p:nvSpPr>
          <p:cNvPr id="3" name="Google Shape;25;p3">
            <a:extLst>
              <a:ext uri="{FF2B5EF4-FFF2-40B4-BE49-F238E27FC236}">
                <a16:creationId xmlns:a16="http://schemas.microsoft.com/office/drawing/2014/main" id="{D06A6D8D-4D88-9254-18C1-41FEE328B86A}"/>
              </a:ext>
            </a:extLst>
          </p:cNvPr>
          <p:cNvSpPr/>
          <p:nvPr/>
        </p:nvSpPr>
        <p:spPr>
          <a:xfrm>
            <a:off x="338763" y="2996512"/>
            <a:ext cx="7315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0" i="0" u="none" strike="noStrike" cap="none" dirty="0">
                <a:solidFill>
                  <a:srgbClr val="F5A623"/>
                </a:solidFill>
                <a:latin typeface="Calibri"/>
                <a:ea typeface="Calibri"/>
                <a:cs typeface="Calibri"/>
                <a:sym typeface="Calibri"/>
              </a:rPr>
              <a:t> Based on IEEE paper: </a:t>
            </a:r>
            <a:endParaRPr sz="900" b="0" i="0" u="none" strike="noStrike" cap="none" dirty="0">
              <a:solidFill>
                <a:schemeClr val="dk1"/>
              </a:solidFill>
              <a:latin typeface="Calibri"/>
              <a:ea typeface="Calibri"/>
              <a:cs typeface="Calibri"/>
              <a:sym typeface="Calibri"/>
            </a:endParaRPr>
          </a:p>
        </p:txBody>
      </p:sp>
      <p:sp>
        <p:nvSpPr>
          <p:cNvPr id="5" name="Google Shape;31;p3">
            <a:extLst>
              <a:ext uri="{FF2B5EF4-FFF2-40B4-BE49-F238E27FC236}">
                <a16:creationId xmlns:a16="http://schemas.microsoft.com/office/drawing/2014/main" id="{2B60853B-ADB3-F9C0-D22C-1B7AB0BB2606}"/>
              </a:ext>
            </a:extLst>
          </p:cNvPr>
          <p:cNvSpPr/>
          <p:nvPr/>
        </p:nvSpPr>
        <p:spPr>
          <a:xfrm>
            <a:off x="1490037" y="2980728"/>
            <a:ext cx="6147383" cy="288907"/>
          </a:xfrm>
          <a:prstGeom prst="rect">
            <a:avLst/>
          </a:prstGeom>
          <a:noFill/>
          <a:ln>
            <a:noFill/>
          </a:ln>
        </p:spPr>
        <p:txBody>
          <a:bodyPr spcFirstLastPara="1" wrap="square" lIns="0" tIns="0" rIns="0" bIns="0" anchor="ctr" anchorCtr="0">
            <a:noAutofit/>
          </a:bodyPr>
          <a:lstStyle/>
          <a:p>
            <a:pPr lvl="0">
              <a:buClr>
                <a:srgbClr val="E8EEF7"/>
              </a:buClr>
              <a:buSzPts val="850"/>
            </a:pPr>
            <a:r>
              <a:rPr lang="en-US" sz="850" dirty="0">
                <a:solidFill>
                  <a:srgbClr val="E8EEF7"/>
                </a:solidFill>
                <a:latin typeface="Calibri"/>
                <a:ea typeface="Calibri"/>
                <a:cs typeface="Calibri"/>
                <a:sym typeface="Calibri"/>
              </a:rPr>
              <a:t>[46th IEEE Symposium on  Security and Privacy] Eyes-on-Your-Typing-Snooping-Finger-Motions-on-Virtual-Keyboards</a:t>
            </a:r>
            <a:endParaRPr sz="8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
        <p:cNvGrpSpPr/>
        <p:nvPr/>
      </p:nvGrpSpPr>
      <p:grpSpPr>
        <a:xfrm>
          <a:off x="0" y="0"/>
          <a:ext cx="0" cy="0"/>
          <a:chOff x="0" y="0"/>
          <a:chExt cx="0" cy="0"/>
        </a:xfrm>
      </p:grpSpPr>
      <p:sp>
        <p:nvSpPr>
          <p:cNvPr id="38" name="Google Shape;38;p4"/>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i="0" u="none" strike="noStrike" cap="none" dirty="0">
                <a:solidFill>
                  <a:srgbClr val="C77F12"/>
                </a:solidFill>
                <a:latin typeface="Calibri"/>
                <a:ea typeface="Calibri"/>
                <a:cs typeface="Calibri"/>
                <a:sym typeface="Calibri"/>
              </a:rPr>
              <a:t>PROBLEM ANALYSIS · §1</a:t>
            </a:r>
            <a:endParaRPr sz="900" i="0" u="none" strike="noStrike" cap="none" dirty="0">
              <a:solidFill>
                <a:schemeClr val="dk1"/>
              </a:solidFill>
              <a:latin typeface="Calibri"/>
              <a:ea typeface="Calibri"/>
              <a:cs typeface="Calibri"/>
              <a:sym typeface="Calibri"/>
            </a:endParaRPr>
          </a:p>
        </p:txBody>
      </p:sp>
      <p:sp>
        <p:nvSpPr>
          <p:cNvPr id="39" name="Google Shape;39;p4"/>
          <p:cNvSpPr/>
          <p:nvPr/>
        </p:nvSpPr>
        <p:spPr>
          <a:xfrm>
            <a:off x="365759" y="420624"/>
            <a:ext cx="9104811"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The SNOOPFINGER threat: silent, zero-permission keystroke leakage</a:t>
            </a:r>
            <a:endParaRPr sz="2400" b="0" i="0" u="none" strike="noStrike" cap="none" dirty="0">
              <a:solidFill>
                <a:schemeClr val="dk1"/>
              </a:solidFill>
              <a:latin typeface="Calibri"/>
              <a:ea typeface="Calibri"/>
              <a:cs typeface="Calibri"/>
              <a:sym typeface="Calibri"/>
            </a:endParaRPr>
          </a:p>
        </p:txBody>
      </p:sp>
      <p:sp>
        <p:nvSpPr>
          <p:cNvPr id="41" name="Google Shape;41;p4"/>
          <p:cNvSpPr/>
          <p:nvPr/>
        </p:nvSpPr>
        <p:spPr>
          <a:xfrm>
            <a:off x="4572000" y="4903468"/>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dirty="0">
                <a:solidFill>
                  <a:srgbClr val="9DB0CC"/>
                </a:solidFill>
                <a:latin typeface="Calibri"/>
                <a:ea typeface="Calibri"/>
                <a:cs typeface="Calibri"/>
                <a:sym typeface="Calibri"/>
              </a:rPr>
              <a:t>SNOOPFINGER  ·  Lee &amp; Choi, IEEE S&amp;P 2025  ·  2</a:t>
            </a:r>
            <a:endParaRPr sz="700" b="0" i="0" u="none" strike="noStrike" cap="none" dirty="0">
              <a:solidFill>
                <a:schemeClr val="dk1"/>
              </a:solidFill>
              <a:latin typeface="Calibri"/>
              <a:ea typeface="Calibri"/>
              <a:cs typeface="Calibri"/>
              <a:sym typeface="Calibri"/>
            </a:endParaRPr>
          </a:p>
        </p:txBody>
      </p:sp>
      <p:sp>
        <p:nvSpPr>
          <p:cNvPr id="42" name="Google Shape;42;p4"/>
          <p:cNvSpPr/>
          <p:nvPr/>
        </p:nvSpPr>
        <p:spPr>
          <a:xfrm>
            <a:off x="320040" y="1143000"/>
            <a:ext cx="4572000" cy="1152144"/>
          </a:xfrm>
          <a:prstGeom prst="roundRect">
            <a:avLst>
              <a:gd name="adj" fmla="val 6349"/>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 name="Google Shape;43;p4" descr="preencoded.png"/>
          <p:cNvPicPr preferRelativeResize="0"/>
          <p:nvPr/>
        </p:nvPicPr>
        <p:blipFill rotWithShape="1">
          <a:blip r:embed="rId3">
            <a:alphaModFix/>
          </a:blip>
          <a:srcRect/>
          <a:stretch/>
        </p:blipFill>
        <p:spPr>
          <a:xfrm>
            <a:off x="457200" y="1261872"/>
            <a:ext cx="256032" cy="256032"/>
          </a:xfrm>
          <a:prstGeom prst="rect">
            <a:avLst/>
          </a:prstGeom>
          <a:noFill/>
          <a:ln>
            <a:noFill/>
          </a:ln>
        </p:spPr>
      </p:pic>
      <p:sp>
        <p:nvSpPr>
          <p:cNvPr id="44" name="Google Shape;44;p4"/>
          <p:cNvSpPr/>
          <p:nvPr/>
        </p:nvSpPr>
        <p:spPr>
          <a:xfrm>
            <a:off x="777240" y="1252728"/>
            <a:ext cx="3977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Zero permission required</a:t>
            </a:r>
            <a:endParaRPr sz="1100" b="0" i="0" u="none" strike="noStrike" cap="none">
              <a:solidFill>
                <a:schemeClr val="dk1"/>
              </a:solidFill>
              <a:latin typeface="Calibri"/>
              <a:ea typeface="Calibri"/>
              <a:cs typeface="Calibri"/>
              <a:sym typeface="Calibri"/>
            </a:endParaRPr>
          </a:p>
        </p:txBody>
      </p:sp>
      <p:sp>
        <p:nvSpPr>
          <p:cNvPr id="45" name="Google Shape;45;p4"/>
          <p:cNvSpPr/>
          <p:nvPr/>
        </p:nvSpPr>
        <p:spPr>
          <a:xfrm>
            <a:off x="457200" y="1563624"/>
            <a:ext cx="4297680" cy="62179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Headset orientation is treated as non-sensitive and needed for rendering — any app running in the background can read it silently.</a:t>
            </a:r>
            <a:endParaRPr sz="950" b="0" i="0" u="none" strike="noStrike" cap="none">
              <a:solidFill>
                <a:schemeClr val="dk1"/>
              </a:solidFill>
              <a:latin typeface="Calibri"/>
              <a:ea typeface="Calibri"/>
              <a:cs typeface="Calibri"/>
              <a:sym typeface="Calibri"/>
            </a:endParaRPr>
          </a:p>
        </p:txBody>
      </p:sp>
      <p:sp>
        <p:nvSpPr>
          <p:cNvPr id="46" name="Google Shape;46;p4"/>
          <p:cNvSpPr/>
          <p:nvPr/>
        </p:nvSpPr>
        <p:spPr>
          <a:xfrm>
            <a:off x="320040" y="2386584"/>
            <a:ext cx="4572000" cy="1152144"/>
          </a:xfrm>
          <a:prstGeom prst="roundRect">
            <a:avLst>
              <a:gd name="adj" fmla="val 6349"/>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 name="Google Shape;47;p4" descr="preencoded.png"/>
          <p:cNvPicPr preferRelativeResize="0"/>
          <p:nvPr/>
        </p:nvPicPr>
        <p:blipFill rotWithShape="1">
          <a:blip r:embed="rId4">
            <a:alphaModFix/>
          </a:blip>
          <a:srcRect/>
          <a:stretch/>
        </p:blipFill>
        <p:spPr>
          <a:xfrm>
            <a:off x="457200" y="2505456"/>
            <a:ext cx="256032" cy="256032"/>
          </a:xfrm>
          <a:prstGeom prst="rect">
            <a:avLst/>
          </a:prstGeom>
          <a:noFill/>
          <a:ln>
            <a:noFill/>
          </a:ln>
        </p:spPr>
      </p:pic>
      <p:sp>
        <p:nvSpPr>
          <p:cNvPr id="48" name="Google Shape;48;p4"/>
          <p:cNvSpPr/>
          <p:nvPr/>
        </p:nvSpPr>
        <p:spPr>
          <a:xfrm>
            <a:off x="777240" y="2496312"/>
            <a:ext cx="3977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No training data needed</a:t>
            </a:r>
            <a:endParaRPr sz="1100" b="0" i="0" u="none" strike="noStrike" cap="none">
              <a:solidFill>
                <a:schemeClr val="dk1"/>
              </a:solidFill>
              <a:latin typeface="Calibri"/>
              <a:ea typeface="Calibri"/>
              <a:cs typeface="Calibri"/>
              <a:sym typeface="Calibri"/>
            </a:endParaRPr>
          </a:p>
        </p:txBody>
      </p:sp>
      <p:sp>
        <p:nvSpPr>
          <p:cNvPr id="49" name="Google Shape;49;p4"/>
          <p:cNvSpPr/>
          <p:nvPr/>
        </p:nvSpPr>
        <p:spPr>
          <a:xfrm>
            <a:off x="457200" y="2807208"/>
            <a:ext cx="4297680" cy="62179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Unlike prior deep-learning attacks, the adversary only reconstructs their own keyboard once. Nothing is collected from the victim beforehand.</a:t>
            </a:r>
            <a:endParaRPr sz="950" b="0" i="0" u="none" strike="noStrike" cap="none">
              <a:solidFill>
                <a:schemeClr val="dk1"/>
              </a:solidFill>
              <a:latin typeface="Calibri"/>
              <a:ea typeface="Calibri"/>
              <a:cs typeface="Calibri"/>
              <a:sym typeface="Calibri"/>
            </a:endParaRPr>
          </a:p>
        </p:txBody>
      </p:sp>
      <p:sp>
        <p:nvSpPr>
          <p:cNvPr id="50" name="Google Shape;50;p4"/>
          <p:cNvSpPr/>
          <p:nvPr/>
        </p:nvSpPr>
        <p:spPr>
          <a:xfrm>
            <a:off x="320040" y="3630168"/>
            <a:ext cx="4572000" cy="1152144"/>
          </a:xfrm>
          <a:prstGeom prst="roundRect">
            <a:avLst>
              <a:gd name="adj" fmla="val 6349"/>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 name="Google Shape;51;p4" descr="preencoded.png"/>
          <p:cNvPicPr preferRelativeResize="0"/>
          <p:nvPr/>
        </p:nvPicPr>
        <p:blipFill rotWithShape="1">
          <a:blip r:embed="rId5">
            <a:alphaModFix/>
          </a:blip>
          <a:srcRect/>
          <a:stretch/>
        </p:blipFill>
        <p:spPr>
          <a:xfrm>
            <a:off x="457200" y="3749040"/>
            <a:ext cx="256032" cy="256032"/>
          </a:xfrm>
          <a:prstGeom prst="rect">
            <a:avLst/>
          </a:prstGeom>
          <a:noFill/>
          <a:ln>
            <a:noFill/>
          </a:ln>
        </p:spPr>
      </p:pic>
      <p:sp>
        <p:nvSpPr>
          <p:cNvPr id="52" name="Google Shape;52;p4"/>
          <p:cNvSpPr/>
          <p:nvPr/>
        </p:nvSpPr>
        <p:spPr>
          <a:xfrm>
            <a:off x="777240" y="3739896"/>
            <a:ext cx="3977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Cross-modality attack</a:t>
            </a:r>
            <a:endParaRPr sz="1100" b="0" i="0" u="none" strike="noStrike" cap="none">
              <a:solidFill>
                <a:schemeClr val="dk1"/>
              </a:solidFill>
              <a:latin typeface="Calibri"/>
              <a:ea typeface="Calibri"/>
              <a:cs typeface="Calibri"/>
              <a:sym typeface="Calibri"/>
            </a:endParaRPr>
          </a:p>
        </p:txBody>
      </p:sp>
      <p:sp>
        <p:nvSpPr>
          <p:cNvPr id="53" name="Google Shape;53;p4"/>
          <p:cNvSpPr/>
          <p:nvPr/>
        </p:nvSpPr>
        <p:spPr>
          <a:xfrm>
            <a:off x="457200" y="4050792"/>
            <a:ext cx="4297680" cy="62179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Head movement (one modality) infers hand-typed input (a different modality) — the first attack to do this for direct finger typing.</a:t>
            </a:r>
            <a:endParaRPr sz="950" b="0" i="0" u="none" strike="noStrike" cap="none">
              <a:solidFill>
                <a:schemeClr val="dk1"/>
              </a:solidFill>
              <a:latin typeface="Calibri"/>
              <a:ea typeface="Calibri"/>
              <a:cs typeface="Calibri"/>
              <a:sym typeface="Calibri"/>
            </a:endParaRPr>
          </a:p>
        </p:txBody>
      </p:sp>
      <p:sp>
        <p:nvSpPr>
          <p:cNvPr id="54" name="Google Shape;54;p4"/>
          <p:cNvSpPr/>
          <p:nvPr/>
        </p:nvSpPr>
        <p:spPr>
          <a:xfrm>
            <a:off x="5212080" y="1143000"/>
            <a:ext cx="3657600" cy="2560320"/>
          </a:xfrm>
          <a:prstGeom prst="roundRect">
            <a:avLst>
              <a:gd name="adj" fmla="val 3571"/>
            </a:avLst>
          </a:prstGeom>
          <a:solidFill>
            <a:srgbClr val="16202E"/>
          </a:solidFill>
          <a:ln w="9525" cap="flat" cmpd="sng">
            <a:solidFill>
              <a:srgbClr val="24345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5376672" y="1261872"/>
            <a:ext cx="3328416"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ABSTRACT</a:t>
            </a:r>
            <a:endParaRPr sz="900" b="0" i="0" u="none" strike="noStrike" cap="none">
              <a:solidFill>
                <a:schemeClr val="dk1"/>
              </a:solidFill>
              <a:latin typeface="Calibri"/>
              <a:ea typeface="Calibri"/>
              <a:cs typeface="Calibri"/>
              <a:sym typeface="Calibri"/>
            </a:endParaRPr>
          </a:p>
        </p:txBody>
      </p:sp>
      <p:sp>
        <p:nvSpPr>
          <p:cNvPr id="56" name="Google Shape;56;p4"/>
          <p:cNvSpPr/>
          <p:nvPr/>
        </p:nvSpPr>
        <p:spPr>
          <a:xfrm>
            <a:off x="5376672" y="1517904"/>
            <a:ext cx="3328416"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1100"/>
              <a:buFont typeface="Calibri"/>
              <a:buNone/>
            </a:pPr>
            <a:r>
              <a:rPr lang="en-US" sz="1100" b="0" i="1" u="none" strike="noStrike" cap="none">
                <a:solidFill>
                  <a:srgbClr val="E8EEF7"/>
                </a:solidFill>
                <a:latin typeface="Calibri"/>
                <a:ea typeface="Calibri"/>
                <a:cs typeface="Calibri"/>
                <a:sym typeface="Calibri"/>
              </a:rPr>
              <a:t>Can the subtle head movements that occur when a user types on a virtual keyboard with their fingers be used to infer the text being entered?</a:t>
            </a:r>
            <a:endParaRPr sz="1100" b="0" i="0" u="none" strike="noStrike" cap="none">
              <a:solidFill>
                <a:schemeClr val="dk1"/>
              </a:solidFill>
              <a:latin typeface="Calibri"/>
              <a:ea typeface="Calibri"/>
              <a:cs typeface="Calibri"/>
              <a:sym typeface="Calibri"/>
            </a:endParaRPr>
          </a:p>
        </p:txBody>
      </p:sp>
      <p:sp>
        <p:nvSpPr>
          <p:cNvPr id="57" name="Google Shape;57;p4"/>
          <p:cNvSpPr/>
          <p:nvPr/>
        </p:nvSpPr>
        <p:spPr>
          <a:xfrm>
            <a:off x="5376672" y="2395728"/>
            <a:ext cx="3328416" cy="1005840"/>
          </a:xfrm>
          <a:prstGeom prst="roundRect">
            <a:avLst>
              <a:gd name="adj" fmla="val 5455"/>
            </a:avLst>
          </a:prstGeom>
          <a:solidFill>
            <a:srgbClr val="0A1120"/>
          </a:solidFill>
          <a:ln w="9525"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4"/>
          <p:cNvSpPr/>
          <p:nvPr/>
        </p:nvSpPr>
        <p:spPr>
          <a:xfrm>
            <a:off x="5486400" y="2468880"/>
            <a:ext cx="310896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800"/>
              <a:buFont typeface="Calibri"/>
              <a:buNone/>
            </a:pPr>
            <a:r>
              <a:rPr lang="en-US" sz="800" b="1" i="0" u="none" strike="noStrike" cap="none">
                <a:solidFill>
                  <a:srgbClr val="F5A623"/>
                </a:solidFill>
                <a:latin typeface="Calibri"/>
                <a:ea typeface="Calibri"/>
                <a:cs typeface="Calibri"/>
                <a:sym typeface="Calibri"/>
              </a:rPr>
              <a:t>MOTIVATION</a:t>
            </a:r>
            <a:endParaRPr sz="800" b="0" i="0" u="none" strike="noStrike" cap="none">
              <a:solidFill>
                <a:schemeClr val="dk1"/>
              </a:solidFill>
              <a:latin typeface="Calibri"/>
              <a:ea typeface="Calibri"/>
              <a:cs typeface="Calibri"/>
              <a:sym typeface="Calibri"/>
            </a:endParaRPr>
          </a:p>
        </p:txBody>
      </p:sp>
      <p:sp>
        <p:nvSpPr>
          <p:cNvPr id="59" name="Google Shape;59;p4"/>
          <p:cNvSpPr/>
          <p:nvPr/>
        </p:nvSpPr>
        <p:spPr>
          <a:xfrm>
            <a:off x="5486400" y="2688336"/>
            <a:ext cx="310896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50"/>
              <a:buFont typeface="Calibri"/>
              <a:buNone/>
            </a:pPr>
            <a:r>
              <a:rPr lang="en-US" sz="950" b="0" i="0" u="none" strike="noStrike" cap="none">
                <a:solidFill>
                  <a:srgbClr val="9DB0CC"/>
                </a:solidFill>
                <a:latin typeface="Calibri"/>
                <a:ea typeface="Calibri"/>
                <a:cs typeface="Calibri"/>
                <a:sym typeface="Calibri"/>
              </a:rPr>
              <a:t>AR/VR market grew from $6.78B (2022) toward $142.5B by 2032 — a 35.6% CAGR. The attack surface scales with every headset sold.</a:t>
            </a:r>
            <a:endParaRPr sz="950" b="0" i="0" u="none" strike="noStrike" cap="none">
              <a:solidFill>
                <a:schemeClr val="dk1"/>
              </a:solidFill>
              <a:latin typeface="Calibri"/>
              <a:ea typeface="Calibri"/>
              <a:cs typeface="Calibri"/>
              <a:sym typeface="Calibri"/>
            </a:endParaRPr>
          </a:p>
        </p:txBody>
      </p:sp>
      <p:sp>
        <p:nvSpPr>
          <p:cNvPr id="60" name="Google Shape;60;p4"/>
          <p:cNvSpPr/>
          <p:nvPr/>
        </p:nvSpPr>
        <p:spPr>
          <a:xfrm>
            <a:off x="5212080" y="3840480"/>
            <a:ext cx="3657600" cy="566928"/>
          </a:xfrm>
          <a:prstGeom prst="roundRect">
            <a:avLst>
              <a:gd name="adj" fmla="val 9677"/>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5376672" y="3895344"/>
            <a:ext cx="338328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800"/>
              <a:buFont typeface="Calibri"/>
              <a:buNone/>
            </a:pPr>
            <a:r>
              <a:rPr lang="en-US" sz="800" b="1" i="0" u="none" strike="noStrike" cap="none">
                <a:solidFill>
                  <a:srgbClr val="16202E"/>
                </a:solidFill>
                <a:latin typeface="Calibri"/>
                <a:ea typeface="Calibri"/>
                <a:cs typeface="Calibri"/>
                <a:sym typeface="Calibri"/>
              </a:rPr>
              <a:t>Market scale: $6.78B → $142.5B  (35.6% CAGR)</a:t>
            </a:r>
            <a:endParaRPr sz="800" b="0" i="0" u="none" strike="noStrike" cap="none">
              <a:solidFill>
                <a:schemeClr val="dk1"/>
              </a:solidFill>
              <a:latin typeface="Calibri"/>
              <a:ea typeface="Calibri"/>
              <a:cs typeface="Calibri"/>
              <a:sym typeface="Calibri"/>
            </a:endParaRPr>
          </a:p>
        </p:txBody>
      </p:sp>
      <p:sp>
        <p:nvSpPr>
          <p:cNvPr id="62" name="Google Shape;62;p4"/>
          <p:cNvSpPr/>
          <p:nvPr/>
        </p:nvSpPr>
        <p:spPr>
          <a:xfrm>
            <a:off x="5376672" y="4310116"/>
            <a:ext cx="502920" cy="24140"/>
          </a:xfrm>
          <a:prstGeom prst="rect">
            <a:avLst/>
          </a:prstGeom>
          <a:solidFill>
            <a:srgbClr val="D9E0EC"/>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p:nvPr/>
        </p:nvSpPr>
        <p:spPr>
          <a:xfrm>
            <a:off x="6035040" y="4277929"/>
            <a:ext cx="502920" cy="56327"/>
          </a:xfrm>
          <a:prstGeom prst="rect">
            <a:avLst/>
          </a:prstGeom>
          <a:solidFill>
            <a:srgbClr val="D9E0EC"/>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4"/>
          <p:cNvSpPr/>
          <p:nvPr/>
        </p:nvSpPr>
        <p:spPr>
          <a:xfrm>
            <a:off x="6693408" y="4237695"/>
            <a:ext cx="502920" cy="96561"/>
          </a:xfrm>
          <a:prstGeom prst="rect">
            <a:avLst/>
          </a:prstGeom>
          <a:solidFill>
            <a:srgbClr val="D9E0EC"/>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4"/>
          <p:cNvSpPr/>
          <p:nvPr/>
        </p:nvSpPr>
        <p:spPr>
          <a:xfrm>
            <a:off x="7351776" y="4187403"/>
            <a:ext cx="502920" cy="146853"/>
          </a:xfrm>
          <a:prstGeom prst="rect">
            <a:avLst/>
          </a:prstGeom>
          <a:solidFill>
            <a:srgbClr val="D9E0EC"/>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8010144" y="4133088"/>
            <a:ext cx="502920" cy="201168"/>
          </a:xfrm>
          <a:prstGeom prst="rect">
            <a:avLst/>
          </a:prstGeom>
          <a:solidFill>
            <a:srgbClr val="F5A623"/>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5376672" y="4343400"/>
            <a:ext cx="502920" cy="1371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00"/>
              <a:buFont typeface="Calibri"/>
              <a:buNone/>
            </a:pPr>
            <a:r>
              <a:rPr lang="en-US" sz="700" b="0" i="0" u="none" strike="noStrike" cap="none">
                <a:solidFill>
                  <a:srgbClr val="5C6B82"/>
                </a:solidFill>
                <a:latin typeface="Calibri"/>
                <a:ea typeface="Calibri"/>
                <a:cs typeface="Calibri"/>
                <a:sym typeface="Calibri"/>
              </a:rPr>
              <a:t>'22</a:t>
            </a:r>
            <a:endParaRPr sz="700" b="0" i="0" u="none" strike="noStrike" cap="none">
              <a:solidFill>
                <a:schemeClr val="dk1"/>
              </a:solidFill>
              <a:latin typeface="Calibri"/>
              <a:ea typeface="Calibri"/>
              <a:cs typeface="Calibri"/>
              <a:sym typeface="Calibri"/>
            </a:endParaRPr>
          </a:p>
        </p:txBody>
      </p:sp>
      <p:sp>
        <p:nvSpPr>
          <p:cNvPr id="68" name="Google Shape;68;p4"/>
          <p:cNvSpPr/>
          <p:nvPr/>
        </p:nvSpPr>
        <p:spPr>
          <a:xfrm>
            <a:off x="6035040" y="4343400"/>
            <a:ext cx="502920" cy="1371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00"/>
              <a:buFont typeface="Calibri"/>
              <a:buNone/>
            </a:pPr>
            <a:r>
              <a:rPr lang="en-US" sz="700" b="0" i="0" u="none" strike="noStrike" cap="none">
                <a:solidFill>
                  <a:srgbClr val="5C6B82"/>
                </a:solidFill>
                <a:latin typeface="Calibri"/>
                <a:ea typeface="Calibri"/>
                <a:cs typeface="Calibri"/>
                <a:sym typeface="Calibri"/>
              </a:rPr>
              <a:t>'24</a:t>
            </a:r>
            <a:endParaRPr sz="700" b="0" i="0" u="none" strike="noStrike" cap="none">
              <a:solidFill>
                <a:schemeClr val="dk1"/>
              </a:solidFill>
              <a:latin typeface="Calibri"/>
              <a:ea typeface="Calibri"/>
              <a:cs typeface="Calibri"/>
              <a:sym typeface="Calibri"/>
            </a:endParaRPr>
          </a:p>
        </p:txBody>
      </p:sp>
      <p:sp>
        <p:nvSpPr>
          <p:cNvPr id="69" name="Google Shape;69;p4"/>
          <p:cNvSpPr/>
          <p:nvPr/>
        </p:nvSpPr>
        <p:spPr>
          <a:xfrm>
            <a:off x="6693408" y="4343400"/>
            <a:ext cx="502920" cy="1371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00"/>
              <a:buFont typeface="Calibri"/>
              <a:buNone/>
            </a:pPr>
            <a:r>
              <a:rPr lang="en-US" sz="700" b="0" i="0" u="none" strike="noStrike" cap="none">
                <a:solidFill>
                  <a:srgbClr val="5C6B82"/>
                </a:solidFill>
                <a:latin typeface="Calibri"/>
                <a:ea typeface="Calibri"/>
                <a:cs typeface="Calibri"/>
                <a:sym typeface="Calibri"/>
              </a:rPr>
              <a:t>'26</a:t>
            </a:r>
            <a:endParaRPr sz="700" b="0" i="0" u="none" strike="noStrike" cap="none">
              <a:solidFill>
                <a:schemeClr val="dk1"/>
              </a:solidFill>
              <a:latin typeface="Calibri"/>
              <a:ea typeface="Calibri"/>
              <a:cs typeface="Calibri"/>
              <a:sym typeface="Calibri"/>
            </a:endParaRPr>
          </a:p>
        </p:txBody>
      </p:sp>
      <p:sp>
        <p:nvSpPr>
          <p:cNvPr id="70" name="Google Shape;70;p4"/>
          <p:cNvSpPr/>
          <p:nvPr/>
        </p:nvSpPr>
        <p:spPr>
          <a:xfrm>
            <a:off x="7351776" y="4343400"/>
            <a:ext cx="502920" cy="1371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00"/>
              <a:buFont typeface="Calibri"/>
              <a:buNone/>
            </a:pPr>
            <a:r>
              <a:rPr lang="en-US" sz="700" b="0" i="0" u="none" strike="noStrike" cap="none">
                <a:solidFill>
                  <a:srgbClr val="5C6B82"/>
                </a:solidFill>
                <a:latin typeface="Calibri"/>
                <a:ea typeface="Calibri"/>
                <a:cs typeface="Calibri"/>
                <a:sym typeface="Calibri"/>
              </a:rPr>
              <a:t>'28</a:t>
            </a:r>
            <a:endParaRPr sz="700" b="0" i="0" u="none" strike="noStrike" cap="none">
              <a:solidFill>
                <a:schemeClr val="dk1"/>
              </a:solidFill>
              <a:latin typeface="Calibri"/>
              <a:ea typeface="Calibri"/>
              <a:cs typeface="Calibri"/>
              <a:sym typeface="Calibri"/>
            </a:endParaRPr>
          </a:p>
        </p:txBody>
      </p:sp>
      <p:sp>
        <p:nvSpPr>
          <p:cNvPr id="71" name="Google Shape;71;p4"/>
          <p:cNvSpPr/>
          <p:nvPr/>
        </p:nvSpPr>
        <p:spPr>
          <a:xfrm>
            <a:off x="8010144" y="4343400"/>
            <a:ext cx="502920" cy="1371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00"/>
              <a:buFont typeface="Calibri"/>
              <a:buNone/>
            </a:pPr>
            <a:r>
              <a:rPr lang="en-US" sz="700" b="0" i="0" u="none" strike="noStrike" cap="none">
                <a:solidFill>
                  <a:srgbClr val="5C6B82"/>
                </a:solidFill>
                <a:latin typeface="Calibri"/>
                <a:ea typeface="Calibri"/>
                <a:cs typeface="Calibri"/>
                <a:sym typeface="Calibri"/>
              </a:rPr>
              <a:t>'32</a:t>
            </a:r>
            <a:endParaRPr sz="7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6"/>
        <p:cNvGrpSpPr/>
        <p:nvPr/>
      </p:nvGrpSpPr>
      <p:grpSpPr>
        <a:xfrm>
          <a:off x="0" y="0"/>
          <a:ext cx="0" cy="0"/>
          <a:chOff x="0" y="0"/>
          <a:chExt cx="0" cy="0"/>
        </a:xfrm>
      </p:grpSpPr>
      <p:sp>
        <p:nvSpPr>
          <p:cNvPr id="77" name="Google Shape;77;p5"/>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PROBLEM ANALYSIS · §1</a:t>
            </a:r>
            <a:endParaRPr sz="900" b="0" i="0" u="none" strike="noStrike" cap="none" dirty="0">
              <a:solidFill>
                <a:schemeClr val="dk1"/>
              </a:solidFill>
              <a:latin typeface="Calibri"/>
              <a:ea typeface="Calibri"/>
              <a:cs typeface="Calibri"/>
              <a:sym typeface="Calibri"/>
            </a:endParaRPr>
          </a:p>
        </p:txBody>
      </p:sp>
      <p:sp>
        <p:nvSpPr>
          <p:cNvPr id="78" name="Google Shape;78;p5"/>
          <p:cNvSpPr/>
          <p:nvPr/>
        </p:nvSpPr>
        <p:spPr>
          <a:xfrm>
            <a:off x="365760" y="420624"/>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Why head-orientation data leaks what you type ?</a:t>
            </a:r>
            <a:endParaRPr sz="2400" b="0" i="0" u="none" strike="noStrike" cap="none" dirty="0">
              <a:solidFill>
                <a:schemeClr val="dk1"/>
              </a:solidFill>
              <a:latin typeface="Calibri"/>
              <a:ea typeface="Calibri"/>
              <a:cs typeface="Calibri"/>
              <a:sym typeface="Calibri"/>
            </a:endParaRPr>
          </a:p>
        </p:txBody>
      </p:sp>
      <p:sp>
        <p:nvSpPr>
          <p:cNvPr id="80" name="Google Shape;80;p5"/>
          <p:cNvSpPr/>
          <p:nvPr/>
        </p:nvSpPr>
        <p:spPr>
          <a:xfrm>
            <a:off x="4572000" y="4903468"/>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dirty="0">
                <a:solidFill>
                  <a:srgbClr val="9DB0CC"/>
                </a:solidFill>
                <a:latin typeface="Calibri"/>
                <a:ea typeface="Calibri"/>
                <a:cs typeface="Calibri"/>
                <a:sym typeface="Calibri"/>
              </a:rPr>
              <a:t>SNOOPFINGER  ·  Lee &amp; Choi, IEEE S&amp;P 2025  ·  3</a:t>
            </a:r>
            <a:endParaRPr sz="700" b="0" i="0" u="none" strike="noStrike" cap="none" dirty="0">
              <a:solidFill>
                <a:schemeClr val="dk1"/>
              </a:solidFill>
              <a:latin typeface="Calibri"/>
              <a:ea typeface="Calibri"/>
              <a:cs typeface="Calibri"/>
              <a:sym typeface="Calibri"/>
            </a:endParaRPr>
          </a:p>
        </p:txBody>
      </p:sp>
      <p:sp>
        <p:nvSpPr>
          <p:cNvPr id="81" name="Google Shape;81;p5"/>
          <p:cNvSpPr/>
          <p:nvPr/>
        </p:nvSpPr>
        <p:spPr>
          <a:xfrm>
            <a:off x="320040" y="1188720"/>
            <a:ext cx="4251960" cy="1353312"/>
          </a:xfrm>
          <a:prstGeom prst="roundRect">
            <a:avLst>
              <a:gd name="adj" fmla="val 5405"/>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2" name="Google Shape;82;p5" descr="preencoded.png"/>
          <p:cNvPicPr preferRelativeResize="0"/>
          <p:nvPr/>
        </p:nvPicPr>
        <p:blipFill rotWithShape="1">
          <a:blip r:embed="rId3">
            <a:alphaModFix/>
          </a:blip>
          <a:srcRect/>
          <a:stretch/>
        </p:blipFill>
        <p:spPr>
          <a:xfrm>
            <a:off x="457200" y="1307592"/>
            <a:ext cx="256032" cy="256032"/>
          </a:xfrm>
          <a:prstGeom prst="rect">
            <a:avLst/>
          </a:prstGeom>
          <a:noFill/>
          <a:ln>
            <a:noFill/>
          </a:ln>
        </p:spPr>
      </p:pic>
      <p:sp>
        <p:nvSpPr>
          <p:cNvPr id="83" name="Google Shape;83;p5"/>
          <p:cNvSpPr/>
          <p:nvPr/>
        </p:nvSpPr>
        <p:spPr>
          <a:xfrm>
            <a:off x="777240" y="1298448"/>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Constant Head Tracking</a:t>
            </a:r>
            <a:endParaRPr sz="1100" b="0" i="0" u="none" strike="noStrike" cap="none">
              <a:solidFill>
                <a:schemeClr val="dk1"/>
              </a:solidFill>
              <a:latin typeface="Calibri"/>
              <a:ea typeface="Calibri"/>
              <a:cs typeface="Calibri"/>
              <a:sym typeface="Calibri"/>
            </a:endParaRPr>
          </a:p>
        </p:txBody>
      </p:sp>
      <p:sp>
        <p:nvSpPr>
          <p:cNvPr id="84" name="Google Shape;84;p5"/>
          <p:cNvSpPr/>
          <p:nvPr/>
        </p:nvSpPr>
        <p:spPr>
          <a:xfrm>
            <a:off x="457200" y="1609344"/>
            <a:ext cx="397764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AR/VR must track head pose every frame to render the world correctly. Orientation is fundamental to core functionality.</a:t>
            </a:r>
            <a:endParaRPr sz="950" b="0" i="0" u="none" strike="noStrike" cap="none">
              <a:solidFill>
                <a:schemeClr val="dk1"/>
              </a:solidFill>
              <a:latin typeface="Calibri"/>
              <a:ea typeface="Calibri"/>
              <a:cs typeface="Calibri"/>
              <a:sym typeface="Calibri"/>
            </a:endParaRPr>
          </a:p>
        </p:txBody>
      </p:sp>
      <p:sp>
        <p:nvSpPr>
          <p:cNvPr id="85" name="Google Shape;85;p5"/>
          <p:cNvSpPr/>
          <p:nvPr/>
        </p:nvSpPr>
        <p:spPr>
          <a:xfrm>
            <a:off x="4754880" y="1188720"/>
            <a:ext cx="4251960" cy="1353312"/>
          </a:xfrm>
          <a:prstGeom prst="roundRect">
            <a:avLst>
              <a:gd name="adj" fmla="val 5405"/>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 name="Google Shape;86;p5" descr="preencoded.png"/>
          <p:cNvPicPr preferRelativeResize="0"/>
          <p:nvPr/>
        </p:nvPicPr>
        <p:blipFill rotWithShape="1">
          <a:blip r:embed="rId4">
            <a:alphaModFix/>
          </a:blip>
          <a:srcRect/>
          <a:stretch/>
        </p:blipFill>
        <p:spPr>
          <a:xfrm>
            <a:off x="4892040" y="1307592"/>
            <a:ext cx="256032" cy="256032"/>
          </a:xfrm>
          <a:prstGeom prst="rect">
            <a:avLst/>
          </a:prstGeom>
          <a:noFill/>
          <a:ln>
            <a:noFill/>
          </a:ln>
        </p:spPr>
      </p:pic>
      <p:sp>
        <p:nvSpPr>
          <p:cNvPr id="87" name="Google Shape;87;p5"/>
          <p:cNvSpPr/>
          <p:nvPr/>
        </p:nvSpPr>
        <p:spPr>
          <a:xfrm>
            <a:off x="5212080" y="1298448"/>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Multitasking &amp; Background Apps</a:t>
            </a:r>
            <a:endParaRPr sz="1100" b="0" i="0" u="none" strike="noStrike" cap="none">
              <a:solidFill>
                <a:schemeClr val="dk1"/>
              </a:solidFill>
              <a:latin typeface="Calibri"/>
              <a:ea typeface="Calibri"/>
              <a:cs typeface="Calibri"/>
              <a:sym typeface="Calibri"/>
            </a:endParaRPr>
          </a:p>
        </p:txBody>
      </p:sp>
      <p:sp>
        <p:nvSpPr>
          <p:cNvPr id="88" name="Google Shape;88;p5"/>
          <p:cNvSpPr/>
          <p:nvPr/>
        </p:nvSpPr>
        <p:spPr>
          <a:xfrm>
            <a:off x="4892040" y="1609344"/>
            <a:ext cx="397764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Modern headsets run several apps at once. A 'paused' background app keeps receiving sensor data to maintain immersion.</a:t>
            </a:r>
            <a:endParaRPr sz="950" b="0" i="0" u="none" strike="noStrike" cap="none">
              <a:solidFill>
                <a:schemeClr val="dk1"/>
              </a:solidFill>
              <a:latin typeface="Calibri"/>
              <a:ea typeface="Calibri"/>
              <a:cs typeface="Calibri"/>
              <a:sym typeface="Calibri"/>
            </a:endParaRPr>
          </a:p>
        </p:txBody>
      </p:sp>
      <p:sp>
        <p:nvSpPr>
          <p:cNvPr id="89" name="Google Shape;89;p5"/>
          <p:cNvSpPr/>
          <p:nvPr/>
        </p:nvSpPr>
        <p:spPr>
          <a:xfrm>
            <a:off x="320040" y="2633472"/>
            <a:ext cx="4251960" cy="1353312"/>
          </a:xfrm>
          <a:prstGeom prst="roundRect">
            <a:avLst>
              <a:gd name="adj" fmla="val 5405"/>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 name="Google Shape;90;p5" descr="preencoded.png"/>
          <p:cNvPicPr preferRelativeResize="0"/>
          <p:nvPr/>
        </p:nvPicPr>
        <p:blipFill rotWithShape="1">
          <a:blip r:embed="rId5">
            <a:alphaModFix/>
          </a:blip>
          <a:srcRect/>
          <a:stretch/>
        </p:blipFill>
        <p:spPr>
          <a:xfrm>
            <a:off x="457200" y="2752344"/>
            <a:ext cx="256032" cy="256032"/>
          </a:xfrm>
          <a:prstGeom prst="rect">
            <a:avLst/>
          </a:prstGeom>
          <a:noFill/>
          <a:ln>
            <a:noFill/>
          </a:ln>
        </p:spPr>
      </p:pic>
      <p:sp>
        <p:nvSpPr>
          <p:cNvPr id="91" name="Google Shape;91;p5"/>
          <p:cNvSpPr/>
          <p:nvPr/>
        </p:nvSpPr>
        <p:spPr>
          <a:xfrm>
            <a:off x="777240" y="2743200"/>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No Permission Gate</a:t>
            </a:r>
            <a:endParaRPr sz="1100" b="0" i="0" u="none" strike="noStrike" cap="none">
              <a:solidFill>
                <a:schemeClr val="dk1"/>
              </a:solidFill>
              <a:latin typeface="Calibri"/>
              <a:ea typeface="Calibri"/>
              <a:cs typeface="Calibri"/>
              <a:sym typeface="Calibri"/>
            </a:endParaRPr>
          </a:p>
        </p:txBody>
      </p:sp>
      <p:sp>
        <p:nvSpPr>
          <p:cNvPr id="92" name="Google Shape;92;p5"/>
          <p:cNvSpPr/>
          <p:nvPr/>
        </p:nvSpPr>
        <p:spPr>
          <a:xfrm>
            <a:off x="457200" y="3054096"/>
            <a:ext cx="397764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SDKs (Unity XR, Oculus) expose orientation via standard calls. OVRPlugin.GetNodePose works even in the background.</a:t>
            </a:r>
            <a:endParaRPr sz="950" b="0" i="0" u="none" strike="noStrike" cap="none">
              <a:solidFill>
                <a:schemeClr val="dk1"/>
              </a:solidFill>
              <a:latin typeface="Calibri"/>
              <a:ea typeface="Calibri"/>
              <a:cs typeface="Calibri"/>
              <a:sym typeface="Calibri"/>
            </a:endParaRPr>
          </a:p>
        </p:txBody>
      </p:sp>
      <p:sp>
        <p:nvSpPr>
          <p:cNvPr id="93" name="Google Shape;93;p5"/>
          <p:cNvSpPr/>
          <p:nvPr/>
        </p:nvSpPr>
        <p:spPr>
          <a:xfrm>
            <a:off x="4754880" y="2633472"/>
            <a:ext cx="4251960" cy="1353312"/>
          </a:xfrm>
          <a:prstGeom prst="roundRect">
            <a:avLst>
              <a:gd name="adj" fmla="val 5405"/>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4" name="Google Shape;94;p5" descr="preencoded.png"/>
          <p:cNvPicPr preferRelativeResize="0"/>
          <p:nvPr/>
        </p:nvPicPr>
        <p:blipFill rotWithShape="1">
          <a:blip r:embed="rId6">
            <a:alphaModFix/>
          </a:blip>
          <a:srcRect/>
          <a:stretch/>
        </p:blipFill>
        <p:spPr>
          <a:xfrm>
            <a:off x="4892040" y="2752344"/>
            <a:ext cx="256032" cy="256032"/>
          </a:xfrm>
          <a:prstGeom prst="rect">
            <a:avLst/>
          </a:prstGeom>
          <a:noFill/>
          <a:ln>
            <a:noFill/>
          </a:ln>
        </p:spPr>
      </p:pic>
      <p:sp>
        <p:nvSpPr>
          <p:cNvPr id="95" name="Google Shape;95;p5"/>
          <p:cNvSpPr/>
          <p:nvPr/>
        </p:nvSpPr>
        <p:spPr>
          <a:xfrm>
            <a:off x="5212080" y="2743200"/>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Quaternions, not Euler</a:t>
            </a:r>
            <a:endParaRPr sz="1100" b="0" i="0" u="none" strike="noStrike" cap="none">
              <a:solidFill>
                <a:schemeClr val="dk1"/>
              </a:solidFill>
              <a:latin typeface="Calibri"/>
              <a:ea typeface="Calibri"/>
              <a:cs typeface="Calibri"/>
              <a:sym typeface="Calibri"/>
            </a:endParaRPr>
          </a:p>
        </p:txBody>
      </p:sp>
      <p:sp>
        <p:nvSpPr>
          <p:cNvPr id="96" name="Google Shape;96;p5"/>
          <p:cNvSpPr/>
          <p:nvPr/>
        </p:nvSpPr>
        <p:spPr>
          <a:xfrm>
            <a:off x="4892040" y="3054096"/>
            <a:ext cx="397764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Orientation is delivered as quaternions (w,x,y,z) — smooth, gimbal-lock-free 4D rotation values the attacker later converts.</a:t>
            </a:r>
            <a:endParaRPr sz="950" b="0" i="0" u="none" strike="noStrike" cap="none">
              <a:solidFill>
                <a:schemeClr val="dk1"/>
              </a:solidFill>
              <a:latin typeface="Calibri"/>
              <a:ea typeface="Calibri"/>
              <a:cs typeface="Calibri"/>
              <a:sym typeface="Calibri"/>
            </a:endParaRPr>
          </a:p>
        </p:txBody>
      </p:sp>
      <p:sp>
        <p:nvSpPr>
          <p:cNvPr id="97" name="Google Shape;97;p5"/>
          <p:cNvSpPr/>
          <p:nvPr/>
        </p:nvSpPr>
        <p:spPr>
          <a:xfrm>
            <a:off x="320040" y="4041648"/>
            <a:ext cx="8503920" cy="749808"/>
          </a:xfrm>
          <a:prstGeom prst="roundRect">
            <a:avLst>
              <a:gd name="adj" fmla="val 9756"/>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 name="Google Shape;98;p5" descr="preencoded.png"/>
          <p:cNvPicPr preferRelativeResize="0"/>
          <p:nvPr/>
        </p:nvPicPr>
        <p:blipFill rotWithShape="1">
          <a:blip r:embed="rId7">
            <a:alphaModFix/>
          </a:blip>
          <a:srcRect/>
          <a:stretch/>
        </p:blipFill>
        <p:spPr>
          <a:xfrm>
            <a:off x="502920" y="4169664"/>
            <a:ext cx="292608" cy="292608"/>
          </a:xfrm>
          <a:prstGeom prst="rect">
            <a:avLst/>
          </a:prstGeom>
          <a:solidFill>
            <a:schemeClr val="bg1"/>
          </a:solidFill>
          <a:ln>
            <a:noFill/>
          </a:ln>
        </p:spPr>
      </p:pic>
      <p:sp>
        <p:nvSpPr>
          <p:cNvPr id="99" name="Google Shape;99;p5"/>
          <p:cNvSpPr/>
          <p:nvPr/>
        </p:nvSpPr>
        <p:spPr>
          <a:xfrm>
            <a:off x="886968" y="4145496"/>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dirty="0">
                <a:solidFill>
                  <a:srgbClr val="F5A623"/>
                </a:solidFill>
                <a:latin typeface="Calibri"/>
                <a:ea typeface="Calibri"/>
                <a:cs typeface="Calibri"/>
                <a:sym typeface="Calibri"/>
              </a:rPr>
              <a:t>Inception of Vulnerability</a:t>
            </a:r>
            <a:endParaRPr sz="1000" b="0" i="0" u="none" strike="noStrike" cap="none" dirty="0">
              <a:solidFill>
                <a:schemeClr val="dk1"/>
              </a:solidFill>
              <a:latin typeface="Calibri"/>
              <a:ea typeface="Calibri"/>
              <a:cs typeface="Calibri"/>
              <a:sym typeface="Calibri"/>
            </a:endParaRPr>
          </a:p>
        </p:txBody>
      </p:sp>
      <p:sp>
        <p:nvSpPr>
          <p:cNvPr id="100" name="Google Shape;100;p5"/>
          <p:cNvSpPr/>
          <p:nvPr/>
        </p:nvSpPr>
        <p:spPr>
          <a:xfrm>
            <a:off x="886968" y="4295396"/>
            <a:ext cx="77724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900"/>
              <a:buFont typeface="Calibri"/>
              <a:buNone/>
            </a:pPr>
            <a:r>
              <a:rPr lang="en-US" sz="900" b="0" i="0" u="none" strike="noStrike" cap="none" dirty="0">
                <a:solidFill>
                  <a:srgbClr val="E8EEF7"/>
                </a:solidFill>
                <a:latin typeface="Calibri"/>
                <a:ea typeface="Calibri"/>
                <a:cs typeface="Calibri"/>
                <a:sym typeface="Calibri"/>
              </a:rPr>
              <a:t>Because orientation is classified as non-sensitive, a malicious background app can silently collect a stream that is tightly correlated with what the user is typing — with no prompt, no icon, and no resource spike if it samples at the normal 72 Hz.</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
        <p:cNvGrpSpPr/>
        <p:nvPr/>
      </p:nvGrpSpPr>
      <p:grpSpPr>
        <a:xfrm>
          <a:off x="0" y="0"/>
          <a:ext cx="0" cy="0"/>
          <a:chOff x="0" y="0"/>
          <a:chExt cx="0" cy="0"/>
        </a:xfrm>
      </p:grpSpPr>
      <p:sp>
        <p:nvSpPr>
          <p:cNvPr id="106" name="Google Shape;106;p6"/>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a:solidFill>
                  <a:srgbClr val="C77F12"/>
                </a:solidFill>
                <a:latin typeface="Calibri"/>
                <a:ea typeface="Calibri"/>
                <a:cs typeface="Calibri"/>
                <a:sym typeface="Calibri"/>
              </a:rPr>
              <a:t>PROBLEM ANALYSIS · §1</a:t>
            </a:r>
            <a:endParaRPr sz="900" b="0" i="0" u="none" strike="noStrike" cap="none">
              <a:solidFill>
                <a:schemeClr val="dk1"/>
              </a:solidFill>
              <a:latin typeface="Calibri"/>
              <a:ea typeface="Calibri"/>
              <a:cs typeface="Calibri"/>
              <a:sym typeface="Calibri"/>
            </a:endParaRPr>
          </a:p>
        </p:txBody>
      </p:sp>
      <p:sp>
        <p:nvSpPr>
          <p:cNvPr id="107" name="Google Shape;107;p6"/>
          <p:cNvSpPr/>
          <p:nvPr/>
        </p:nvSpPr>
        <p:spPr>
          <a:xfrm>
            <a:off x="365760" y="420624"/>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Prior attacks: where SNOOPFINGER sits and what makes it unique</a:t>
            </a:r>
            <a:endParaRPr sz="2400" b="0" i="0" u="none" strike="noStrike" cap="none" dirty="0">
              <a:solidFill>
                <a:schemeClr val="dk1"/>
              </a:solidFill>
              <a:latin typeface="Calibri"/>
              <a:ea typeface="Calibri"/>
              <a:cs typeface="Calibri"/>
              <a:sym typeface="Calibri"/>
            </a:endParaRPr>
          </a:p>
        </p:txBody>
      </p:sp>
      <p:sp>
        <p:nvSpPr>
          <p:cNvPr id="109" name="Google Shape;109;p6"/>
          <p:cNvSpPr/>
          <p:nvPr/>
        </p:nvSpPr>
        <p:spPr>
          <a:xfrm>
            <a:off x="4572000" y="4895304"/>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dirty="0">
                <a:solidFill>
                  <a:srgbClr val="9DB0CC"/>
                </a:solidFill>
                <a:latin typeface="Calibri"/>
                <a:ea typeface="Calibri"/>
                <a:cs typeface="Calibri"/>
                <a:sym typeface="Calibri"/>
              </a:rPr>
              <a:t>SNOOPFINGER  ·  Lee &amp; Choi, IEEE S&amp;P 2025  ·  4</a:t>
            </a:r>
            <a:endParaRPr sz="700" b="0" i="0" u="none" strike="noStrike" cap="none" dirty="0">
              <a:solidFill>
                <a:schemeClr val="dk1"/>
              </a:solidFill>
              <a:latin typeface="Calibri"/>
              <a:ea typeface="Calibri"/>
              <a:cs typeface="Calibri"/>
              <a:sym typeface="Calibri"/>
            </a:endParaRPr>
          </a:p>
        </p:txBody>
      </p:sp>
      <p:sp>
        <p:nvSpPr>
          <p:cNvPr id="110" name="Google Shape;110;p6"/>
          <p:cNvSpPr/>
          <p:nvPr/>
        </p:nvSpPr>
        <p:spPr>
          <a:xfrm>
            <a:off x="365760" y="1115568"/>
            <a:ext cx="84124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1050"/>
              <a:buFont typeface="Calibri"/>
              <a:buNone/>
            </a:pPr>
            <a:r>
              <a:rPr lang="en-US" sz="1050" b="0" i="0" u="none" strike="noStrike" cap="none">
                <a:solidFill>
                  <a:srgbClr val="5C6B82"/>
                </a:solidFill>
                <a:latin typeface="Calibri"/>
                <a:ea typeface="Calibri"/>
                <a:cs typeface="Calibri"/>
                <a:sym typeface="Calibri"/>
              </a:rPr>
              <a:t>Most prior work stays within one modality, targets controller typing, or needs training data. SNOOPFINGER is the only motion attack that infers direct finger typing from head data with no training.</a:t>
            </a:r>
            <a:endParaRPr sz="1050" b="0" i="0" u="none" strike="noStrike" cap="none">
              <a:solidFill>
                <a:schemeClr val="dk1"/>
              </a:solidFill>
              <a:latin typeface="Calibri"/>
              <a:ea typeface="Calibri"/>
              <a:cs typeface="Calibri"/>
              <a:sym typeface="Calibri"/>
            </a:endParaRPr>
          </a:p>
        </p:txBody>
      </p:sp>
      <p:graphicFrame>
        <p:nvGraphicFramePr>
          <p:cNvPr id="111" name="Google Shape;111;p6"/>
          <p:cNvGraphicFramePr/>
          <p:nvPr/>
        </p:nvGraphicFramePr>
        <p:xfrm>
          <a:off x="320040" y="1572768"/>
          <a:ext cx="7223750" cy="2432325"/>
        </p:xfrm>
        <a:graphic>
          <a:graphicData uri="http://schemas.openxmlformats.org/drawingml/2006/table">
            <a:tbl>
              <a:tblPr>
                <a:noFill/>
                <a:tableStyleId>{9C11F828-7B41-49C0-BBD9-6A09A0F8F3F7}</a:tableStyleId>
              </a:tblPr>
              <a:tblGrid>
                <a:gridCol w="155447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28015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47475">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Attack</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1620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Data source</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1620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Typing target</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1620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Modality</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16202E"/>
                    </a:solidFill>
                  </a:tcPr>
                </a:tc>
                <a:tc>
                  <a:txBody>
                    <a:bodyPr/>
                    <a:lstStyle/>
                    <a:p>
                      <a:pPr marL="0" marR="0" lvl="0" indent="0" algn="ctr" rtl="0">
                        <a:spcBef>
                          <a:spcPts val="0"/>
                        </a:spcBef>
                        <a:spcAft>
                          <a:spcPts val="0"/>
                        </a:spcAft>
                        <a:buClr>
                          <a:srgbClr val="FFFFFF"/>
                        </a:buClr>
                        <a:buSzPts val="1000"/>
                        <a:buFont typeface="Calibri"/>
                        <a:buNone/>
                      </a:pPr>
                      <a:r>
                        <a:rPr lang="en-US" sz="1000" b="1" u="none" strike="noStrike" cap="none">
                          <a:solidFill>
                            <a:srgbClr val="FFFFFF"/>
                          </a:solidFill>
                          <a:latin typeface="Calibri"/>
                          <a:ea typeface="Calibri"/>
                          <a:cs typeface="Calibri"/>
                          <a:sym typeface="Calibri"/>
                        </a:rPr>
                        <a:t>Training?</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16202E"/>
                    </a:solidFill>
                  </a:tcPr>
                </a:tc>
                <a:extLst>
                  <a:ext uri="{0D108BD9-81ED-4DB2-BD59-A6C34878D82A}">
                    <a16:rowId xmlns:a16="http://schemas.microsoft.com/office/drawing/2014/main" val="10000"/>
                  </a:ext>
                </a:extLst>
              </a:tr>
              <a:tr h="347475">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Meteriz '22</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Hand motion</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Hand-typed</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Same</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Yes</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47475">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HoloLogger '22</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Head motion</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Head-typed</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Same</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No</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47475">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Slocum '23</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Head motion</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Controller</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Cross</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Yes</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47475">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Wu '23</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Controller</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Controller</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Same</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No</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47475">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GAZEploit '24</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Eye video</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Gaze-typed</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Same</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1000"/>
                        <a:buFont typeface="Calibri"/>
                        <a:buNone/>
                      </a:pPr>
                      <a:r>
                        <a:rPr lang="en-US" sz="1000" u="none" strike="noStrike" cap="none">
                          <a:solidFill>
                            <a:srgbClr val="000000"/>
                          </a:solidFill>
                          <a:latin typeface="Calibri"/>
                          <a:ea typeface="Calibri"/>
                          <a:cs typeface="Calibri"/>
                          <a:sym typeface="Calibri"/>
                        </a:rPr>
                        <a:t>Yes</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47475">
                <a:tc>
                  <a:txBody>
                    <a:bodyPr/>
                    <a:lstStyle/>
                    <a:p>
                      <a:pPr marL="0" marR="0" lvl="0" indent="0" algn="l" rtl="0">
                        <a:spcBef>
                          <a:spcPts val="0"/>
                        </a:spcBef>
                        <a:spcAft>
                          <a:spcPts val="0"/>
                        </a:spcAft>
                        <a:buClr>
                          <a:srgbClr val="0E1726"/>
                        </a:buClr>
                        <a:buSzPts val="1000"/>
                        <a:buFont typeface="Calibri"/>
                        <a:buNone/>
                      </a:pPr>
                      <a:r>
                        <a:rPr lang="en-US" sz="1000" b="1" u="none" strike="noStrike" cap="none">
                          <a:solidFill>
                            <a:srgbClr val="0E1726"/>
                          </a:solidFill>
                          <a:latin typeface="Calibri"/>
                          <a:ea typeface="Calibri"/>
                          <a:cs typeface="Calibri"/>
                          <a:sym typeface="Calibri"/>
                        </a:rPr>
                        <a:t>SNOOPFINGER ★</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5A623"/>
                    </a:solidFill>
                  </a:tcPr>
                </a:tc>
                <a:tc>
                  <a:txBody>
                    <a:bodyPr/>
                    <a:lstStyle/>
                    <a:p>
                      <a:pPr marL="0" marR="0" lvl="0" indent="0" algn="l" rtl="0">
                        <a:spcBef>
                          <a:spcPts val="0"/>
                        </a:spcBef>
                        <a:spcAft>
                          <a:spcPts val="0"/>
                        </a:spcAft>
                        <a:buClr>
                          <a:srgbClr val="0E1726"/>
                        </a:buClr>
                        <a:buSzPts val="1000"/>
                        <a:buFont typeface="Calibri"/>
                        <a:buNone/>
                      </a:pPr>
                      <a:r>
                        <a:rPr lang="en-US" sz="1000" b="1" u="none" strike="noStrike" cap="none">
                          <a:solidFill>
                            <a:srgbClr val="0E1726"/>
                          </a:solidFill>
                          <a:latin typeface="Calibri"/>
                          <a:ea typeface="Calibri"/>
                          <a:cs typeface="Calibri"/>
                          <a:sym typeface="Calibri"/>
                        </a:rPr>
                        <a:t>Head orientation</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5A623"/>
                    </a:solidFill>
                  </a:tcPr>
                </a:tc>
                <a:tc>
                  <a:txBody>
                    <a:bodyPr/>
                    <a:lstStyle/>
                    <a:p>
                      <a:pPr marL="0" marR="0" lvl="0" indent="0" algn="l" rtl="0">
                        <a:spcBef>
                          <a:spcPts val="0"/>
                        </a:spcBef>
                        <a:spcAft>
                          <a:spcPts val="0"/>
                        </a:spcAft>
                        <a:buClr>
                          <a:srgbClr val="0E1726"/>
                        </a:buClr>
                        <a:buSzPts val="1000"/>
                        <a:buFont typeface="Calibri"/>
                        <a:buNone/>
                      </a:pPr>
                      <a:r>
                        <a:rPr lang="en-US" sz="1000" b="1" u="none" strike="noStrike" cap="none">
                          <a:solidFill>
                            <a:srgbClr val="0E1726"/>
                          </a:solidFill>
                          <a:latin typeface="Calibri"/>
                          <a:ea typeface="Calibri"/>
                          <a:cs typeface="Calibri"/>
                          <a:sym typeface="Calibri"/>
                        </a:rPr>
                        <a:t>Hand-typed (fingers)</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5A623"/>
                    </a:solidFill>
                  </a:tcPr>
                </a:tc>
                <a:tc>
                  <a:txBody>
                    <a:bodyPr/>
                    <a:lstStyle/>
                    <a:p>
                      <a:pPr marL="0" marR="0" lvl="0" indent="0" algn="l" rtl="0">
                        <a:spcBef>
                          <a:spcPts val="0"/>
                        </a:spcBef>
                        <a:spcAft>
                          <a:spcPts val="0"/>
                        </a:spcAft>
                        <a:buClr>
                          <a:srgbClr val="0E1726"/>
                        </a:buClr>
                        <a:buSzPts val="1000"/>
                        <a:buFont typeface="Calibri"/>
                        <a:buNone/>
                      </a:pPr>
                      <a:r>
                        <a:rPr lang="en-US" sz="1000" b="1" u="none" strike="noStrike" cap="none">
                          <a:solidFill>
                            <a:srgbClr val="0E1726"/>
                          </a:solidFill>
                          <a:latin typeface="Calibri"/>
                          <a:ea typeface="Calibri"/>
                          <a:cs typeface="Calibri"/>
                          <a:sym typeface="Calibri"/>
                        </a:rPr>
                        <a:t>Cross ✓</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5A623"/>
                    </a:solidFill>
                  </a:tcPr>
                </a:tc>
                <a:tc>
                  <a:txBody>
                    <a:bodyPr/>
                    <a:lstStyle/>
                    <a:p>
                      <a:pPr marL="0" marR="0" lvl="0" indent="0" algn="l" rtl="0">
                        <a:spcBef>
                          <a:spcPts val="0"/>
                        </a:spcBef>
                        <a:spcAft>
                          <a:spcPts val="0"/>
                        </a:spcAft>
                        <a:buClr>
                          <a:srgbClr val="0E1726"/>
                        </a:buClr>
                        <a:buSzPts val="1000"/>
                        <a:buFont typeface="Calibri"/>
                        <a:buNone/>
                      </a:pPr>
                      <a:r>
                        <a:rPr lang="en-US" sz="1000" b="1" u="none" strike="noStrike" cap="none">
                          <a:solidFill>
                            <a:srgbClr val="0E1726"/>
                          </a:solidFill>
                          <a:latin typeface="Calibri"/>
                          <a:ea typeface="Calibri"/>
                          <a:cs typeface="Calibri"/>
                          <a:sym typeface="Calibri"/>
                        </a:rPr>
                        <a:t>No ✓</a:t>
                      </a:r>
                      <a:endParaRPr sz="1000" u="none" strike="noStrike" cap="none">
                        <a:latin typeface="Calibri"/>
                        <a:ea typeface="Calibri"/>
                        <a:cs typeface="Calibri"/>
                        <a:sym typeface="Calibri"/>
                      </a:endParaRPr>
                    </a:p>
                  </a:txBody>
                  <a:tcPr marL="91450" marR="91450" marT="45725" marB="45725">
                    <a:lnL w="9525" cap="flat" cmpd="sng">
                      <a:solidFill>
                        <a:srgbClr val="E2E8F2"/>
                      </a:solidFill>
                      <a:prstDash val="solid"/>
                      <a:round/>
                      <a:headEnd type="none" w="sm" len="sm"/>
                      <a:tailEnd type="none" w="sm" len="sm"/>
                    </a:lnL>
                    <a:lnR w="9525" cap="flat" cmpd="sng">
                      <a:solidFill>
                        <a:srgbClr val="E2E8F2"/>
                      </a:solidFill>
                      <a:prstDash val="solid"/>
                      <a:round/>
                      <a:headEnd type="none" w="sm" len="sm"/>
                      <a:tailEnd type="none" w="sm" len="sm"/>
                    </a:lnR>
                    <a:lnT w="9525" cap="flat" cmpd="sng">
                      <a:solidFill>
                        <a:srgbClr val="E2E8F2"/>
                      </a:solidFill>
                      <a:prstDash val="solid"/>
                      <a:round/>
                      <a:headEnd type="none" w="sm" len="sm"/>
                      <a:tailEnd type="none" w="sm" len="sm"/>
                    </a:lnT>
                    <a:lnB w="9525" cap="flat" cmpd="sng">
                      <a:solidFill>
                        <a:srgbClr val="E2E8F2"/>
                      </a:solidFill>
                      <a:prstDash val="solid"/>
                      <a:round/>
                      <a:headEnd type="none" w="sm" len="sm"/>
                      <a:tailEnd type="none" w="sm" len="sm"/>
                    </a:lnB>
                    <a:solidFill>
                      <a:srgbClr val="F5A623"/>
                    </a:solidFill>
                  </a:tcPr>
                </a:tc>
                <a:extLst>
                  <a:ext uri="{0D108BD9-81ED-4DB2-BD59-A6C34878D82A}">
                    <a16:rowId xmlns:a16="http://schemas.microsoft.com/office/drawing/2014/main" val="10006"/>
                  </a:ext>
                </a:extLst>
              </a:tr>
            </a:tbl>
          </a:graphicData>
        </a:graphic>
      </p:graphicFrame>
      <p:sp>
        <p:nvSpPr>
          <p:cNvPr id="112" name="Google Shape;112;p6"/>
          <p:cNvSpPr/>
          <p:nvPr/>
        </p:nvSpPr>
        <p:spPr>
          <a:xfrm>
            <a:off x="320040" y="4133088"/>
            <a:ext cx="8503920" cy="749808"/>
          </a:xfrm>
          <a:prstGeom prst="roundRect">
            <a:avLst>
              <a:gd name="adj" fmla="val 9756"/>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6"/>
          <p:cNvSpPr/>
          <p:nvPr/>
        </p:nvSpPr>
        <p:spPr>
          <a:xfrm>
            <a:off x="502920" y="4319445"/>
            <a:ext cx="11887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dirty="0">
                <a:solidFill>
                  <a:srgbClr val="16202E"/>
                </a:solidFill>
                <a:latin typeface="Calibri"/>
                <a:ea typeface="Calibri"/>
                <a:cs typeface="Calibri"/>
                <a:sym typeface="Calibri"/>
              </a:rPr>
              <a:t>The gap it fills:</a:t>
            </a:r>
            <a:endParaRPr sz="1000" b="0" i="0" u="none" strike="noStrike" cap="none" dirty="0">
              <a:solidFill>
                <a:schemeClr val="dk1"/>
              </a:solidFill>
              <a:latin typeface="Calibri"/>
              <a:ea typeface="Calibri"/>
              <a:cs typeface="Calibri"/>
              <a:sym typeface="Calibri"/>
            </a:endParaRPr>
          </a:p>
        </p:txBody>
      </p:sp>
      <p:sp>
        <p:nvSpPr>
          <p:cNvPr id="114" name="Google Shape;114;p6"/>
          <p:cNvSpPr/>
          <p:nvPr/>
        </p:nvSpPr>
        <p:spPr>
          <a:xfrm>
            <a:off x="1691640" y="4206240"/>
            <a:ext cx="694944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1000"/>
              <a:buFont typeface="Calibri"/>
              <a:buNone/>
            </a:pPr>
            <a:r>
              <a:rPr lang="en-US" sz="1000" b="0" i="0" u="none" strike="noStrike" cap="none">
                <a:solidFill>
                  <a:srgbClr val="5C6B82"/>
                </a:solidFill>
                <a:latin typeface="Calibri"/>
                <a:ea typeface="Calibri"/>
                <a:cs typeface="Calibri"/>
                <a:sym typeface="Calibri"/>
              </a:rPr>
              <a:t>cross-modality (head→hand)  +  direct finger typing  +  zero training data.  The nearest neighbour, Slocum '23, needed a trained model and targeted controllers.</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7"/>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PROBLEM ANALYSIS · §1</a:t>
            </a:r>
            <a:endParaRPr sz="900" b="0" i="0" u="none" strike="noStrike" cap="none" dirty="0">
              <a:solidFill>
                <a:schemeClr val="dk1"/>
              </a:solidFill>
              <a:latin typeface="Calibri"/>
              <a:ea typeface="Calibri"/>
              <a:cs typeface="Calibri"/>
              <a:sym typeface="Calibri"/>
            </a:endParaRPr>
          </a:p>
        </p:txBody>
      </p:sp>
      <p:sp>
        <p:nvSpPr>
          <p:cNvPr id="121" name="Google Shape;121;p7"/>
          <p:cNvSpPr/>
          <p:nvPr/>
        </p:nvSpPr>
        <p:spPr>
          <a:xfrm>
            <a:off x="365759" y="420624"/>
            <a:ext cx="9088483"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Attack scenario</a:t>
            </a:r>
            <a:endParaRPr sz="2400" b="0" i="0" u="none" strike="noStrike" cap="none" dirty="0">
              <a:solidFill>
                <a:schemeClr val="dk1"/>
              </a:solidFill>
              <a:latin typeface="Calibri"/>
              <a:ea typeface="Calibri"/>
              <a:cs typeface="Calibri"/>
              <a:sym typeface="Calibri"/>
            </a:endParaRPr>
          </a:p>
        </p:txBody>
      </p:sp>
      <p:sp>
        <p:nvSpPr>
          <p:cNvPr id="123" name="Google Shape;123;p7"/>
          <p:cNvSpPr/>
          <p:nvPr/>
        </p:nvSpPr>
        <p:spPr>
          <a:xfrm>
            <a:off x="4572000" y="4903468"/>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5</a:t>
            </a:r>
            <a:endParaRPr sz="700" b="0" i="0" u="none" strike="noStrike" cap="none">
              <a:solidFill>
                <a:schemeClr val="dk1"/>
              </a:solidFill>
              <a:latin typeface="Calibri"/>
              <a:ea typeface="Calibri"/>
              <a:cs typeface="Calibri"/>
              <a:sym typeface="Calibri"/>
            </a:endParaRPr>
          </a:p>
        </p:txBody>
      </p:sp>
      <p:sp>
        <p:nvSpPr>
          <p:cNvPr id="124" name="Google Shape;124;p7"/>
          <p:cNvSpPr/>
          <p:nvPr/>
        </p:nvSpPr>
        <p:spPr>
          <a:xfrm>
            <a:off x="749808" y="1143000"/>
            <a:ext cx="658368" cy="658368"/>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5" name="Google Shape;125;p7" descr="preencoded.png"/>
          <p:cNvPicPr preferRelativeResize="0"/>
          <p:nvPr/>
        </p:nvPicPr>
        <p:blipFill rotWithShape="1">
          <a:blip r:embed="rId3">
            <a:alphaModFix/>
          </a:blip>
          <a:srcRect/>
          <a:stretch/>
        </p:blipFill>
        <p:spPr>
          <a:xfrm>
            <a:off x="877824" y="1271016"/>
            <a:ext cx="402336" cy="402336"/>
          </a:xfrm>
          <a:prstGeom prst="rect">
            <a:avLst/>
          </a:prstGeom>
          <a:noFill/>
          <a:ln>
            <a:noFill/>
          </a:ln>
        </p:spPr>
      </p:pic>
      <p:cxnSp>
        <p:nvCxnSpPr>
          <p:cNvPr id="126" name="Google Shape;126;p7"/>
          <p:cNvCxnSpPr/>
          <p:nvPr/>
        </p:nvCxnSpPr>
        <p:spPr>
          <a:xfrm>
            <a:off x="1664208" y="1472184"/>
            <a:ext cx="530352" cy="0"/>
          </a:xfrm>
          <a:prstGeom prst="straightConnector1">
            <a:avLst/>
          </a:prstGeom>
          <a:noFill/>
          <a:ln w="25400" cap="flat" cmpd="sng">
            <a:solidFill>
              <a:srgbClr val="F5A623"/>
            </a:solidFill>
            <a:prstDash val="solid"/>
            <a:round/>
            <a:headEnd type="none" w="sm" len="sm"/>
            <a:tailEnd type="none" w="sm" len="sm"/>
          </a:ln>
        </p:spPr>
      </p:cxnSp>
      <p:sp>
        <p:nvSpPr>
          <p:cNvPr id="127" name="Google Shape;127;p7"/>
          <p:cNvSpPr/>
          <p:nvPr/>
        </p:nvSpPr>
        <p:spPr>
          <a:xfrm rot="5400000">
            <a:off x="2121330" y="1399014"/>
            <a:ext cx="91500" cy="146400"/>
          </a:xfrm>
          <a:prstGeom prst="triangle">
            <a:avLst>
              <a:gd name="adj" fmla="val 50000"/>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a:off x="274320" y="1920240"/>
            <a:ext cx="1965960" cy="1481328"/>
          </a:xfrm>
          <a:prstGeom prst="roundRect">
            <a:avLst>
              <a:gd name="adj" fmla="val 4938"/>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7"/>
          <p:cNvSpPr/>
          <p:nvPr/>
        </p:nvSpPr>
        <p:spPr>
          <a:xfrm>
            <a:off x="411480" y="2039112"/>
            <a:ext cx="1691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1 · Disguise</a:t>
            </a:r>
            <a:endParaRPr sz="1100" b="0" i="0" u="none" strike="noStrike" cap="none">
              <a:solidFill>
                <a:schemeClr val="dk1"/>
              </a:solidFill>
              <a:latin typeface="Calibri"/>
              <a:ea typeface="Calibri"/>
              <a:cs typeface="Calibri"/>
              <a:sym typeface="Calibri"/>
            </a:endParaRPr>
          </a:p>
        </p:txBody>
      </p:sp>
      <p:sp>
        <p:nvSpPr>
          <p:cNvPr id="130" name="Google Shape;130;p7"/>
          <p:cNvSpPr/>
          <p:nvPr/>
        </p:nvSpPr>
        <p:spPr>
          <a:xfrm>
            <a:off x="411480" y="2340864"/>
            <a:ext cx="1691640" cy="9509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Adversary ships malware inside a legitimate-looking app or game on a store.</a:t>
            </a:r>
            <a:endParaRPr sz="950" b="0" i="0" u="none" strike="noStrike" cap="none">
              <a:solidFill>
                <a:schemeClr val="dk1"/>
              </a:solidFill>
              <a:latin typeface="Calibri"/>
              <a:ea typeface="Calibri"/>
              <a:cs typeface="Calibri"/>
              <a:sym typeface="Calibri"/>
            </a:endParaRPr>
          </a:p>
        </p:txBody>
      </p:sp>
      <p:sp>
        <p:nvSpPr>
          <p:cNvPr id="131" name="Google Shape;131;p7"/>
          <p:cNvSpPr/>
          <p:nvPr/>
        </p:nvSpPr>
        <p:spPr>
          <a:xfrm>
            <a:off x="2944368" y="1143000"/>
            <a:ext cx="658368" cy="658368"/>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2" name="Google Shape;132;p7" descr="preencoded.png"/>
          <p:cNvPicPr preferRelativeResize="0"/>
          <p:nvPr/>
        </p:nvPicPr>
        <p:blipFill rotWithShape="1">
          <a:blip r:embed="rId4">
            <a:alphaModFix/>
          </a:blip>
          <a:srcRect/>
          <a:stretch/>
        </p:blipFill>
        <p:spPr>
          <a:xfrm>
            <a:off x="3072384" y="1271016"/>
            <a:ext cx="402336" cy="402336"/>
          </a:xfrm>
          <a:prstGeom prst="rect">
            <a:avLst/>
          </a:prstGeom>
          <a:noFill/>
          <a:ln>
            <a:noFill/>
          </a:ln>
        </p:spPr>
      </p:pic>
      <p:cxnSp>
        <p:nvCxnSpPr>
          <p:cNvPr id="133" name="Google Shape;133;p7"/>
          <p:cNvCxnSpPr/>
          <p:nvPr/>
        </p:nvCxnSpPr>
        <p:spPr>
          <a:xfrm>
            <a:off x="3858768" y="1472184"/>
            <a:ext cx="530352" cy="0"/>
          </a:xfrm>
          <a:prstGeom prst="straightConnector1">
            <a:avLst/>
          </a:prstGeom>
          <a:noFill/>
          <a:ln w="25400" cap="flat" cmpd="sng">
            <a:solidFill>
              <a:srgbClr val="F5A623"/>
            </a:solidFill>
            <a:prstDash val="solid"/>
            <a:round/>
            <a:headEnd type="none" w="sm" len="sm"/>
            <a:tailEnd type="none" w="sm" len="sm"/>
          </a:ln>
        </p:spPr>
      </p:cxnSp>
      <p:sp>
        <p:nvSpPr>
          <p:cNvPr id="134" name="Google Shape;134;p7"/>
          <p:cNvSpPr/>
          <p:nvPr/>
        </p:nvSpPr>
        <p:spPr>
          <a:xfrm rot="5400000">
            <a:off x="4315890" y="1399014"/>
            <a:ext cx="91500" cy="146400"/>
          </a:xfrm>
          <a:prstGeom prst="triangle">
            <a:avLst>
              <a:gd name="adj" fmla="val 50000"/>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2468880" y="1920240"/>
            <a:ext cx="1965960" cy="1481328"/>
          </a:xfrm>
          <a:prstGeom prst="roundRect">
            <a:avLst>
              <a:gd name="adj" fmla="val 4938"/>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a:off x="2606040" y="2039112"/>
            <a:ext cx="1691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2 · Victim types</a:t>
            </a:r>
            <a:endParaRPr sz="1100" b="0" i="0" u="none" strike="noStrike" cap="none">
              <a:solidFill>
                <a:schemeClr val="dk1"/>
              </a:solidFill>
              <a:latin typeface="Calibri"/>
              <a:ea typeface="Calibri"/>
              <a:cs typeface="Calibri"/>
              <a:sym typeface="Calibri"/>
            </a:endParaRPr>
          </a:p>
        </p:txBody>
      </p:sp>
      <p:sp>
        <p:nvSpPr>
          <p:cNvPr id="137" name="Google Shape;137;p7"/>
          <p:cNvSpPr/>
          <p:nvPr/>
        </p:nvSpPr>
        <p:spPr>
          <a:xfrm>
            <a:off x="2606040" y="2340864"/>
            <a:ext cx="1691640" cy="9509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Victim foregrounds a normal app (e.g. Messenger) and types private text with their fingers.</a:t>
            </a:r>
            <a:endParaRPr sz="950" b="0" i="0" u="none" strike="noStrike" cap="none">
              <a:solidFill>
                <a:schemeClr val="dk1"/>
              </a:solidFill>
              <a:latin typeface="Calibri"/>
              <a:ea typeface="Calibri"/>
              <a:cs typeface="Calibri"/>
              <a:sym typeface="Calibri"/>
            </a:endParaRPr>
          </a:p>
        </p:txBody>
      </p:sp>
      <p:sp>
        <p:nvSpPr>
          <p:cNvPr id="138" name="Google Shape;138;p7"/>
          <p:cNvSpPr/>
          <p:nvPr/>
        </p:nvSpPr>
        <p:spPr>
          <a:xfrm>
            <a:off x="5138928" y="1143000"/>
            <a:ext cx="658368" cy="658368"/>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9" name="Google Shape;139;p7" descr="preencoded.png"/>
          <p:cNvPicPr preferRelativeResize="0"/>
          <p:nvPr/>
        </p:nvPicPr>
        <p:blipFill rotWithShape="1">
          <a:blip r:embed="rId5">
            <a:alphaModFix/>
          </a:blip>
          <a:srcRect/>
          <a:stretch/>
        </p:blipFill>
        <p:spPr>
          <a:xfrm>
            <a:off x="5266944" y="1271016"/>
            <a:ext cx="402336" cy="402336"/>
          </a:xfrm>
          <a:prstGeom prst="rect">
            <a:avLst/>
          </a:prstGeom>
          <a:noFill/>
          <a:ln>
            <a:noFill/>
          </a:ln>
        </p:spPr>
      </p:pic>
      <p:cxnSp>
        <p:nvCxnSpPr>
          <p:cNvPr id="140" name="Google Shape;140;p7"/>
          <p:cNvCxnSpPr/>
          <p:nvPr/>
        </p:nvCxnSpPr>
        <p:spPr>
          <a:xfrm>
            <a:off x="6053328" y="1472184"/>
            <a:ext cx="530352" cy="0"/>
          </a:xfrm>
          <a:prstGeom prst="straightConnector1">
            <a:avLst/>
          </a:prstGeom>
          <a:noFill/>
          <a:ln w="25400" cap="flat" cmpd="sng">
            <a:solidFill>
              <a:srgbClr val="F5A623"/>
            </a:solidFill>
            <a:prstDash val="solid"/>
            <a:round/>
            <a:headEnd type="none" w="sm" len="sm"/>
            <a:tailEnd type="none" w="sm" len="sm"/>
          </a:ln>
        </p:spPr>
      </p:cxnSp>
      <p:sp>
        <p:nvSpPr>
          <p:cNvPr id="141" name="Google Shape;141;p7"/>
          <p:cNvSpPr/>
          <p:nvPr/>
        </p:nvSpPr>
        <p:spPr>
          <a:xfrm rot="5400000">
            <a:off x="6510450" y="1399014"/>
            <a:ext cx="91500" cy="146400"/>
          </a:xfrm>
          <a:prstGeom prst="triangle">
            <a:avLst>
              <a:gd name="adj" fmla="val 50000"/>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7"/>
          <p:cNvSpPr/>
          <p:nvPr/>
        </p:nvSpPr>
        <p:spPr>
          <a:xfrm>
            <a:off x="4663440" y="1920240"/>
            <a:ext cx="1965960" cy="1481328"/>
          </a:xfrm>
          <a:prstGeom prst="roundRect">
            <a:avLst>
              <a:gd name="adj" fmla="val 4938"/>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7"/>
          <p:cNvSpPr/>
          <p:nvPr/>
        </p:nvSpPr>
        <p:spPr>
          <a:xfrm>
            <a:off x="4800600" y="2039112"/>
            <a:ext cx="1691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3 · Silent capture</a:t>
            </a:r>
            <a:endParaRPr sz="1100" b="0" i="0" u="none" strike="noStrike" cap="none">
              <a:solidFill>
                <a:schemeClr val="dk1"/>
              </a:solidFill>
              <a:latin typeface="Calibri"/>
              <a:ea typeface="Calibri"/>
              <a:cs typeface="Calibri"/>
              <a:sym typeface="Calibri"/>
            </a:endParaRPr>
          </a:p>
        </p:txBody>
      </p:sp>
      <p:sp>
        <p:nvSpPr>
          <p:cNvPr id="144" name="Google Shape;144;p7"/>
          <p:cNvSpPr/>
          <p:nvPr/>
        </p:nvSpPr>
        <p:spPr>
          <a:xfrm>
            <a:off x="4800600" y="2340864"/>
            <a:ext cx="1691640" cy="9509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The malicious app, now 'paused', keeps logging headset orientation at 72 Hz.</a:t>
            </a:r>
            <a:endParaRPr sz="950" b="0" i="0" u="none" strike="noStrike" cap="none">
              <a:solidFill>
                <a:schemeClr val="dk1"/>
              </a:solidFill>
              <a:latin typeface="Calibri"/>
              <a:ea typeface="Calibri"/>
              <a:cs typeface="Calibri"/>
              <a:sym typeface="Calibri"/>
            </a:endParaRPr>
          </a:p>
        </p:txBody>
      </p:sp>
      <p:sp>
        <p:nvSpPr>
          <p:cNvPr id="145" name="Google Shape;145;p7"/>
          <p:cNvSpPr/>
          <p:nvPr/>
        </p:nvSpPr>
        <p:spPr>
          <a:xfrm>
            <a:off x="7333488" y="1143000"/>
            <a:ext cx="658368" cy="658368"/>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6" name="Google Shape;146;p7" descr="preencoded.png"/>
          <p:cNvPicPr preferRelativeResize="0"/>
          <p:nvPr/>
        </p:nvPicPr>
        <p:blipFill rotWithShape="1">
          <a:blip r:embed="rId6">
            <a:alphaModFix/>
          </a:blip>
          <a:srcRect/>
          <a:stretch/>
        </p:blipFill>
        <p:spPr>
          <a:xfrm>
            <a:off x="7461504" y="1271016"/>
            <a:ext cx="402336" cy="402336"/>
          </a:xfrm>
          <a:prstGeom prst="rect">
            <a:avLst/>
          </a:prstGeom>
          <a:noFill/>
          <a:ln>
            <a:noFill/>
          </a:ln>
        </p:spPr>
      </p:pic>
      <p:sp>
        <p:nvSpPr>
          <p:cNvPr id="147" name="Google Shape;147;p7"/>
          <p:cNvSpPr/>
          <p:nvPr/>
        </p:nvSpPr>
        <p:spPr>
          <a:xfrm>
            <a:off x="6858000" y="1920240"/>
            <a:ext cx="1965960" cy="1481328"/>
          </a:xfrm>
          <a:prstGeom prst="roundRect">
            <a:avLst>
              <a:gd name="adj" fmla="val 4938"/>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
          <p:cNvSpPr/>
          <p:nvPr/>
        </p:nvSpPr>
        <p:spPr>
          <a:xfrm>
            <a:off x="6995160" y="2039112"/>
            <a:ext cx="1691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4 · Infer offline</a:t>
            </a:r>
            <a:endParaRPr sz="1100" b="0" i="0" u="none" strike="noStrike" cap="none">
              <a:solidFill>
                <a:schemeClr val="dk1"/>
              </a:solidFill>
              <a:latin typeface="Calibri"/>
              <a:ea typeface="Calibri"/>
              <a:cs typeface="Calibri"/>
              <a:sym typeface="Calibri"/>
            </a:endParaRPr>
          </a:p>
        </p:txBody>
      </p:sp>
      <p:sp>
        <p:nvSpPr>
          <p:cNvPr id="149" name="Google Shape;149;p7"/>
          <p:cNvSpPr/>
          <p:nvPr/>
        </p:nvSpPr>
        <p:spPr>
          <a:xfrm>
            <a:off x="6995160" y="2340864"/>
            <a:ext cx="1691640" cy="9509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From orientation alone, the adversary reconstructs gaze, then the typed words &amp; sentences.</a:t>
            </a:r>
            <a:endParaRPr sz="950" b="0" i="0" u="none" strike="noStrike" cap="none">
              <a:solidFill>
                <a:schemeClr val="dk1"/>
              </a:solidFill>
              <a:latin typeface="Calibri"/>
              <a:ea typeface="Calibri"/>
              <a:cs typeface="Calibri"/>
              <a:sym typeface="Calibri"/>
            </a:endParaRPr>
          </a:p>
        </p:txBody>
      </p:sp>
      <p:sp>
        <p:nvSpPr>
          <p:cNvPr id="150" name="Google Shape;150;p7"/>
          <p:cNvSpPr/>
          <p:nvPr/>
        </p:nvSpPr>
        <p:spPr>
          <a:xfrm>
            <a:off x="320040" y="3529584"/>
            <a:ext cx="4187952" cy="1298448"/>
          </a:xfrm>
          <a:prstGeom prst="roundRect">
            <a:avLst>
              <a:gd name="adj" fmla="val 5634"/>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a:off x="502920" y="3602736"/>
            <a:ext cx="3840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a:solidFill>
                  <a:srgbClr val="16202E"/>
                </a:solidFill>
                <a:latin typeface="Calibri"/>
                <a:ea typeface="Calibri"/>
                <a:cs typeface="Calibri"/>
                <a:sym typeface="Calibri"/>
              </a:rPr>
              <a:t>What the adversary NEEDS</a:t>
            </a:r>
            <a:endParaRPr sz="1000" b="0" i="0" u="none" strike="noStrike" cap="none">
              <a:solidFill>
                <a:schemeClr val="dk1"/>
              </a:solidFill>
              <a:latin typeface="Calibri"/>
              <a:ea typeface="Calibri"/>
              <a:cs typeface="Calibri"/>
              <a:sym typeface="Calibri"/>
            </a:endParaRPr>
          </a:p>
        </p:txBody>
      </p:sp>
      <p:pic>
        <p:nvPicPr>
          <p:cNvPr id="152" name="Google Shape;152;p7" descr="preencoded.png"/>
          <p:cNvPicPr preferRelativeResize="0"/>
          <p:nvPr/>
        </p:nvPicPr>
        <p:blipFill rotWithShape="1">
          <a:blip r:embed="rId7">
            <a:alphaModFix/>
          </a:blip>
          <a:srcRect/>
          <a:stretch/>
        </p:blipFill>
        <p:spPr>
          <a:xfrm>
            <a:off x="502920" y="3858768"/>
            <a:ext cx="164592" cy="164592"/>
          </a:xfrm>
          <a:prstGeom prst="rect">
            <a:avLst/>
          </a:prstGeom>
          <a:noFill/>
          <a:ln>
            <a:noFill/>
          </a:ln>
        </p:spPr>
      </p:pic>
      <p:sp>
        <p:nvSpPr>
          <p:cNvPr id="153" name="Google Shape;153;p7"/>
          <p:cNvSpPr/>
          <p:nvPr/>
        </p:nvSpPr>
        <p:spPr>
          <a:xfrm>
            <a:off x="731520" y="385876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Knowledge of the keyboard layout (QWERTY).</a:t>
            </a:r>
            <a:endParaRPr sz="900" b="0" i="0" u="none" strike="noStrike" cap="none">
              <a:solidFill>
                <a:schemeClr val="dk1"/>
              </a:solidFill>
              <a:latin typeface="Calibri"/>
              <a:ea typeface="Calibri"/>
              <a:cs typeface="Calibri"/>
              <a:sym typeface="Calibri"/>
            </a:endParaRPr>
          </a:p>
        </p:txBody>
      </p:sp>
      <p:pic>
        <p:nvPicPr>
          <p:cNvPr id="154" name="Google Shape;154;p7" descr="preencoded.png"/>
          <p:cNvPicPr preferRelativeResize="0"/>
          <p:nvPr/>
        </p:nvPicPr>
        <p:blipFill rotWithShape="1">
          <a:blip r:embed="rId7">
            <a:alphaModFix/>
          </a:blip>
          <a:srcRect/>
          <a:stretch/>
        </p:blipFill>
        <p:spPr>
          <a:xfrm>
            <a:off x="502920" y="4133088"/>
            <a:ext cx="164592" cy="164592"/>
          </a:xfrm>
          <a:prstGeom prst="rect">
            <a:avLst/>
          </a:prstGeom>
          <a:noFill/>
          <a:ln>
            <a:noFill/>
          </a:ln>
        </p:spPr>
      </p:pic>
      <p:sp>
        <p:nvSpPr>
          <p:cNvPr id="155" name="Google Shape;155;p7"/>
          <p:cNvSpPr/>
          <p:nvPr/>
        </p:nvSpPr>
        <p:spPr>
          <a:xfrm>
            <a:off x="731520" y="413308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Their own headset to reconstruct a reference layout.</a:t>
            </a:r>
            <a:endParaRPr sz="900" b="0" i="0" u="none" strike="noStrike" cap="none">
              <a:solidFill>
                <a:schemeClr val="dk1"/>
              </a:solidFill>
              <a:latin typeface="Calibri"/>
              <a:ea typeface="Calibri"/>
              <a:cs typeface="Calibri"/>
              <a:sym typeface="Calibri"/>
            </a:endParaRPr>
          </a:p>
        </p:txBody>
      </p:sp>
      <p:pic>
        <p:nvPicPr>
          <p:cNvPr id="156" name="Google Shape;156;p7" descr="preencoded.png"/>
          <p:cNvPicPr preferRelativeResize="0"/>
          <p:nvPr/>
        </p:nvPicPr>
        <p:blipFill rotWithShape="1">
          <a:blip r:embed="rId7">
            <a:alphaModFix/>
          </a:blip>
          <a:srcRect/>
          <a:stretch/>
        </p:blipFill>
        <p:spPr>
          <a:xfrm>
            <a:off x="502920" y="4407408"/>
            <a:ext cx="164592" cy="164592"/>
          </a:xfrm>
          <a:prstGeom prst="rect">
            <a:avLst/>
          </a:prstGeom>
          <a:noFill/>
          <a:ln>
            <a:noFill/>
          </a:ln>
        </p:spPr>
      </p:pic>
      <p:sp>
        <p:nvSpPr>
          <p:cNvPr id="157" name="Google Shape;157;p7"/>
          <p:cNvSpPr/>
          <p:nvPr/>
        </p:nvSpPr>
        <p:spPr>
          <a:xfrm>
            <a:off x="731520" y="440740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Background sensor access — granted by default.</a:t>
            </a:r>
            <a:endParaRPr sz="900" b="0" i="0" u="none" strike="noStrike" cap="none">
              <a:solidFill>
                <a:schemeClr val="dk1"/>
              </a:solidFill>
              <a:latin typeface="Calibri"/>
              <a:ea typeface="Calibri"/>
              <a:cs typeface="Calibri"/>
              <a:sym typeface="Calibri"/>
            </a:endParaRPr>
          </a:p>
        </p:txBody>
      </p:sp>
      <p:sp>
        <p:nvSpPr>
          <p:cNvPr id="158" name="Google Shape;158;p7"/>
          <p:cNvSpPr/>
          <p:nvPr/>
        </p:nvSpPr>
        <p:spPr>
          <a:xfrm>
            <a:off x="4636008" y="3529584"/>
            <a:ext cx="4187952" cy="1298448"/>
          </a:xfrm>
          <a:prstGeom prst="roundRect">
            <a:avLst>
              <a:gd name="adj" fmla="val 5634"/>
            </a:avLst>
          </a:prstGeom>
          <a:solidFill>
            <a:srgbClr val="F2F5FA"/>
          </a:solidFill>
          <a:ln w="9525" cap="flat" cmpd="sng">
            <a:solidFill>
              <a:srgbClr val="FD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a:off x="4818888" y="3602736"/>
            <a:ext cx="3840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a:solidFill>
                  <a:srgbClr val="16202E"/>
                </a:solidFill>
                <a:latin typeface="Calibri"/>
                <a:ea typeface="Calibri"/>
                <a:cs typeface="Calibri"/>
                <a:sym typeface="Calibri"/>
              </a:rPr>
              <a:t>What it does NOT need</a:t>
            </a:r>
            <a:endParaRPr sz="1000" b="0" i="0" u="none" strike="noStrike" cap="none">
              <a:solidFill>
                <a:schemeClr val="dk1"/>
              </a:solidFill>
              <a:latin typeface="Calibri"/>
              <a:ea typeface="Calibri"/>
              <a:cs typeface="Calibri"/>
              <a:sym typeface="Calibri"/>
            </a:endParaRPr>
          </a:p>
        </p:txBody>
      </p:sp>
      <p:pic>
        <p:nvPicPr>
          <p:cNvPr id="160" name="Google Shape;160;p7" descr="preencoded.png"/>
          <p:cNvPicPr preferRelativeResize="0"/>
          <p:nvPr/>
        </p:nvPicPr>
        <p:blipFill rotWithShape="1">
          <a:blip r:embed="rId8">
            <a:alphaModFix/>
          </a:blip>
          <a:srcRect/>
          <a:stretch/>
        </p:blipFill>
        <p:spPr>
          <a:xfrm>
            <a:off x="4818888" y="3858768"/>
            <a:ext cx="164592" cy="164592"/>
          </a:xfrm>
          <a:prstGeom prst="rect">
            <a:avLst/>
          </a:prstGeom>
          <a:noFill/>
          <a:ln>
            <a:noFill/>
          </a:ln>
        </p:spPr>
      </p:pic>
      <p:sp>
        <p:nvSpPr>
          <p:cNvPr id="161" name="Google Shape;161;p7"/>
          <p:cNvSpPr/>
          <p:nvPr/>
        </p:nvSpPr>
        <p:spPr>
          <a:xfrm>
            <a:off x="5047488" y="385876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No labelled training data from the victim.</a:t>
            </a:r>
            <a:endParaRPr sz="900" b="0" i="0" u="none" strike="noStrike" cap="none">
              <a:solidFill>
                <a:schemeClr val="dk1"/>
              </a:solidFill>
              <a:latin typeface="Calibri"/>
              <a:ea typeface="Calibri"/>
              <a:cs typeface="Calibri"/>
              <a:sym typeface="Calibri"/>
            </a:endParaRPr>
          </a:p>
        </p:txBody>
      </p:sp>
      <p:pic>
        <p:nvPicPr>
          <p:cNvPr id="162" name="Google Shape;162;p7" descr="preencoded.png"/>
          <p:cNvPicPr preferRelativeResize="0"/>
          <p:nvPr/>
        </p:nvPicPr>
        <p:blipFill rotWithShape="1">
          <a:blip r:embed="rId8">
            <a:alphaModFix/>
          </a:blip>
          <a:srcRect/>
          <a:stretch/>
        </p:blipFill>
        <p:spPr>
          <a:xfrm>
            <a:off x="4818888" y="4133088"/>
            <a:ext cx="164592" cy="164592"/>
          </a:xfrm>
          <a:prstGeom prst="rect">
            <a:avLst/>
          </a:prstGeom>
          <a:noFill/>
          <a:ln>
            <a:noFill/>
          </a:ln>
        </p:spPr>
      </p:pic>
      <p:sp>
        <p:nvSpPr>
          <p:cNvPr id="163" name="Google Shape;163;p7"/>
          <p:cNvSpPr/>
          <p:nvPr/>
        </p:nvSpPr>
        <p:spPr>
          <a:xfrm>
            <a:off x="5047488" y="413308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No data from any other users.</a:t>
            </a:r>
            <a:endParaRPr sz="900" b="0" i="0" u="none" strike="noStrike" cap="none">
              <a:solidFill>
                <a:schemeClr val="dk1"/>
              </a:solidFill>
              <a:latin typeface="Calibri"/>
              <a:ea typeface="Calibri"/>
              <a:cs typeface="Calibri"/>
              <a:sym typeface="Calibri"/>
            </a:endParaRPr>
          </a:p>
        </p:txBody>
      </p:sp>
      <p:pic>
        <p:nvPicPr>
          <p:cNvPr id="164" name="Google Shape;164;p7" descr="preencoded.png"/>
          <p:cNvPicPr preferRelativeResize="0"/>
          <p:nvPr/>
        </p:nvPicPr>
        <p:blipFill rotWithShape="1">
          <a:blip r:embed="rId8">
            <a:alphaModFix/>
          </a:blip>
          <a:srcRect/>
          <a:stretch/>
        </p:blipFill>
        <p:spPr>
          <a:xfrm>
            <a:off x="4818888" y="4407408"/>
            <a:ext cx="164592" cy="164592"/>
          </a:xfrm>
          <a:prstGeom prst="rect">
            <a:avLst/>
          </a:prstGeom>
          <a:noFill/>
          <a:ln>
            <a:noFill/>
          </a:ln>
        </p:spPr>
      </p:pic>
      <p:sp>
        <p:nvSpPr>
          <p:cNvPr id="165" name="Google Shape;165;p7"/>
          <p:cNvSpPr/>
          <p:nvPr/>
        </p:nvSpPr>
        <p:spPr>
          <a:xfrm>
            <a:off x="5047488" y="440740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No access to the typed text itself.</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7"/>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MATHEMATICAL MODELLING · §4</a:t>
            </a:r>
            <a:endParaRPr sz="900" b="0" i="0" u="none" strike="noStrike" cap="none" dirty="0">
              <a:solidFill>
                <a:schemeClr val="dk1"/>
              </a:solidFill>
              <a:latin typeface="Calibri"/>
              <a:ea typeface="Calibri"/>
              <a:cs typeface="Calibri"/>
              <a:sym typeface="Calibri"/>
            </a:endParaRPr>
          </a:p>
        </p:txBody>
      </p:sp>
      <p:sp>
        <p:nvSpPr>
          <p:cNvPr id="121" name="Google Shape;121;p7"/>
          <p:cNvSpPr/>
          <p:nvPr/>
        </p:nvSpPr>
        <p:spPr>
          <a:xfrm>
            <a:off x="365759" y="420624"/>
            <a:ext cx="9088483"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The 7-stage math pipeline behind SNOOPFINGER</a:t>
            </a:r>
            <a:endParaRPr sz="2400" b="0" i="0" u="none" strike="noStrike" cap="none" dirty="0">
              <a:solidFill>
                <a:schemeClr val="dk1"/>
              </a:solidFill>
              <a:latin typeface="Calibri"/>
              <a:ea typeface="Calibri"/>
              <a:cs typeface="Calibri"/>
              <a:sym typeface="Calibri"/>
            </a:endParaRPr>
          </a:p>
        </p:txBody>
      </p:sp>
      <p:sp>
        <p:nvSpPr>
          <p:cNvPr id="123" name="Google Shape;123;p7"/>
          <p:cNvSpPr/>
          <p:nvPr/>
        </p:nvSpPr>
        <p:spPr>
          <a:xfrm>
            <a:off x="4572000" y="4903468"/>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6</a:t>
            </a:r>
            <a:endParaRPr sz="700" b="0" i="0" u="none" strike="noStrike" cap="none">
              <a:solidFill>
                <a:schemeClr val="dk1"/>
              </a:solidFill>
              <a:latin typeface="Calibri"/>
              <a:ea typeface="Calibri"/>
              <a:cs typeface="Calibri"/>
              <a:sym typeface="Calibri"/>
            </a:endParaRPr>
          </a:p>
        </p:txBody>
      </p:sp>
      <p:sp>
        <p:nvSpPr>
          <p:cNvPr id="124" name="Google Shape;124;p7"/>
          <p:cNvSpPr/>
          <p:nvPr/>
        </p:nvSpPr>
        <p:spPr>
          <a:xfrm>
            <a:off x="749808" y="1143000"/>
            <a:ext cx="658368" cy="658368"/>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5" name="Google Shape;125;p7" descr="preencoded.png"/>
          <p:cNvPicPr preferRelativeResize="0"/>
          <p:nvPr/>
        </p:nvPicPr>
        <p:blipFill rotWithShape="1">
          <a:blip r:embed="rId2">
            <a:alphaModFix/>
          </a:blip>
          <a:srcRect/>
          <a:stretch/>
        </p:blipFill>
        <p:spPr>
          <a:xfrm>
            <a:off x="877824" y="1271016"/>
            <a:ext cx="402336" cy="402336"/>
          </a:xfrm>
          <a:prstGeom prst="rect">
            <a:avLst/>
          </a:prstGeom>
          <a:noFill/>
          <a:ln>
            <a:noFill/>
          </a:ln>
        </p:spPr>
      </p:pic>
      <p:cxnSp>
        <p:nvCxnSpPr>
          <p:cNvPr id="126" name="Google Shape;126;p7"/>
          <p:cNvCxnSpPr/>
          <p:nvPr/>
        </p:nvCxnSpPr>
        <p:spPr>
          <a:xfrm>
            <a:off x="1664208" y="1472184"/>
            <a:ext cx="530352" cy="0"/>
          </a:xfrm>
          <a:prstGeom prst="straightConnector1">
            <a:avLst/>
          </a:prstGeom>
          <a:noFill/>
          <a:ln w="25400" cap="flat" cmpd="sng">
            <a:solidFill>
              <a:srgbClr val="F5A623"/>
            </a:solidFill>
            <a:prstDash val="solid"/>
            <a:round/>
            <a:headEnd type="none" w="sm" len="sm"/>
            <a:tailEnd type="none" w="sm" len="sm"/>
          </a:ln>
        </p:spPr>
      </p:cxnSp>
      <p:sp>
        <p:nvSpPr>
          <p:cNvPr id="127" name="Google Shape;127;p7"/>
          <p:cNvSpPr/>
          <p:nvPr/>
        </p:nvSpPr>
        <p:spPr>
          <a:xfrm rot="5400000">
            <a:off x="2121330" y="1399014"/>
            <a:ext cx="91500" cy="146400"/>
          </a:xfrm>
          <a:prstGeom prst="triangle">
            <a:avLst>
              <a:gd name="adj" fmla="val 50000"/>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a:off x="274320" y="1920240"/>
            <a:ext cx="1965960" cy="1481328"/>
          </a:xfrm>
          <a:prstGeom prst="roundRect">
            <a:avLst>
              <a:gd name="adj" fmla="val 4938"/>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7"/>
          <p:cNvSpPr/>
          <p:nvPr/>
        </p:nvSpPr>
        <p:spPr>
          <a:xfrm>
            <a:off x="411480" y="2039112"/>
            <a:ext cx="1691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1-2 · Orientation → Gaze</a:t>
            </a:r>
            <a:endParaRPr sz="1100" b="0" i="0" u="none" strike="noStrike" cap="none">
              <a:solidFill>
                <a:schemeClr val="dk1"/>
              </a:solidFill>
              <a:latin typeface="Calibri"/>
              <a:ea typeface="Calibri"/>
              <a:cs typeface="Calibri"/>
              <a:sym typeface="Calibri"/>
            </a:endParaRPr>
          </a:p>
        </p:txBody>
      </p:sp>
      <p:sp>
        <p:nvSpPr>
          <p:cNvPr id="130" name="Google Shape;130;p7"/>
          <p:cNvSpPr/>
          <p:nvPr/>
        </p:nvSpPr>
        <p:spPr>
          <a:xfrm>
            <a:off x="411480" y="2340864"/>
            <a:ext cx="1691640" cy="9509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Quaternion (w,x,y,z) is converted to Euler angles, then a 3D rotation matrix yields the head's gaze direction vector.</a:t>
            </a:r>
            <a:endParaRPr sz="950" b="0" i="0" u="none" strike="noStrike" cap="none">
              <a:solidFill>
                <a:schemeClr val="dk1"/>
              </a:solidFill>
              <a:latin typeface="Calibri"/>
              <a:ea typeface="Calibri"/>
              <a:cs typeface="Calibri"/>
              <a:sym typeface="Calibri"/>
            </a:endParaRPr>
          </a:p>
        </p:txBody>
      </p:sp>
      <p:sp>
        <p:nvSpPr>
          <p:cNvPr id="131" name="Google Shape;131;p7"/>
          <p:cNvSpPr/>
          <p:nvPr/>
        </p:nvSpPr>
        <p:spPr>
          <a:xfrm>
            <a:off x="2944368" y="1143000"/>
            <a:ext cx="658368" cy="658368"/>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2" name="Google Shape;132;p7" descr="preencoded.png"/>
          <p:cNvPicPr preferRelativeResize="0"/>
          <p:nvPr/>
        </p:nvPicPr>
        <p:blipFill rotWithShape="1">
          <a:blip r:embed="rId3">
            <a:alphaModFix/>
          </a:blip>
          <a:srcRect/>
          <a:stretch/>
        </p:blipFill>
        <p:spPr>
          <a:xfrm>
            <a:off x="3072384" y="1271016"/>
            <a:ext cx="402336" cy="402336"/>
          </a:xfrm>
          <a:prstGeom prst="rect">
            <a:avLst/>
          </a:prstGeom>
          <a:noFill/>
          <a:ln>
            <a:noFill/>
          </a:ln>
        </p:spPr>
      </p:pic>
      <p:cxnSp>
        <p:nvCxnSpPr>
          <p:cNvPr id="133" name="Google Shape;133;p7"/>
          <p:cNvCxnSpPr/>
          <p:nvPr/>
        </p:nvCxnSpPr>
        <p:spPr>
          <a:xfrm>
            <a:off x="3858768" y="1472184"/>
            <a:ext cx="530352" cy="0"/>
          </a:xfrm>
          <a:prstGeom prst="straightConnector1">
            <a:avLst/>
          </a:prstGeom>
          <a:noFill/>
          <a:ln w="25400" cap="flat" cmpd="sng">
            <a:solidFill>
              <a:srgbClr val="F5A623"/>
            </a:solidFill>
            <a:prstDash val="solid"/>
            <a:round/>
            <a:headEnd type="none" w="sm" len="sm"/>
            <a:tailEnd type="none" w="sm" len="sm"/>
          </a:ln>
        </p:spPr>
      </p:cxnSp>
      <p:sp>
        <p:nvSpPr>
          <p:cNvPr id="134" name="Google Shape;134;p7"/>
          <p:cNvSpPr/>
          <p:nvPr/>
        </p:nvSpPr>
        <p:spPr>
          <a:xfrm rot="5400000">
            <a:off x="4315890" y="1399014"/>
            <a:ext cx="91500" cy="146400"/>
          </a:xfrm>
          <a:prstGeom prst="triangle">
            <a:avLst>
              <a:gd name="adj" fmla="val 50000"/>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2468880" y="1920240"/>
            <a:ext cx="1965960" cy="1481328"/>
          </a:xfrm>
          <a:prstGeom prst="roundRect">
            <a:avLst>
              <a:gd name="adj" fmla="val 4938"/>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a:off x="2606040" y="2039112"/>
            <a:ext cx="1691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3-4 · Spherical → 2D</a:t>
            </a:r>
            <a:endParaRPr sz="1100" b="0" i="0" u="none" strike="noStrike" cap="none">
              <a:solidFill>
                <a:schemeClr val="dk1"/>
              </a:solidFill>
              <a:latin typeface="Calibri"/>
              <a:ea typeface="Calibri"/>
              <a:cs typeface="Calibri"/>
              <a:sym typeface="Calibri"/>
            </a:endParaRPr>
          </a:p>
        </p:txBody>
      </p:sp>
      <p:sp>
        <p:nvSpPr>
          <p:cNvPr id="137" name="Google Shape;137;p7"/>
          <p:cNvSpPr/>
          <p:nvPr/>
        </p:nvSpPr>
        <p:spPr>
          <a:xfrm>
            <a:off x="2606040" y="2340864"/>
            <a:ext cx="1691640" cy="9509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Gaze vector mapped to spherical coordinates (azimuth θ, elevation φ), then equirectangular-projected to 2D pixels (w,h).</a:t>
            </a:r>
            <a:endParaRPr sz="950" b="0" i="0" u="none" strike="noStrike" cap="none">
              <a:solidFill>
                <a:schemeClr val="dk1"/>
              </a:solidFill>
              <a:latin typeface="Calibri"/>
              <a:ea typeface="Calibri"/>
              <a:cs typeface="Calibri"/>
              <a:sym typeface="Calibri"/>
            </a:endParaRPr>
          </a:p>
        </p:txBody>
      </p:sp>
      <p:sp>
        <p:nvSpPr>
          <p:cNvPr id="138" name="Google Shape;138;p7"/>
          <p:cNvSpPr/>
          <p:nvPr/>
        </p:nvSpPr>
        <p:spPr>
          <a:xfrm>
            <a:off x="5138928" y="1143000"/>
            <a:ext cx="658368" cy="658368"/>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9" name="Google Shape;139;p7" descr="preencoded.png"/>
          <p:cNvPicPr preferRelativeResize="0"/>
          <p:nvPr/>
        </p:nvPicPr>
        <p:blipFill rotWithShape="1">
          <a:blip r:embed="rId4">
            <a:alphaModFix/>
          </a:blip>
          <a:srcRect/>
          <a:stretch/>
        </p:blipFill>
        <p:spPr>
          <a:xfrm>
            <a:off x="5266944" y="1271016"/>
            <a:ext cx="402336" cy="402336"/>
          </a:xfrm>
          <a:prstGeom prst="rect">
            <a:avLst/>
          </a:prstGeom>
          <a:noFill/>
          <a:ln>
            <a:noFill/>
          </a:ln>
        </p:spPr>
      </p:pic>
      <p:cxnSp>
        <p:nvCxnSpPr>
          <p:cNvPr id="140" name="Google Shape;140;p7"/>
          <p:cNvCxnSpPr/>
          <p:nvPr/>
        </p:nvCxnSpPr>
        <p:spPr>
          <a:xfrm>
            <a:off x="6053328" y="1472184"/>
            <a:ext cx="530352" cy="0"/>
          </a:xfrm>
          <a:prstGeom prst="straightConnector1">
            <a:avLst/>
          </a:prstGeom>
          <a:noFill/>
          <a:ln w="25400" cap="flat" cmpd="sng">
            <a:solidFill>
              <a:srgbClr val="F5A623"/>
            </a:solidFill>
            <a:prstDash val="solid"/>
            <a:round/>
            <a:headEnd type="none" w="sm" len="sm"/>
            <a:tailEnd type="none" w="sm" len="sm"/>
          </a:ln>
        </p:spPr>
      </p:cxnSp>
      <p:sp>
        <p:nvSpPr>
          <p:cNvPr id="141" name="Google Shape;141;p7"/>
          <p:cNvSpPr/>
          <p:nvPr/>
        </p:nvSpPr>
        <p:spPr>
          <a:xfrm rot="5400000">
            <a:off x="6510450" y="1399014"/>
            <a:ext cx="91500" cy="146400"/>
          </a:xfrm>
          <a:prstGeom prst="triangle">
            <a:avLst>
              <a:gd name="adj" fmla="val 50000"/>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7"/>
          <p:cNvSpPr/>
          <p:nvPr/>
        </p:nvSpPr>
        <p:spPr>
          <a:xfrm>
            <a:off x="4663440" y="1920240"/>
            <a:ext cx="1965960" cy="1481328"/>
          </a:xfrm>
          <a:prstGeom prst="roundRect">
            <a:avLst>
              <a:gd name="adj" fmla="val 4938"/>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7"/>
          <p:cNvSpPr/>
          <p:nvPr/>
        </p:nvSpPr>
        <p:spPr>
          <a:xfrm>
            <a:off x="4800600" y="2039112"/>
            <a:ext cx="1691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5 · BackTree Matching</a:t>
            </a:r>
            <a:endParaRPr sz="1100" b="0" i="0" u="none" strike="noStrike" cap="none">
              <a:solidFill>
                <a:schemeClr val="dk1"/>
              </a:solidFill>
              <a:latin typeface="Calibri"/>
              <a:ea typeface="Calibri"/>
              <a:cs typeface="Calibri"/>
              <a:sym typeface="Calibri"/>
            </a:endParaRPr>
          </a:p>
        </p:txBody>
      </p:sp>
      <p:sp>
        <p:nvSpPr>
          <p:cNvPr id="144" name="Google Shape;144;p7"/>
          <p:cNvSpPr/>
          <p:nvPr/>
        </p:nvSpPr>
        <p:spPr>
          <a:xfrm>
            <a:off x="4800600" y="2340864"/>
            <a:ext cx="1691640" cy="9509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Relative distance &amp; angle between consecutive gaze points are matched against 26 candidate keys to rank likely letters.</a:t>
            </a:r>
            <a:endParaRPr sz="950" b="0" i="0" u="none" strike="noStrike" cap="none">
              <a:solidFill>
                <a:schemeClr val="dk1"/>
              </a:solidFill>
              <a:latin typeface="Calibri"/>
              <a:ea typeface="Calibri"/>
              <a:cs typeface="Calibri"/>
              <a:sym typeface="Calibri"/>
            </a:endParaRPr>
          </a:p>
        </p:txBody>
      </p:sp>
      <p:sp>
        <p:nvSpPr>
          <p:cNvPr id="145" name="Google Shape;145;p7"/>
          <p:cNvSpPr/>
          <p:nvPr/>
        </p:nvSpPr>
        <p:spPr>
          <a:xfrm>
            <a:off x="7333488" y="1143000"/>
            <a:ext cx="658368" cy="658368"/>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6" name="Google Shape;146;p7" descr="preencoded.png"/>
          <p:cNvPicPr preferRelativeResize="0"/>
          <p:nvPr/>
        </p:nvPicPr>
        <p:blipFill rotWithShape="1">
          <a:blip r:embed="rId5">
            <a:alphaModFix/>
          </a:blip>
          <a:srcRect/>
          <a:stretch/>
        </p:blipFill>
        <p:spPr>
          <a:xfrm>
            <a:off x="7461504" y="1271016"/>
            <a:ext cx="402336" cy="402336"/>
          </a:xfrm>
          <a:prstGeom prst="rect">
            <a:avLst/>
          </a:prstGeom>
          <a:noFill/>
          <a:ln>
            <a:noFill/>
          </a:ln>
        </p:spPr>
      </p:pic>
      <p:sp>
        <p:nvSpPr>
          <p:cNvPr id="147" name="Google Shape;147;p7"/>
          <p:cNvSpPr/>
          <p:nvPr/>
        </p:nvSpPr>
        <p:spPr>
          <a:xfrm>
            <a:off x="6858000" y="1920240"/>
            <a:ext cx="1965960" cy="1481328"/>
          </a:xfrm>
          <a:prstGeom prst="roundRect">
            <a:avLst>
              <a:gd name="adj" fmla="val 4938"/>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
          <p:cNvSpPr/>
          <p:nvPr/>
        </p:nvSpPr>
        <p:spPr>
          <a:xfrm>
            <a:off x="6995160" y="2039112"/>
            <a:ext cx="1691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6-7 · Segment &amp; Score</a:t>
            </a:r>
            <a:endParaRPr sz="1100" b="0" i="0" u="none" strike="noStrike" cap="none">
              <a:solidFill>
                <a:schemeClr val="dk1"/>
              </a:solidFill>
              <a:latin typeface="Calibri"/>
              <a:ea typeface="Calibri"/>
              <a:cs typeface="Calibri"/>
              <a:sym typeface="Calibri"/>
            </a:endParaRPr>
          </a:p>
        </p:txBody>
      </p:sp>
      <p:sp>
        <p:nvSpPr>
          <p:cNvPr id="149" name="Google Shape;149;p7"/>
          <p:cNvSpPr/>
          <p:nvPr/>
        </p:nvSpPr>
        <p:spPr>
          <a:xfrm>
            <a:off x="6995160" y="2340864"/>
            <a:ext cx="1691640" cy="95097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DBSCAN clusters Spacebar presses to segment words; WAA scores the final word/sentence prediction.</a:t>
            </a:r>
            <a:endParaRPr sz="950" b="0" i="0" u="none" strike="noStrike" cap="none">
              <a:solidFill>
                <a:schemeClr val="dk1"/>
              </a:solidFill>
              <a:latin typeface="Calibri"/>
              <a:ea typeface="Calibri"/>
              <a:cs typeface="Calibri"/>
              <a:sym typeface="Calibri"/>
            </a:endParaRPr>
          </a:p>
        </p:txBody>
      </p:sp>
      <p:sp>
        <p:nvSpPr>
          <p:cNvPr id="150" name="Google Shape;150;p7"/>
          <p:cNvSpPr/>
          <p:nvPr/>
        </p:nvSpPr>
        <p:spPr>
          <a:xfrm>
            <a:off x="320040" y="3529584"/>
            <a:ext cx="4187952" cy="1298448"/>
          </a:xfrm>
          <a:prstGeom prst="roundRect">
            <a:avLst>
              <a:gd name="adj" fmla="val 5634"/>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p:nvPr/>
        </p:nvSpPr>
        <p:spPr>
          <a:xfrm>
            <a:off x="502920" y="3602736"/>
            <a:ext cx="3840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a:solidFill>
                  <a:srgbClr val="16202E"/>
                </a:solidFill>
                <a:latin typeface="Calibri"/>
                <a:ea typeface="Calibri"/>
                <a:cs typeface="Calibri"/>
                <a:sym typeface="Calibri"/>
              </a:rPr>
              <a:t>Core Inputs</a:t>
            </a:r>
            <a:endParaRPr sz="1000" b="0" i="0" u="none" strike="noStrike" cap="none">
              <a:solidFill>
                <a:schemeClr val="dk1"/>
              </a:solidFill>
              <a:latin typeface="Calibri"/>
              <a:ea typeface="Calibri"/>
              <a:cs typeface="Calibri"/>
              <a:sym typeface="Calibri"/>
            </a:endParaRPr>
          </a:p>
        </p:txBody>
      </p:sp>
      <p:pic>
        <p:nvPicPr>
          <p:cNvPr id="152" name="Google Shape;152;p7" descr="preencoded.png"/>
          <p:cNvPicPr preferRelativeResize="0"/>
          <p:nvPr/>
        </p:nvPicPr>
        <p:blipFill rotWithShape="1">
          <a:blip r:embed="rId6">
            <a:alphaModFix/>
          </a:blip>
          <a:srcRect/>
          <a:stretch/>
        </p:blipFill>
        <p:spPr>
          <a:xfrm>
            <a:off x="502920" y="3858768"/>
            <a:ext cx="164592" cy="164592"/>
          </a:xfrm>
          <a:prstGeom prst="rect">
            <a:avLst/>
          </a:prstGeom>
          <a:noFill/>
          <a:ln>
            <a:noFill/>
          </a:ln>
        </p:spPr>
      </p:pic>
      <p:sp>
        <p:nvSpPr>
          <p:cNvPr id="153" name="Google Shape;153;p7"/>
          <p:cNvSpPr/>
          <p:nvPr/>
        </p:nvSpPr>
        <p:spPr>
          <a:xfrm>
            <a:off x="731520" y="385876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Quaternion orientation stream sampled at 72 Hz, (w,x,y,z).</a:t>
            </a:r>
            <a:endParaRPr sz="900" b="0" i="0" u="none" strike="noStrike" cap="none">
              <a:solidFill>
                <a:schemeClr val="dk1"/>
              </a:solidFill>
              <a:latin typeface="Calibri"/>
              <a:ea typeface="Calibri"/>
              <a:cs typeface="Calibri"/>
              <a:sym typeface="Calibri"/>
            </a:endParaRPr>
          </a:p>
        </p:txBody>
      </p:sp>
      <p:pic>
        <p:nvPicPr>
          <p:cNvPr id="154" name="Google Shape;154;p7" descr="preencoded.png"/>
          <p:cNvPicPr preferRelativeResize="0"/>
          <p:nvPr/>
        </p:nvPicPr>
        <p:blipFill rotWithShape="1">
          <a:blip r:embed="rId6">
            <a:alphaModFix/>
          </a:blip>
          <a:srcRect/>
          <a:stretch/>
        </p:blipFill>
        <p:spPr>
          <a:xfrm>
            <a:off x="502920" y="4133088"/>
            <a:ext cx="164592" cy="164592"/>
          </a:xfrm>
          <a:prstGeom prst="rect">
            <a:avLst/>
          </a:prstGeom>
          <a:noFill/>
          <a:ln>
            <a:noFill/>
          </a:ln>
        </p:spPr>
      </p:pic>
      <p:sp>
        <p:nvSpPr>
          <p:cNvPr id="155" name="Google Shape;155;p7"/>
          <p:cNvSpPr/>
          <p:nvPr/>
        </p:nvSpPr>
        <p:spPr>
          <a:xfrm>
            <a:off x="731520" y="413308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A pre-built reference keyboard (BackTree) from the adversary's own headset.</a:t>
            </a:r>
            <a:endParaRPr sz="900" b="0" i="0" u="none" strike="noStrike" cap="none">
              <a:solidFill>
                <a:schemeClr val="dk1"/>
              </a:solidFill>
              <a:latin typeface="Calibri"/>
              <a:ea typeface="Calibri"/>
              <a:cs typeface="Calibri"/>
              <a:sym typeface="Calibri"/>
            </a:endParaRPr>
          </a:p>
        </p:txBody>
      </p:sp>
      <p:pic>
        <p:nvPicPr>
          <p:cNvPr id="156" name="Google Shape;156;p7" descr="preencoded.png"/>
          <p:cNvPicPr preferRelativeResize="0"/>
          <p:nvPr/>
        </p:nvPicPr>
        <p:blipFill rotWithShape="1">
          <a:blip r:embed="rId6">
            <a:alphaModFix/>
          </a:blip>
          <a:srcRect/>
          <a:stretch/>
        </p:blipFill>
        <p:spPr>
          <a:xfrm>
            <a:off x="502920" y="4407408"/>
            <a:ext cx="164592" cy="164592"/>
          </a:xfrm>
          <a:prstGeom prst="rect">
            <a:avLst/>
          </a:prstGeom>
          <a:noFill/>
          <a:ln>
            <a:noFill/>
          </a:ln>
        </p:spPr>
      </p:pic>
      <p:sp>
        <p:nvSpPr>
          <p:cNvPr id="157" name="Google Shape;157;p7"/>
          <p:cNvSpPr/>
          <p:nvPr/>
        </p:nvSpPr>
        <p:spPr>
          <a:xfrm>
            <a:off x="731520" y="440740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Screen resolution (1920×1080) for the equirectangular projection.</a:t>
            </a:r>
            <a:endParaRPr sz="900" b="0" i="0" u="none" strike="noStrike" cap="none">
              <a:solidFill>
                <a:schemeClr val="dk1"/>
              </a:solidFill>
              <a:latin typeface="Calibri"/>
              <a:ea typeface="Calibri"/>
              <a:cs typeface="Calibri"/>
              <a:sym typeface="Calibri"/>
            </a:endParaRPr>
          </a:p>
        </p:txBody>
      </p:sp>
      <p:sp>
        <p:nvSpPr>
          <p:cNvPr id="158" name="Google Shape;158;p7"/>
          <p:cNvSpPr/>
          <p:nvPr/>
        </p:nvSpPr>
        <p:spPr>
          <a:xfrm>
            <a:off x="4636008" y="3529584"/>
            <a:ext cx="4187952" cy="1298448"/>
          </a:xfrm>
          <a:prstGeom prst="roundRect">
            <a:avLst>
              <a:gd name="adj" fmla="val 5634"/>
            </a:avLst>
          </a:prstGeom>
          <a:solidFill>
            <a:srgbClr val="F2F5FA"/>
          </a:solidFill>
          <a:ln w="9525" cap="flat" cmpd="sng">
            <a:solidFill>
              <a:srgbClr val="FD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7"/>
          <p:cNvSpPr/>
          <p:nvPr/>
        </p:nvSpPr>
        <p:spPr>
          <a:xfrm>
            <a:off x="4818888" y="3602736"/>
            <a:ext cx="3840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a:solidFill>
                  <a:srgbClr val="16202E"/>
                </a:solidFill>
                <a:latin typeface="Calibri"/>
                <a:ea typeface="Calibri"/>
                <a:cs typeface="Calibri"/>
                <a:sym typeface="Calibri"/>
              </a:rPr>
              <a:t>What The Pipeline Skips</a:t>
            </a:r>
            <a:endParaRPr sz="1000" b="0" i="0" u="none" strike="noStrike" cap="none">
              <a:solidFill>
                <a:schemeClr val="dk1"/>
              </a:solidFill>
              <a:latin typeface="Calibri"/>
              <a:ea typeface="Calibri"/>
              <a:cs typeface="Calibri"/>
              <a:sym typeface="Calibri"/>
            </a:endParaRPr>
          </a:p>
        </p:txBody>
      </p:sp>
      <p:pic>
        <p:nvPicPr>
          <p:cNvPr id="160" name="Google Shape;160;p7" descr="preencoded.png"/>
          <p:cNvPicPr preferRelativeResize="0"/>
          <p:nvPr/>
        </p:nvPicPr>
        <p:blipFill rotWithShape="1">
          <a:blip r:embed="rId7">
            <a:alphaModFix/>
          </a:blip>
          <a:srcRect/>
          <a:stretch/>
        </p:blipFill>
        <p:spPr>
          <a:xfrm>
            <a:off x="4818888" y="3858768"/>
            <a:ext cx="164592" cy="164592"/>
          </a:xfrm>
          <a:prstGeom prst="rect">
            <a:avLst/>
          </a:prstGeom>
          <a:noFill/>
          <a:ln>
            <a:noFill/>
          </a:ln>
        </p:spPr>
      </p:pic>
      <p:sp>
        <p:nvSpPr>
          <p:cNvPr id="161" name="Google Shape;161;p7"/>
          <p:cNvSpPr/>
          <p:nvPr/>
        </p:nvSpPr>
        <p:spPr>
          <a:xfrm>
            <a:off x="5047488" y="385876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No labelled training data from the victim.</a:t>
            </a:r>
            <a:endParaRPr sz="900" b="0" i="0" u="none" strike="noStrike" cap="none">
              <a:solidFill>
                <a:schemeClr val="dk1"/>
              </a:solidFill>
              <a:latin typeface="Calibri"/>
              <a:ea typeface="Calibri"/>
              <a:cs typeface="Calibri"/>
              <a:sym typeface="Calibri"/>
            </a:endParaRPr>
          </a:p>
        </p:txBody>
      </p:sp>
      <p:pic>
        <p:nvPicPr>
          <p:cNvPr id="162" name="Google Shape;162;p7" descr="preencoded.png"/>
          <p:cNvPicPr preferRelativeResize="0"/>
          <p:nvPr/>
        </p:nvPicPr>
        <p:blipFill rotWithShape="1">
          <a:blip r:embed="rId7">
            <a:alphaModFix/>
          </a:blip>
          <a:srcRect/>
          <a:stretch/>
        </p:blipFill>
        <p:spPr>
          <a:xfrm>
            <a:off x="4818888" y="4133088"/>
            <a:ext cx="164592" cy="164592"/>
          </a:xfrm>
          <a:prstGeom prst="rect">
            <a:avLst/>
          </a:prstGeom>
          <a:noFill/>
          <a:ln>
            <a:noFill/>
          </a:ln>
        </p:spPr>
      </p:pic>
      <p:sp>
        <p:nvSpPr>
          <p:cNvPr id="163" name="Google Shape;163;p7"/>
          <p:cNvSpPr/>
          <p:nvPr/>
        </p:nvSpPr>
        <p:spPr>
          <a:xfrm>
            <a:off x="5047488" y="413308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No camera or eye-tracking hardware — orientation alone suffices.</a:t>
            </a:r>
            <a:endParaRPr sz="900" b="0" i="0" u="none" strike="noStrike" cap="none">
              <a:solidFill>
                <a:schemeClr val="dk1"/>
              </a:solidFill>
              <a:latin typeface="Calibri"/>
              <a:ea typeface="Calibri"/>
              <a:cs typeface="Calibri"/>
              <a:sym typeface="Calibri"/>
            </a:endParaRPr>
          </a:p>
        </p:txBody>
      </p:sp>
      <p:pic>
        <p:nvPicPr>
          <p:cNvPr id="164" name="Google Shape;164;p7" descr="preencoded.png"/>
          <p:cNvPicPr preferRelativeResize="0"/>
          <p:nvPr/>
        </p:nvPicPr>
        <p:blipFill rotWithShape="1">
          <a:blip r:embed="rId7">
            <a:alphaModFix/>
          </a:blip>
          <a:srcRect/>
          <a:stretch/>
        </p:blipFill>
        <p:spPr>
          <a:xfrm>
            <a:off x="4818888" y="4407408"/>
            <a:ext cx="164592" cy="164592"/>
          </a:xfrm>
          <a:prstGeom prst="rect">
            <a:avLst/>
          </a:prstGeom>
          <a:noFill/>
          <a:ln>
            <a:noFill/>
          </a:ln>
        </p:spPr>
      </p:pic>
      <p:sp>
        <p:nvSpPr>
          <p:cNvPr id="165" name="Google Shape;165;p7"/>
          <p:cNvSpPr/>
          <p:nvPr/>
        </p:nvSpPr>
        <p:spPr>
          <a:xfrm>
            <a:off x="5047488" y="4407408"/>
            <a:ext cx="3611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No access to the typed text itself, only head pose.</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9"/>
        <p:cNvGrpSpPr/>
        <p:nvPr/>
      </p:nvGrpSpPr>
      <p:grpSpPr>
        <a:xfrm>
          <a:off x="0" y="0"/>
          <a:ext cx="0" cy="0"/>
          <a:chOff x="0" y="0"/>
          <a:chExt cx="0" cy="0"/>
        </a:xfrm>
      </p:grpSpPr>
      <p:sp>
        <p:nvSpPr>
          <p:cNvPr id="330" name="Google Shape;330;p12"/>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MATHEMATICAL MODELLING · §4</a:t>
            </a:r>
            <a:endParaRPr sz="900" b="0" i="0" u="none" strike="noStrike" cap="none" dirty="0">
              <a:solidFill>
                <a:schemeClr val="dk1"/>
              </a:solidFill>
              <a:latin typeface="Calibri"/>
              <a:ea typeface="Calibri"/>
              <a:cs typeface="Calibri"/>
              <a:sym typeface="Calibri"/>
            </a:endParaRPr>
          </a:p>
        </p:txBody>
      </p:sp>
      <p:sp>
        <p:nvSpPr>
          <p:cNvPr id="331" name="Google Shape;331;p12"/>
          <p:cNvSpPr/>
          <p:nvPr/>
        </p:nvSpPr>
        <p:spPr>
          <a:xfrm>
            <a:off x="365760" y="421200"/>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From quaternion to gaze direction: </a:t>
            </a:r>
            <a:r>
              <a:rPr lang="en-US" sz="2400" b="1" i="0" u="none" strike="noStrike" cap="none" dirty="0" err="1">
                <a:solidFill>
                  <a:srgbClr val="16202E"/>
                </a:solidFill>
                <a:latin typeface="Calibri"/>
                <a:ea typeface="Calibri"/>
                <a:cs typeface="Calibri"/>
                <a:sym typeface="Calibri"/>
              </a:rPr>
              <a:t>the</a:t>
            </a:r>
            <a:r>
              <a:rPr lang="en-US" sz="2400" b="1" i="0" u="none" strike="noStrike" cap="none" dirty="0">
                <a:solidFill>
                  <a:srgbClr val="16202E"/>
                </a:solidFill>
                <a:latin typeface="Calibri"/>
                <a:ea typeface="Calibri"/>
                <a:cs typeface="Calibri"/>
                <a:sym typeface="Calibri"/>
              </a:rPr>
              <a:t> worked example (Stage 1-2)</a:t>
            </a:r>
            <a:endParaRPr sz="2400" b="0" i="0" u="none" strike="noStrike" cap="none" dirty="0">
              <a:solidFill>
                <a:schemeClr val="dk1"/>
              </a:solidFill>
              <a:latin typeface="Calibri"/>
              <a:ea typeface="Calibri"/>
              <a:cs typeface="Calibri"/>
              <a:sym typeface="Calibri"/>
            </a:endParaRPr>
          </a:p>
        </p:txBody>
      </p:sp>
      <p:sp>
        <p:nvSpPr>
          <p:cNvPr id="332" name="Google Shape;332;p12"/>
          <p:cNvSpPr/>
          <p:nvPr/>
        </p:nvSpPr>
        <p:spPr>
          <a:xfrm>
            <a:off x="365760" y="4846320"/>
            <a:ext cx="4572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WORKED EXAMPLE</a:t>
            </a:r>
            <a:endParaRPr sz="700" b="0" i="0" u="none" strike="noStrike" cap="none">
              <a:solidFill>
                <a:schemeClr val="dk1"/>
              </a:solidFill>
              <a:latin typeface="Calibri"/>
              <a:ea typeface="Calibri"/>
              <a:cs typeface="Calibri"/>
              <a:sym typeface="Calibri"/>
            </a:endParaRPr>
          </a:p>
        </p:txBody>
      </p:sp>
      <p:sp>
        <p:nvSpPr>
          <p:cNvPr id="333" name="Google Shape;333;p12"/>
          <p:cNvSpPr/>
          <p:nvPr/>
        </p:nvSpPr>
        <p:spPr>
          <a:xfrm>
            <a:off x="4572000" y="4846320"/>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7</a:t>
            </a:r>
            <a:endParaRPr sz="700" b="0" i="0" u="none" strike="noStrike" cap="none">
              <a:solidFill>
                <a:schemeClr val="dk1"/>
              </a:solidFill>
              <a:latin typeface="Calibri"/>
              <a:ea typeface="Calibri"/>
              <a:cs typeface="Calibri"/>
              <a:sym typeface="Calibri"/>
            </a:endParaRPr>
          </a:p>
        </p:txBody>
      </p:sp>
      <p:sp>
        <p:nvSpPr>
          <p:cNvPr id="334" name="Google Shape;334;p12"/>
          <p:cNvSpPr/>
          <p:nvPr/>
        </p:nvSpPr>
        <p:spPr>
          <a:xfrm>
            <a:off x="320040" y="1115568"/>
            <a:ext cx="4160520" cy="1051560"/>
          </a:xfrm>
          <a:prstGeom prst="roundRect">
            <a:avLst>
              <a:gd name="adj" fmla="val 6957"/>
            </a:avLst>
          </a:prstGeom>
          <a:solidFill>
            <a:srgbClr val="1B2840"/>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2"/>
          <p:cNvSpPr/>
          <p:nvPr/>
        </p:nvSpPr>
        <p:spPr>
          <a:xfrm>
            <a:off x="484632" y="1225296"/>
            <a:ext cx="383133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Why Quaternions</a:t>
            </a:r>
            <a:endParaRPr sz="1100" b="0" i="0" u="none" strike="noStrike" cap="none">
              <a:solidFill>
                <a:schemeClr val="dk1"/>
              </a:solidFill>
              <a:latin typeface="Calibri"/>
              <a:ea typeface="Calibri"/>
              <a:cs typeface="Calibri"/>
              <a:sym typeface="Calibri"/>
            </a:endParaRPr>
          </a:p>
        </p:txBody>
      </p:sp>
      <p:sp>
        <p:nvSpPr>
          <p:cNvPr id="336" name="Google Shape;336;p12"/>
          <p:cNvSpPr/>
          <p:nvPr/>
        </p:nvSpPr>
        <p:spPr>
          <a:xfrm>
            <a:off x="484632" y="1517904"/>
            <a:ext cx="3831336" cy="5212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8EEF7"/>
              </a:buClr>
              <a:buSzPts val="950"/>
              <a:buFont typeface="Calibri"/>
              <a:buNone/>
            </a:pPr>
            <a:r>
              <a:rPr lang="en-US" sz="950" b="0" i="0" u="none" strike="noStrike" cap="none">
                <a:solidFill>
                  <a:srgbClr val="E8EEF7"/>
                </a:solidFill>
                <a:latin typeface="Calibri"/>
                <a:ea typeface="Calibri"/>
                <a:cs typeface="Calibri"/>
                <a:sym typeface="Calibri"/>
              </a:rPr>
              <a:t>Head orientation is stored as a quaternion q=(w,x,y,z), a 4D rotation value that avoids gimbal lock. Differentiating the Euler-angle norm N over time reveals keystroke peaks</a:t>
            </a:r>
            <a:r>
              <a:rPr lang="en-US" sz="950">
                <a:solidFill>
                  <a:srgbClr val="E8EEF7"/>
                </a:solidFill>
                <a:latin typeface="Calibri"/>
                <a:ea typeface="Calibri"/>
                <a:cs typeface="Calibri"/>
                <a:sym typeface="Calibri"/>
              </a:rPr>
              <a:t>; the</a:t>
            </a:r>
            <a:r>
              <a:rPr lang="en-US" sz="950" b="0" i="0" u="none" strike="noStrike" cap="none">
                <a:solidFill>
                  <a:srgbClr val="E8EEF7"/>
                </a:solidFill>
                <a:latin typeface="Calibri"/>
                <a:ea typeface="Calibri"/>
                <a:cs typeface="Calibri"/>
                <a:sym typeface="Calibri"/>
              </a:rPr>
              <a:t> rotation matrix R then </a:t>
            </a:r>
            <a:r>
              <a:rPr lang="en-US" sz="950">
                <a:solidFill>
                  <a:srgbClr val="E8EEF7"/>
                </a:solidFill>
                <a:latin typeface="Calibri"/>
                <a:ea typeface="Calibri"/>
                <a:cs typeface="Calibri"/>
                <a:sym typeface="Calibri"/>
              </a:rPr>
              <a:t>projects the gaze direction into world coordinates.</a:t>
            </a:r>
            <a:endParaRPr sz="950" b="0" i="0" u="none" strike="noStrike" cap="none">
              <a:solidFill>
                <a:schemeClr val="dk1"/>
              </a:solidFill>
              <a:latin typeface="Calibri"/>
              <a:ea typeface="Calibri"/>
              <a:cs typeface="Calibri"/>
              <a:sym typeface="Calibri"/>
            </a:endParaRPr>
          </a:p>
        </p:txBody>
      </p:sp>
      <p:sp>
        <p:nvSpPr>
          <p:cNvPr id="337" name="Google Shape;337;p12"/>
          <p:cNvSpPr/>
          <p:nvPr/>
        </p:nvSpPr>
        <p:spPr>
          <a:xfrm>
            <a:off x="320040" y="2286000"/>
            <a:ext cx="4160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Worked example: q = (0.924, 0.383, 0.0, 0.0)</a:t>
            </a:r>
            <a:endParaRPr sz="1100" b="0" i="0" u="none" strike="noStrike" cap="none">
              <a:solidFill>
                <a:schemeClr val="dk1"/>
              </a:solidFill>
              <a:latin typeface="Calibri"/>
              <a:ea typeface="Calibri"/>
              <a:cs typeface="Calibri"/>
              <a:sym typeface="Calibri"/>
            </a:endParaRPr>
          </a:p>
        </p:txBody>
      </p:sp>
      <p:sp>
        <p:nvSpPr>
          <p:cNvPr id="338" name="Google Shape;338;p12"/>
          <p:cNvSpPr/>
          <p:nvPr/>
        </p:nvSpPr>
        <p:spPr>
          <a:xfrm>
            <a:off x="320040" y="2615184"/>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2"/>
          <p:cNvSpPr/>
          <p:nvPr/>
        </p:nvSpPr>
        <p:spPr>
          <a:xfrm>
            <a:off x="320040" y="2615184"/>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dirty="0">
                <a:solidFill>
                  <a:srgbClr val="0E1726"/>
                </a:solidFill>
                <a:latin typeface="Calibri"/>
                <a:ea typeface="Calibri"/>
                <a:cs typeface="Calibri"/>
                <a:sym typeface="Calibri"/>
              </a:rPr>
              <a:t>Roll φ</a:t>
            </a:r>
            <a:endParaRPr sz="800" b="0" i="0" u="none" strike="noStrike" cap="none" dirty="0">
              <a:solidFill>
                <a:schemeClr val="dk1"/>
              </a:solidFill>
              <a:latin typeface="Calibri"/>
              <a:ea typeface="Calibri"/>
              <a:cs typeface="Calibri"/>
              <a:sym typeface="Calibri"/>
            </a:endParaRPr>
          </a:p>
        </p:txBody>
      </p:sp>
      <p:sp>
        <p:nvSpPr>
          <p:cNvPr id="340" name="Google Shape;340;p12"/>
          <p:cNvSpPr/>
          <p:nvPr/>
        </p:nvSpPr>
        <p:spPr>
          <a:xfrm>
            <a:off x="621792" y="2546382"/>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φ = atan2(2(wx</a:t>
            </a:r>
            <a:r>
              <a:rPr lang="en-US" sz="900" dirty="0">
                <a:solidFill>
                  <a:srgbClr val="5C6B82"/>
                </a:solidFill>
                <a:latin typeface="Calibri"/>
                <a:ea typeface="Calibri"/>
                <a:cs typeface="Calibri"/>
                <a:sym typeface="Calibri"/>
              </a:rPr>
              <a:t>+yz),</a:t>
            </a:r>
            <a:r>
              <a:rPr lang="en-US" sz="900" b="0" i="0" u="none" strike="noStrike" cap="none" dirty="0">
                <a:solidFill>
                  <a:srgbClr val="5C6B82"/>
                </a:solidFill>
                <a:latin typeface="Calibri"/>
                <a:ea typeface="Calibri"/>
                <a:cs typeface="Calibri"/>
                <a:sym typeface="Calibri"/>
              </a:rPr>
              <a:t> 1−2(x²+y²)) ≈ </a:t>
            </a:r>
            <a:r>
              <a:rPr lang="en-US" sz="900" b="0" i="0" u="none" strike="noStrike" cap="none" dirty="0" err="1">
                <a:solidFill>
                  <a:srgbClr val="5C6B82"/>
                </a:solidFill>
                <a:latin typeface="Calibri"/>
                <a:ea typeface="Calibri"/>
                <a:cs typeface="Calibri"/>
                <a:sym typeface="Calibri"/>
              </a:rPr>
              <a:t>45.05°</a:t>
            </a:r>
            <a:r>
              <a:rPr lang="en-US" sz="900" b="0" i="0" u="none" strike="noStrike" cap="none" dirty="0">
                <a:solidFill>
                  <a:srgbClr val="5C6B82"/>
                </a:solidFill>
                <a:latin typeface="Calibri"/>
                <a:ea typeface="Calibri"/>
                <a:cs typeface="Calibri"/>
                <a:sym typeface="Calibri"/>
              </a:rPr>
              <a:t> </a:t>
            </a:r>
            <a:r>
              <a:rPr lang="en-US" sz="900" dirty="0" err="1">
                <a:solidFill>
                  <a:srgbClr val="5C6B82"/>
                </a:solidFill>
                <a:latin typeface="Calibri"/>
                <a:ea typeface="Calibri"/>
                <a:cs typeface="Calibri"/>
                <a:sym typeface="Calibri"/>
              </a:rPr>
              <a:t> </a:t>
            </a:r>
            <a:r>
              <a:rPr lang="en-US" sz="900" b="0" i="0" u="none" strike="noStrike" cap="none" dirty="0">
                <a:solidFill>
                  <a:srgbClr val="5C6B82"/>
                </a:solidFill>
                <a:latin typeface="Calibri"/>
                <a:ea typeface="Calibri"/>
                <a:cs typeface="Calibri"/>
                <a:sym typeface="Calibri"/>
              </a:rPr>
              <a:t>Head tilts 45° right — user leans toward the keyboard while typing.</a:t>
            </a:r>
            <a:endParaRPr sz="900" b="0" i="0" u="none" strike="noStrike" cap="none" dirty="0">
              <a:solidFill>
                <a:schemeClr val="dk1"/>
              </a:solidFill>
              <a:latin typeface="Calibri"/>
              <a:ea typeface="Calibri"/>
              <a:cs typeface="Calibri"/>
              <a:sym typeface="Calibri"/>
            </a:endParaRPr>
          </a:p>
        </p:txBody>
      </p:sp>
      <p:sp>
        <p:nvSpPr>
          <p:cNvPr id="341" name="Google Shape;341;p12"/>
          <p:cNvSpPr/>
          <p:nvPr/>
        </p:nvSpPr>
        <p:spPr>
          <a:xfrm>
            <a:off x="320040" y="3090672"/>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2"/>
          <p:cNvSpPr/>
          <p:nvPr/>
        </p:nvSpPr>
        <p:spPr>
          <a:xfrm>
            <a:off x="320040" y="3090672"/>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a:solidFill>
                  <a:srgbClr val="0E1726"/>
                </a:solidFill>
                <a:latin typeface="Calibri"/>
                <a:ea typeface="Calibri"/>
                <a:cs typeface="Calibri"/>
                <a:sym typeface="Calibri"/>
              </a:rPr>
              <a:t>Pitch θ</a:t>
            </a:r>
            <a:endParaRPr sz="800" b="0" i="0" u="none" strike="noStrike" cap="none">
              <a:solidFill>
                <a:schemeClr val="dk1"/>
              </a:solidFill>
              <a:latin typeface="Calibri"/>
              <a:ea typeface="Calibri"/>
              <a:cs typeface="Calibri"/>
              <a:sym typeface="Calibri"/>
            </a:endParaRPr>
          </a:p>
        </p:txBody>
      </p:sp>
      <p:sp>
        <p:nvSpPr>
          <p:cNvPr id="343" name="Google Shape;343;p12"/>
          <p:cNvSpPr/>
          <p:nvPr/>
        </p:nvSpPr>
        <p:spPr>
          <a:xfrm>
            <a:off x="621792" y="2987041"/>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θ = arcsin(2(wy−zx)) = 0.00°</a:t>
            </a:r>
            <a:r>
              <a:rPr lang="en-US" sz="900" dirty="0">
                <a:solidFill>
                  <a:srgbClr val="5C6B82"/>
                </a:solidFill>
                <a:latin typeface="Calibri"/>
                <a:ea typeface="Calibri"/>
                <a:cs typeface="Calibri"/>
                <a:sym typeface="Calibri"/>
              </a:rPr>
              <a:t> — no</a:t>
            </a:r>
            <a:r>
              <a:rPr lang="en-US" sz="900" b="0" i="0" u="none" strike="noStrike" cap="none" dirty="0">
                <a:solidFill>
                  <a:srgbClr val="5C6B82"/>
                </a:solidFill>
                <a:latin typeface="Calibri"/>
                <a:ea typeface="Calibri"/>
                <a:cs typeface="Calibri"/>
                <a:sym typeface="Calibri"/>
              </a:rPr>
              <a:t> forward/back tilt component in this example.</a:t>
            </a:r>
            <a:endParaRPr sz="900" b="0" i="0" u="none" strike="noStrike" cap="none" dirty="0">
              <a:solidFill>
                <a:schemeClr val="dk1"/>
              </a:solidFill>
              <a:latin typeface="Calibri"/>
              <a:ea typeface="Calibri"/>
              <a:cs typeface="Calibri"/>
              <a:sym typeface="Calibri"/>
            </a:endParaRPr>
          </a:p>
        </p:txBody>
      </p:sp>
      <p:sp>
        <p:nvSpPr>
          <p:cNvPr id="344" name="Google Shape;344;p12"/>
          <p:cNvSpPr/>
          <p:nvPr/>
        </p:nvSpPr>
        <p:spPr>
          <a:xfrm>
            <a:off x="320040" y="3566160"/>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2"/>
          <p:cNvSpPr/>
          <p:nvPr/>
        </p:nvSpPr>
        <p:spPr>
          <a:xfrm>
            <a:off x="320040" y="3566160"/>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a:solidFill>
                  <a:srgbClr val="0E1726"/>
                </a:solidFill>
                <a:latin typeface="Calibri"/>
                <a:ea typeface="Calibri"/>
                <a:cs typeface="Calibri"/>
                <a:sym typeface="Calibri"/>
              </a:rPr>
              <a:t>Yaw ψ</a:t>
            </a:r>
            <a:endParaRPr sz="800" b="0" i="0" u="none" strike="noStrike" cap="none">
              <a:solidFill>
                <a:schemeClr val="dk1"/>
              </a:solidFill>
              <a:latin typeface="Calibri"/>
              <a:ea typeface="Calibri"/>
              <a:cs typeface="Calibri"/>
              <a:sym typeface="Calibri"/>
            </a:endParaRPr>
          </a:p>
        </p:txBody>
      </p:sp>
      <p:sp>
        <p:nvSpPr>
          <p:cNvPr id="346" name="Google Shape;346;p12"/>
          <p:cNvSpPr/>
          <p:nvPr/>
        </p:nvSpPr>
        <p:spPr>
          <a:xfrm>
            <a:off x="621792" y="3453814"/>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ψ = atan2(2(wz+xy), 1−2(y²+z²)) = 0.00° — no left/right turn in this example.</a:t>
            </a:r>
            <a:endParaRPr sz="900" b="0" i="0" u="none" strike="noStrike" cap="none" dirty="0">
              <a:solidFill>
                <a:schemeClr val="dk1"/>
              </a:solidFill>
              <a:latin typeface="Calibri"/>
              <a:ea typeface="Calibri"/>
              <a:cs typeface="Calibri"/>
              <a:sym typeface="Calibri"/>
            </a:endParaRPr>
          </a:p>
        </p:txBody>
      </p:sp>
      <p:sp>
        <p:nvSpPr>
          <p:cNvPr id="347" name="Google Shape;347;p12"/>
          <p:cNvSpPr/>
          <p:nvPr/>
        </p:nvSpPr>
        <p:spPr>
          <a:xfrm>
            <a:off x="320040" y="4041648"/>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2"/>
          <p:cNvSpPr/>
          <p:nvPr/>
        </p:nvSpPr>
        <p:spPr>
          <a:xfrm>
            <a:off x="320040" y="4041648"/>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a:solidFill>
                  <a:srgbClr val="0E1726"/>
                </a:solidFill>
                <a:latin typeface="Calibri"/>
                <a:ea typeface="Calibri"/>
                <a:cs typeface="Calibri"/>
                <a:sym typeface="Calibri"/>
              </a:rPr>
              <a:t>Gaze vector v</a:t>
            </a:r>
            <a:endParaRPr sz="800" b="0" i="0" u="none" strike="noStrike" cap="none">
              <a:solidFill>
                <a:schemeClr val="dk1"/>
              </a:solidFill>
              <a:latin typeface="Calibri"/>
              <a:ea typeface="Calibri"/>
              <a:cs typeface="Calibri"/>
              <a:sym typeface="Calibri"/>
            </a:endParaRPr>
          </a:p>
        </p:txBody>
      </p:sp>
      <p:sp>
        <p:nvSpPr>
          <p:cNvPr id="349" name="Google Shape;349;p12"/>
          <p:cNvSpPr/>
          <p:nvPr/>
        </p:nvSpPr>
        <p:spPr>
          <a:xfrm>
            <a:off x="621792" y="3955432"/>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v = R · v_forward = (0.000, −0.708, 0.706)</a:t>
            </a:r>
            <a:r>
              <a:rPr lang="en-US" sz="900" dirty="0">
                <a:solidFill>
                  <a:srgbClr val="5C6B82"/>
                </a:solidFill>
                <a:latin typeface="Calibri"/>
                <a:ea typeface="Calibri"/>
                <a:cs typeface="Calibri"/>
                <a:sym typeface="Calibri"/>
              </a:rPr>
              <a:t> </a:t>
            </a:r>
            <a:r>
              <a:rPr lang="en-US" sz="900" b="0" i="0" u="none" strike="noStrike" cap="none" dirty="0">
                <a:solidFill>
                  <a:srgbClr val="5C6B82"/>
                </a:solidFill>
                <a:latin typeface="Calibri"/>
                <a:ea typeface="Calibri"/>
                <a:cs typeface="Calibri"/>
                <a:sym typeface="Calibri"/>
              </a:rPr>
              <a:t>R applied to forward vector [0,0,1] gives the 3D gaze direction.</a:t>
            </a:r>
            <a:endParaRPr sz="900" b="0" i="0" u="none" strike="noStrike" cap="none" dirty="0">
              <a:solidFill>
                <a:schemeClr val="dk1"/>
              </a:solidFill>
              <a:latin typeface="Calibri"/>
              <a:ea typeface="Calibri"/>
              <a:cs typeface="Calibri"/>
              <a:sym typeface="Calibri"/>
            </a:endParaRPr>
          </a:p>
        </p:txBody>
      </p:sp>
      <p:sp>
        <p:nvSpPr>
          <p:cNvPr id="350" name="Google Shape;350;p12"/>
          <p:cNvSpPr/>
          <p:nvPr/>
        </p:nvSpPr>
        <p:spPr>
          <a:xfrm>
            <a:off x="320040" y="4401807"/>
            <a:ext cx="4160520" cy="585216"/>
          </a:xfrm>
          <a:prstGeom prst="roundRect">
            <a:avLst>
              <a:gd name="adj" fmla="val 12500"/>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2"/>
          <p:cNvSpPr/>
          <p:nvPr/>
        </p:nvSpPr>
        <p:spPr>
          <a:xfrm>
            <a:off x="502920" y="4553712"/>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900"/>
              <a:buFont typeface="Calibri"/>
              <a:buNone/>
            </a:pPr>
            <a:r>
              <a:rPr lang="en-US" sz="900" b="1" i="0" u="none" strike="noStrike" cap="none" dirty="0">
                <a:solidFill>
                  <a:srgbClr val="16202E"/>
                </a:solidFill>
                <a:latin typeface="Calibri"/>
                <a:ea typeface="Calibri"/>
                <a:cs typeface="Calibri"/>
                <a:sym typeface="Calibri"/>
              </a:rPr>
              <a:t>Setup:</a:t>
            </a:r>
            <a:endParaRPr sz="900" b="0" i="0" u="none" strike="noStrike" cap="none" dirty="0">
              <a:solidFill>
                <a:schemeClr val="dk1"/>
              </a:solidFill>
              <a:latin typeface="Calibri"/>
              <a:ea typeface="Calibri"/>
              <a:cs typeface="Calibri"/>
              <a:sym typeface="Calibri"/>
            </a:endParaRPr>
          </a:p>
        </p:txBody>
      </p:sp>
      <p:sp>
        <p:nvSpPr>
          <p:cNvPr id="352" name="Google Shape;352;p12"/>
          <p:cNvSpPr/>
          <p:nvPr/>
        </p:nvSpPr>
        <p:spPr>
          <a:xfrm>
            <a:off x="2148840" y="4493247"/>
            <a:ext cx="22402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q = (0.924, 0.383, 0.0, 0.0), captured at d = 55 cm from a Meta Quest Pro 2 headset (72 Hz), typing the word “fox”.</a:t>
            </a:r>
            <a:endParaRPr sz="900" b="0" i="0" u="none" strike="noStrike" cap="none" dirty="0">
              <a:solidFill>
                <a:schemeClr val="dk1"/>
              </a:solidFill>
              <a:latin typeface="Calibri"/>
              <a:ea typeface="Calibri"/>
              <a:cs typeface="Calibri"/>
              <a:sym typeface="Calibri"/>
            </a:endParaRPr>
          </a:p>
        </p:txBody>
      </p:sp>
      <p:sp>
        <p:nvSpPr>
          <p:cNvPr id="353" name="Google Shape;353;p12"/>
          <p:cNvSpPr/>
          <p:nvPr/>
        </p:nvSpPr>
        <p:spPr>
          <a:xfrm>
            <a:off x="4663440" y="1115569"/>
            <a:ext cx="4160520" cy="3730752"/>
          </a:xfrm>
          <a:prstGeom prst="roundRect">
            <a:avLst>
              <a:gd name="adj" fmla="val 2273"/>
            </a:avLst>
          </a:prstGeom>
          <a:solidFill>
            <a:srgbClr val="16202E"/>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2"/>
          <p:cNvSpPr/>
          <p:nvPr/>
        </p:nvSpPr>
        <p:spPr>
          <a:xfrm>
            <a:off x="4828032" y="1207008"/>
            <a:ext cx="3840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STEP-BY-STEP COMPUTATION</a:t>
            </a:r>
            <a:endParaRPr sz="900" b="0" i="0" u="none" strike="noStrike" cap="none">
              <a:solidFill>
                <a:schemeClr val="dk1"/>
              </a:solidFill>
              <a:latin typeface="Calibri"/>
              <a:ea typeface="Calibri"/>
              <a:cs typeface="Calibri"/>
              <a:sym typeface="Calibri"/>
            </a:endParaRPr>
          </a:p>
        </p:txBody>
      </p:sp>
      <p:sp>
        <p:nvSpPr>
          <p:cNvPr id="355" name="Google Shape;355;p12"/>
          <p:cNvSpPr/>
          <p:nvPr/>
        </p:nvSpPr>
        <p:spPr>
          <a:xfrm>
            <a:off x="4828032" y="1536192"/>
            <a:ext cx="135331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Quantity</a:t>
            </a:r>
            <a:endParaRPr sz="750" b="0" i="0" u="none" strike="noStrike" cap="none">
              <a:solidFill>
                <a:schemeClr val="dk1"/>
              </a:solidFill>
              <a:latin typeface="Calibri"/>
              <a:ea typeface="Calibri"/>
              <a:cs typeface="Calibri"/>
              <a:sym typeface="Calibri"/>
            </a:endParaRPr>
          </a:p>
        </p:txBody>
      </p:sp>
      <p:sp>
        <p:nvSpPr>
          <p:cNvPr id="356" name="Google Shape;356;p12"/>
          <p:cNvSpPr/>
          <p:nvPr/>
        </p:nvSpPr>
        <p:spPr>
          <a:xfrm>
            <a:off x="6217920" y="1536192"/>
            <a:ext cx="76809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Formula</a:t>
            </a:r>
            <a:endParaRPr sz="750" b="0" i="0" u="none" strike="noStrike" cap="none">
              <a:solidFill>
                <a:schemeClr val="dk1"/>
              </a:solidFill>
              <a:latin typeface="Calibri"/>
              <a:ea typeface="Calibri"/>
              <a:cs typeface="Calibri"/>
              <a:sym typeface="Calibri"/>
            </a:endParaRPr>
          </a:p>
        </p:txBody>
      </p:sp>
      <p:sp>
        <p:nvSpPr>
          <p:cNvPr id="357" name="Google Shape;357;p12"/>
          <p:cNvSpPr/>
          <p:nvPr/>
        </p:nvSpPr>
        <p:spPr>
          <a:xfrm>
            <a:off x="7022592" y="1536192"/>
            <a:ext cx="76809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 </a:t>
            </a:r>
            <a:endParaRPr sz="750" b="0" i="0" u="none" strike="noStrike" cap="none">
              <a:solidFill>
                <a:schemeClr val="dk1"/>
              </a:solidFill>
              <a:latin typeface="Calibri"/>
              <a:ea typeface="Calibri"/>
              <a:cs typeface="Calibri"/>
              <a:sym typeface="Calibri"/>
            </a:endParaRPr>
          </a:p>
        </p:txBody>
      </p:sp>
      <p:sp>
        <p:nvSpPr>
          <p:cNvPr id="358" name="Google Shape;358;p12"/>
          <p:cNvSpPr/>
          <p:nvPr/>
        </p:nvSpPr>
        <p:spPr>
          <a:xfrm>
            <a:off x="7827264" y="1536192"/>
            <a:ext cx="76809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Result</a:t>
            </a:r>
            <a:endParaRPr sz="750" b="0" i="0" u="none" strike="noStrike" cap="none">
              <a:solidFill>
                <a:schemeClr val="dk1"/>
              </a:solidFill>
              <a:latin typeface="Calibri"/>
              <a:ea typeface="Calibri"/>
              <a:cs typeface="Calibri"/>
              <a:sym typeface="Calibri"/>
            </a:endParaRPr>
          </a:p>
        </p:txBody>
      </p:sp>
      <p:cxnSp>
        <p:nvCxnSpPr>
          <p:cNvPr id="359" name="Google Shape;359;p12"/>
          <p:cNvCxnSpPr/>
          <p:nvPr/>
        </p:nvCxnSpPr>
        <p:spPr>
          <a:xfrm>
            <a:off x="4828032" y="1755648"/>
            <a:ext cx="3840480" cy="0"/>
          </a:xfrm>
          <a:prstGeom prst="straightConnector1">
            <a:avLst/>
          </a:prstGeom>
          <a:noFill/>
          <a:ln w="9525" cap="flat" cmpd="sng">
            <a:solidFill>
              <a:srgbClr val="243452"/>
            </a:solidFill>
            <a:prstDash val="solid"/>
            <a:round/>
            <a:headEnd type="none" w="sm" len="sm"/>
            <a:tailEnd type="none" w="sm" len="sm"/>
          </a:ln>
        </p:spPr>
      </p:cxnSp>
      <p:sp>
        <p:nvSpPr>
          <p:cNvPr id="360" name="Google Shape;360;p12"/>
          <p:cNvSpPr/>
          <p:nvPr/>
        </p:nvSpPr>
        <p:spPr>
          <a:xfrm>
            <a:off x="4828032" y="1828800"/>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Roll φ (keystroke axis)</a:t>
            </a:r>
            <a:endParaRPr sz="850" b="0" i="0" u="none" strike="noStrike" cap="none">
              <a:solidFill>
                <a:schemeClr val="dk1"/>
              </a:solidFill>
              <a:latin typeface="Calibri"/>
              <a:ea typeface="Calibri"/>
              <a:cs typeface="Calibri"/>
              <a:sym typeface="Calibri"/>
            </a:endParaRPr>
          </a:p>
        </p:txBody>
      </p:sp>
      <p:sp>
        <p:nvSpPr>
          <p:cNvPr id="361" name="Google Shape;361;p12"/>
          <p:cNvSpPr/>
          <p:nvPr/>
        </p:nvSpPr>
        <p:spPr>
          <a:xfrm>
            <a:off x="6217920" y="1828800"/>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atan2(2(wx+yz),1−2(x²+y²))</a:t>
            </a:r>
            <a:endParaRPr sz="900" b="0" i="0" u="none" strike="noStrike" cap="none">
              <a:solidFill>
                <a:schemeClr val="dk1"/>
              </a:solidFill>
              <a:latin typeface="Calibri"/>
              <a:ea typeface="Calibri"/>
              <a:cs typeface="Calibri"/>
              <a:sym typeface="Calibri"/>
            </a:endParaRPr>
          </a:p>
        </p:txBody>
      </p:sp>
      <p:sp>
        <p:nvSpPr>
          <p:cNvPr id="362" name="Google Shape;362;p12"/>
          <p:cNvSpPr/>
          <p:nvPr/>
        </p:nvSpPr>
        <p:spPr>
          <a:xfrm>
            <a:off x="7022592" y="1828800"/>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63" name="Google Shape;363;p12"/>
          <p:cNvSpPr/>
          <p:nvPr/>
        </p:nvSpPr>
        <p:spPr>
          <a:xfrm>
            <a:off x="7827264" y="1828800"/>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45.05°</a:t>
            </a:r>
            <a:endParaRPr sz="900" b="0" i="0" u="none" strike="noStrike" cap="none">
              <a:solidFill>
                <a:schemeClr val="dk1"/>
              </a:solidFill>
              <a:latin typeface="Calibri"/>
              <a:ea typeface="Calibri"/>
              <a:cs typeface="Calibri"/>
              <a:sym typeface="Calibri"/>
            </a:endParaRPr>
          </a:p>
        </p:txBody>
      </p:sp>
      <p:sp>
        <p:nvSpPr>
          <p:cNvPr id="364" name="Google Shape;364;p12"/>
          <p:cNvSpPr/>
          <p:nvPr/>
        </p:nvSpPr>
        <p:spPr>
          <a:xfrm>
            <a:off x="4828032" y="2340864"/>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Pitch θ</a:t>
            </a:r>
            <a:endParaRPr sz="850" b="0" i="0" u="none" strike="noStrike" cap="none">
              <a:solidFill>
                <a:schemeClr val="dk1"/>
              </a:solidFill>
              <a:latin typeface="Calibri"/>
              <a:ea typeface="Calibri"/>
              <a:cs typeface="Calibri"/>
              <a:sym typeface="Calibri"/>
            </a:endParaRPr>
          </a:p>
        </p:txBody>
      </p:sp>
      <p:sp>
        <p:nvSpPr>
          <p:cNvPr id="365" name="Google Shape;365;p12"/>
          <p:cNvSpPr/>
          <p:nvPr/>
        </p:nvSpPr>
        <p:spPr>
          <a:xfrm>
            <a:off x="6217920" y="2340864"/>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arcsin(2(wy−zx))</a:t>
            </a:r>
            <a:endParaRPr sz="900" b="0" i="0" u="none" strike="noStrike" cap="none">
              <a:solidFill>
                <a:schemeClr val="dk1"/>
              </a:solidFill>
              <a:latin typeface="Calibri"/>
              <a:ea typeface="Calibri"/>
              <a:cs typeface="Calibri"/>
              <a:sym typeface="Calibri"/>
            </a:endParaRPr>
          </a:p>
        </p:txBody>
      </p:sp>
      <p:sp>
        <p:nvSpPr>
          <p:cNvPr id="366" name="Google Shape;366;p12"/>
          <p:cNvSpPr/>
          <p:nvPr/>
        </p:nvSpPr>
        <p:spPr>
          <a:xfrm>
            <a:off x="7022592" y="2340864"/>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67" name="Google Shape;367;p12"/>
          <p:cNvSpPr/>
          <p:nvPr/>
        </p:nvSpPr>
        <p:spPr>
          <a:xfrm>
            <a:off x="7827264" y="2340864"/>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0.00°</a:t>
            </a:r>
            <a:endParaRPr sz="900" b="0" i="0" u="none" strike="noStrike" cap="none">
              <a:solidFill>
                <a:schemeClr val="dk1"/>
              </a:solidFill>
              <a:latin typeface="Calibri"/>
              <a:ea typeface="Calibri"/>
              <a:cs typeface="Calibri"/>
              <a:sym typeface="Calibri"/>
            </a:endParaRPr>
          </a:p>
        </p:txBody>
      </p:sp>
      <p:sp>
        <p:nvSpPr>
          <p:cNvPr id="368" name="Google Shape;368;p12"/>
          <p:cNvSpPr/>
          <p:nvPr/>
        </p:nvSpPr>
        <p:spPr>
          <a:xfrm>
            <a:off x="4828032" y="2852928"/>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Yaw ψ</a:t>
            </a:r>
            <a:endParaRPr sz="850" b="0" i="0" u="none" strike="noStrike" cap="none">
              <a:solidFill>
                <a:schemeClr val="dk1"/>
              </a:solidFill>
              <a:latin typeface="Calibri"/>
              <a:ea typeface="Calibri"/>
              <a:cs typeface="Calibri"/>
              <a:sym typeface="Calibri"/>
            </a:endParaRPr>
          </a:p>
        </p:txBody>
      </p:sp>
      <p:sp>
        <p:nvSpPr>
          <p:cNvPr id="369" name="Google Shape;369;p12"/>
          <p:cNvSpPr/>
          <p:nvPr/>
        </p:nvSpPr>
        <p:spPr>
          <a:xfrm>
            <a:off x="6217920" y="2852928"/>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atan2(2(wz+xy),1−2(y²+z²))</a:t>
            </a:r>
            <a:endParaRPr sz="900" b="0" i="0" u="none" strike="noStrike" cap="none">
              <a:solidFill>
                <a:schemeClr val="dk1"/>
              </a:solidFill>
              <a:latin typeface="Calibri"/>
              <a:ea typeface="Calibri"/>
              <a:cs typeface="Calibri"/>
              <a:sym typeface="Calibri"/>
            </a:endParaRPr>
          </a:p>
        </p:txBody>
      </p:sp>
      <p:sp>
        <p:nvSpPr>
          <p:cNvPr id="370" name="Google Shape;370;p12"/>
          <p:cNvSpPr/>
          <p:nvPr/>
        </p:nvSpPr>
        <p:spPr>
          <a:xfrm>
            <a:off x="7022592" y="2852928"/>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71" name="Google Shape;371;p12"/>
          <p:cNvSpPr/>
          <p:nvPr/>
        </p:nvSpPr>
        <p:spPr>
          <a:xfrm>
            <a:off x="7827264" y="2852928"/>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0.00°</a:t>
            </a:r>
            <a:endParaRPr sz="900" b="0" i="0" u="none" strike="noStrike" cap="none">
              <a:solidFill>
                <a:schemeClr val="dk1"/>
              </a:solidFill>
              <a:latin typeface="Calibri"/>
              <a:ea typeface="Calibri"/>
              <a:cs typeface="Calibri"/>
              <a:sym typeface="Calibri"/>
            </a:endParaRPr>
          </a:p>
        </p:txBody>
      </p:sp>
      <p:sp>
        <p:nvSpPr>
          <p:cNvPr id="372" name="Google Shape;372;p12"/>
          <p:cNvSpPr/>
          <p:nvPr/>
        </p:nvSpPr>
        <p:spPr>
          <a:xfrm>
            <a:off x="4828032" y="3364992"/>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Euler norm N (keypress trigger)</a:t>
            </a:r>
            <a:endParaRPr sz="850" b="0" i="0" u="none" strike="noStrike" cap="none">
              <a:solidFill>
                <a:schemeClr val="dk1"/>
              </a:solidFill>
              <a:latin typeface="Calibri"/>
              <a:ea typeface="Calibri"/>
              <a:cs typeface="Calibri"/>
              <a:sym typeface="Calibri"/>
            </a:endParaRPr>
          </a:p>
        </p:txBody>
      </p:sp>
      <p:sp>
        <p:nvSpPr>
          <p:cNvPr id="373" name="Google Shape;373;p12"/>
          <p:cNvSpPr/>
          <p:nvPr/>
        </p:nvSpPr>
        <p:spPr>
          <a:xfrm>
            <a:off x="6217920" y="3364992"/>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N=√(φ²+θ²+ψ²)</a:t>
            </a:r>
            <a:endParaRPr sz="900" b="0" i="0" u="none" strike="noStrike" cap="none">
              <a:solidFill>
                <a:schemeClr val="dk1"/>
              </a:solidFill>
              <a:latin typeface="Calibri"/>
              <a:ea typeface="Calibri"/>
              <a:cs typeface="Calibri"/>
              <a:sym typeface="Calibri"/>
            </a:endParaRPr>
          </a:p>
        </p:txBody>
      </p:sp>
      <p:sp>
        <p:nvSpPr>
          <p:cNvPr id="374" name="Google Shape;374;p12"/>
          <p:cNvSpPr/>
          <p:nvPr/>
        </p:nvSpPr>
        <p:spPr>
          <a:xfrm>
            <a:off x="7022592" y="3364992"/>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75" name="Google Shape;375;p12"/>
          <p:cNvSpPr/>
          <p:nvPr/>
        </p:nvSpPr>
        <p:spPr>
          <a:xfrm>
            <a:off x="7827264" y="3364992"/>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45.0° (peak)</a:t>
            </a:r>
            <a:endParaRPr sz="900" b="0" i="0" u="none" strike="noStrike" cap="none">
              <a:solidFill>
                <a:schemeClr val="dk1"/>
              </a:solidFill>
              <a:latin typeface="Calibri"/>
              <a:ea typeface="Calibri"/>
              <a:cs typeface="Calibri"/>
              <a:sym typeface="Calibri"/>
            </a:endParaRPr>
          </a:p>
        </p:txBody>
      </p:sp>
      <p:sp>
        <p:nvSpPr>
          <p:cNvPr id="376" name="Google Shape;376;p12"/>
          <p:cNvSpPr/>
          <p:nvPr/>
        </p:nvSpPr>
        <p:spPr>
          <a:xfrm>
            <a:off x="4736592" y="3822192"/>
            <a:ext cx="4023360" cy="457200"/>
          </a:xfrm>
          <a:prstGeom prst="roundRect">
            <a:avLst>
              <a:gd name="adj" fmla="val 10000"/>
            </a:avLst>
          </a:prstGeom>
          <a:solidFill>
            <a:schemeClr val="bg1"/>
          </a:solidFill>
          <a:ln w="9525" cap="flat" cmpd="sng">
            <a:solidFill>
              <a:srgbClr val="3FA6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2"/>
          <p:cNvSpPr/>
          <p:nvPr/>
        </p:nvSpPr>
        <p:spPr>
          <a:xfrm>
            <a:off x="4828032" y="3877056"/>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50"/>
              <a:buFont typeface="Calibri"/>
              <a:buNone/>
            </a:pPr>
            <a:r>
              <a:rPr lang="en-US" sz="850" b="1" i="0" u="none" strike="noStrike" cap="none">
                <a:solidFill>
                  <a:srgbClr val="FFFFFF"/>
                </a:solidFill>
                <a:latin typeface="Calibri"/>
                <a:ea typeface="Calibri"/>
                <a:cs typeface="Calibri"/>
                <a:sym typeface="Calibri"/>
              </a:rPr>
              <a:t>Gaze vector v</a:t>
            </a:r>
            <a:endParaRPr sz="850" b="0" i="0" u="none" strike="noStrike" cap="none">
              <a:solidFill>
                <a:schemeClr val="dk1"/>
              </a:solidFill>
              <a:latin typeface="Calibri"/>
              <a:ea typeface="Calibri"/>
              <a:cs typeface="Calibri"/>
              <a:sym typeface="Calibri"/>
            </a:endParaRPr>
          </a:p>
        </p:txBody>
      </p:sp>
      <p:sp>
        <p:nvSpPr>
          <p:cNvPr id="378" name="Google Shape;378;p12"/>
          <p:cNvSpPr/>
          <p:nvPr/>
        </p:nvSpPr>
        <p:spPr>
          <a:xfrm>
            <a:off x="6217920" y="3877056"/>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v=R·v_forward</a:t>
            </a:r>
            <a:endParaRPr sz="900" b="0" i="0" u="none" strike="noStrike" cap="none">
              <a:solidFill>
                <a:schemeClr val="dk1"/>
              </a:solidFill>
              <a:latin typeface="Calibri"/>
              <a:ea typeface="Calibri"/>
              <a:cs typeface="Calibri"/>
              <a:sym typeface="Calibri"/>
            </a:endParaRPr>
          </a:p>
        </p:txBody>
      </p:sp>
      <p:sp>
        <p:nvSpPr>
          <p:cNvPr id="379" name="Google Shape;379;p12"/>
          <p:cNvSpPr/>
          <p:nvPr/>
        </p:nvSpPr>
        <p:spPr>
          <a:xfrm>
            <a:off x="7022592" y="3877056"/>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80" name="Google Shape;380;p12"/>
          <p:cNvSpPr/>
          <p:nvPr/>
        </p:nvSpPr>
        <p:spPr>
          <a:xfrm>
            <a:off x="7827264" y="3877056"/>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(0.000, −0.708, 0.706)</a:t>
            </a:r>
            <a:endParaRPr sz="900" b="0" i="0" u="none" strike="noStrike" cap="none">
              <a:solidFill>
                <a:schemeClr val="dk1"/>
              </a:solidFill>
              <a:latin typeface="Calibri"/>
              <a:ea typeface="Calibri"/>
              <a:cs typeface="Calibri"/>
              <a:sym typeface="Calibri"/>
            </a:endParaRPr>
          </a:p>
        </p:txBody>
      </p:sp>
      <p:sp>
        <p:nvSpPr>
          <p:cNvPr id="381" name="Google Shape;381;p12"/>
          <p:cNvSpPr/>
          <p:nvPr/>
        </p:nvSpPr>
        <p:spPr>
          <a:xfrm>
            <a:off x="4800600" y="4341225"/>
            <a:ext cx="38404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A66A"/>
              </a:buClr>
              <a:buSzPts val="900"/>
              <a:buFont typeface="Calibri"/>
              <a:buNone/>
            </a:pPr>
            <a:r>
              <a:rPr lang="en-US" sz="900" b="0" i="0" u="none" strike="noStrike" cap="none" dirty="0">
                <a:solidFill>
                  <a:srgbClr val="3FA66A"/>
                </a:solidFill>
                <a:latin typeface="Calibri"/>
                <a:ea typeface="Calibri"/>
                <a:cs typeface="Calibri"/>
                <a:sym typeface="Calibri"/>
              </a:rPr>
              <a:t>★  Differentiating </a:t>
            </a:r>
            <a:r>
              <a:rPr lang="en-US" sz="900" dirty="0">
                <a:solidFill>
                  <a:srgbClr val="3FA66A"/>
                </a:solidFill>
                <a:latin typeface="Calibri"/>
                <a:ea typeface="Calibri"/>
                <a:cs typeface="Calibri"/>
                <a:sym typeface="Calibri"/>
              </a:rPr>
              <a:t>N(t)</a:t>
            </a:r>
            <a:r>
              <a:rPr lang="en-US" sz="900" b="0" i="0" u="none" strike="noStrike" cap="none" dirty="0">
                <a:solidFill>
                  <a:srgbClr val="3FA66A"/>
                </a:solidFill>
                <a:latin typeface="Calibri"/>
                <a:ea typeface="Calibri"/>
                <a:cs typeface="Calibri"/>
                <a:sym typeface="Calibri"/>
              </a:rPr>
              <a:t> over time isolates </a:t>
            </a:r>
            <a:r>
              <a:rPr lang="en-US" sz="900" dirty="0">
                <a:solidFill>
                  <a:srgbClr val="3FA66A"/>
                </a:solidFill>
                <a:latin typeface="Calibri"/>
                <a:ea typeface="Calibri"/>
                <a:cs typeface="Calibri"/>
                <a:sym typeface="Calibri"/>
              </a:rPr>
              <a:t>keystroke peaks</a:t>
            </a:r>
            <a:r>
              <a:rPr lang="en-US" sz="900" b="0" i="0" u="none" strike="noStrike" cap="none" dirty="0">
                <a:solidFill>
                  <a:srgbClr val="3FA66A"/>
                </a:solidFill>
                <a:latin typeface="Calibri"/>
                <a:ea typeface="Calibri"/>
                <a:cs typeface="Calibri"/>
                <a:sym typeface="Calibri"/>
              </a:rPr>
              <a:t> — threshold ≈ 6°</a:t>
            </a:r>
            <a:r>
              <a:rPr lang="en-US" sz="900" dirty="0">
                <a:solidFill>
                  <a:srgbClr val="3FA66A"/>
                </a:solidFill>
                <a:latin typeface="Calibri"/>
                <a:ea typeface="Calibri"/>
                <a:cs typeface="Calibri"/>
                <a:sym typeface="Calibri"/>
              </a:rPr>
              <a:t> marks a keypress,</a:t>
            </a:r>
            <a:r>
              <a:rPr lang="en-US" sz="900" b="0" i="0" u="none" strike="noStrike" cap="none" dirty="0">
                <a:solidFill>
                  <a:srgbClr val="3FA66A"/>
                </a:solidFill>
                <a:latin typeface="Calibri"/>
                <a:ea typeface="Calibri"/>
                <a:cs typeface="Calibri"/>
                <a:sym typeface="Calibri"/>
              </a:rPr>
              <a:t> ≈9° marks typing onset.</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9"/>
        <p:cNvGrpSpPr/>
        <p:nvPr/>
      </p:nvGrpSpPr>
      <p:grpSpPr>
        <a:xfrm>
          <a:off x="0" y="0"/>
          <a:ext cx="0" cy="0"/>
          <a:chOff x="0" y="0"/>
          <a:chExt cx="0" cy="0"/>
        </a:xfrm>
      </p:grpSpPr>
      <p:sp>
        <p:nvSpPr>
          <p:cNvPr id="330" name="Google Shape;330;p12"/>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MATHEMATICAL MODELLING · §4</a:t>
            </a:r>
            <a:endParaRPr sz="900" b="0" i="0" u="none" strike="noStrike" cap="none" dirty="0">
              <a:solidFill>
                <a:schemeClr val="dk1"/>
              </a:solidFill>
              <a:latin typeface="Calibri"/>
              <a:ea typeface="Calibri"/>
              <a:cs typeface="Calibri"/>
              <a:sym typeface="Calibri"/>
            </a:endParaRPr>
          </a:p>
        </p:txBody>
      </p:sp>
      <p:sp>
        <p:nvSpPr>
          <p:cNvPr id="331" name="Google Shape;331;p12"/>
          <p:cNvSpPr/>
          <p:nvPr/>
        </p:nvSpPr>
        <p:spPr>
          <a:xfrm>
            <a:off x="365760" y="421200"/>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BackTree matching, DBSCAN &amp; </a:t>
            </a:r>
            <a:r>
              <a:rPr lang="en-US" sz="2400" b="1" i="0" u="none" strike="noStrike" cap="none" dirty="0" err="1">
                <a:solidFill>
                  <a:srgbClr val="16202E"/>
                </a:solidFill>
                <a:latin typeface="Calibri"/>
                <a:ea typeface="Calibri"/>
                <a:cs typeface="Calibri"/>
                <a:sym typeface="Calibri"/>
              </a:rPr>
              <a:t>word scoring</a:t>
            </a:r>
            <a:r>
              <a:rPr lang="en-US" sz="2400" b="1" i="0" u="none" strike="noStrike" cap="none" dirty="0">
                <a:solidFill>
                  <a:srgbClr val="16202E"/>
                </a:solidFill>
                <a:latin typeface="Calibri"/>
                <a:ea typeface="Calibri"/>
                <a:cs typeface="Calibri"/>
                <a:sym typeface="Calibri"/>
              </a:rPr>
              <a:t> (Stage 5-7)</a:t>
            </a:r>
            <a:endParaRPr sz="2400" b="0" i="0" u="none" strike="noStrike" cap="none" dirty="0">
              <a:solidFill>
                <a:schemeClr val="dk1"/>
              </a:solidFill>
              <a:latin typeface="Calibri"/>
              <a:ea typeface="Calibri"/>
              <a:cs typeface="Calibri"/>
              <a:sym typeface="Calibri"/>
            </a:endParaRPr>
          </a:p>
        </p:txBody>
      </p:sp>
      <p:sp>
        <p:nvSpPr>
          <p:cNvPr id="332" name="Google Shape;332;p12"/>
          <p:cNvSpPr/>
          <p:nvPr/>
        </p:nvSpPr>
        <p:spPr>
          <a:xfrm>
            <a:off x="365760" y="4846320"/>
            <a:ext cx="4572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WORKED EXAMPLE</a:t>
            </a:r>
            <a:endParaRPr sz="700" b="0" i="0" u="none" strike="noStrike" cap="none">
              <a:solidFill>
                <a:schemeClr val="dk1"/>
              </a:solidFill>
              <a:latin typeface="Calibri"/>
              <a:ea typeface="Calibri"/>
              <a:cs typeface="Calibri"/>
              <a:sym typeface="Calibri"/>
            </a:endParaRPr>
          </a:p>
        </p:txBody>
      </p:sp>
      <p:sp>
        <p:nvSpPr>
          <p:cNvPr id="333" name="Google Shape;333;p12"/>
          <p:cNvSpPr/>
          <p:nvPr/>
        </p:nvSpPr>
        <p:spPr>
          <a:xfrm>
            <a:off x="4572000" y="4846320"/>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8</a:t>
            </a:r>
            <a:endParaRPr sz="700" b="0" i="0" u="none" strike="noStrike" cap="none">
              <a:solidFill>
                <a:schemeClr val="dk1"/>
              </a:solidFill>
              <a:latin typeface="Calibri"/>
              <a:ea typeface="Calibri"/>
              <a:cs typeface="Calibri"/>
              <a:sym typeface="Calibri"/>
            </a:endParaRPr>
          </a:p>
        </p:txBody>
      </p:sp>
      <p:sp>
        <p:nvSpPr>
          <p:cNvPr id="334" name="Google Shape;334;p12"/>
          <p:cNvSpPr/>
          <p:nvPr/>
        </p:nvSpPr>
        <p:spPr>
          <a:xfrm>
            <a:off x="320040" y="1115568"/>
            <a:ext cx="4160520" cy="1051560"/>
          </a:xfrm>
          <a:prstGeom prst="roundRect">
            <a:avLst>
              <a:gd name="adj" fmla="val 6957"/>
            </a:avLst>
          </a:prstGeom>
          <a:solidFill>
            <a:srgbClr val="1B2840"/>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2"/>
          <p:cNvSpPr/>
          <p:nvPr/>
        </p:nvSpPr>
        <p:spPr>
          <a:xfrm>
            <a:off x="484632" y="1225296"/>
            <a:ext cx="383133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Why BackTree &amp; DBSCAN</a:t>
            </a:r>
            <a:endParaRPr sz="1100" b="0" i="0" u="none" strike="noStrike" cap="none">
              <a:solidFill>
                <a:schemeClr val="dk1"/>
              </a:solidFill>
              <a:latin typeface="Calibri"/>
              <a:ea typeface="Calibri"/>
              <a:cs typeface="Calibri"/>
              <a:sym typeface="Calibri"/>
            </a:endParaRPr>
          </a:p>
        </p:txBody>
      </p:sp>
      <p:sp>
        <p:nvSpPr>
          <p:cNvPr id="336" name="Google Shape;336;p12"/>
          <p:cNvSpPr/>
          <p:nvPr/>
        </p:nvSpPr>
        <p:spPr>
          <a:xfrm>
            <a:off x="484632" y="1517904"/>
            <a:ext cx="3831336" cy="5212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8EEF7"/>
              </a:buClr>
              <a:buSzPts val="950"/>
              <a:buFont typeface="Calibri"/>
              <a:buNone/>
            </a:pPr>
            <a:r>
              <a:rPr lang="en-US" sz="950" b="0" i="0" u="none" strike="noStrike" cap="none">
                <a:solidFill>
                  <a:srgbClr val="E8EEF7"/>
                </a:solidFill>
                <a:latin typeface="Calibri"/>
                <a:ea typeface="Calibri"/>
                <a:cs typeface="Calibri"/>
                <a:sym typeface="Calibri"/>
              </a:rPr>
              <a:t>Relative distance &amp; angle between consecutive gaze points stay stable regardless of distance to keyboard. BackTree ranks 26 candidate keys against this geometry</a:t>
            </a:r>
            <a:r>
              <a:rPr lang="en-US" sz="950">
                <a:solidFill>
                  <a:srgbClr val="E8EEF7"/>
                </a:solidFill>
                <a:latin typeface="Calibri"/>
                <a:ea typeface="Calibri"/>
                <a:cs typeface="Calibri"/>
                <a:sym typeface="Calibri"/>
              </a:rPr>
              <a:t>, while</a:t>
            </a:r>
            <a:r>
              <a:rPr lang="en-US" sz="950" b="0" i="0" u="none" strike="noStrike" cap="none">
                <a:solidFill>
                  <a:srgbClr val="E8EEF7"/>
                </a:solidFill>
                <a:latin typeface="Calibri"/>
                <a:ea typeface="Calibri"/>
                <a:cs typeface="Calibri"/>
                <a:sym typeface="Calibri"/>
              </a:rPr>
              <a:t> DBSCAN clusters low-latitude gaze points to detect </a:t>
            </a:r>
            <a:r>
              <a:rPr lang="en-US" sz="950">
                <a:solidFill>
                  <a:srgbClr val="E8EEF7"/>
                </a:solidFill>
                <a:latin typeface="Calibri"/>
                <a:ea typeface="Calibri"/>
                <a:cs typeface="Calibri"/>
                <a:sym typeface="Calibri"/>
              </a:rPr>
              <a:t>Spacebar presses and segment words.</a:t>
            </a:r>
            <a:endParaRPr sz="950" b="0" i="0" u="none" strike="noStrike" cap="none">
              <a:solidFill>
                <a:schemeClr val="dk1"/>
              </a:solidFill>
              <a:latin typeface="Calibri"/>
              <a:ea typeface="Calibri"/>
              <a:cs typeface="Calibri"/>
              <a:sym typeface="Calibri"/>
            </a:endParaRPr>
          </a:p>
        </p:txBody>
      </p:sp>
      <p:sp>
        <p:nvSpPr>
          <p:cNvPr id="337" name="Google Shape;337;p12"/>
          <p:cNvSpPr/>
          <p:nvPr/>
        </p:nvSpPr>
        <p:spPr>
          <a:xfrm>
            <a:off x="320040" y="2286000"/>
            <a:ext cx="4160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Algorithm 4.1: Candidate Key Selection (3 steps)</a:t>
            </a:r>
            <a:endParaRPr sz="1100" b="0" i="0" u="none" strike="noStrike" cap="none">
              <a:solidFill>
                <a:schemeClr val="dk1"/>
              </a:solidFill>
              <a:latin typeface="Calibri"/>
              <a:ea typeface="Calibri"/>
              <a:cs typeface="Calibri"/>
              <a:sym typeface="Calibri"/>
            </a:endParaRPr>
          </a:p>
        </p:txBody>
      </p:sp>
      <p:sp>
        <p:nvSpPr>
          <p:cNvPr id="338" name="Google Shape;338;p12"/>
          <p:cNvSpPr/>
          <p:nvPr/>
        </p:nvSpPr>
        <p:spPr>
          <a:xfrm>
            <a:off x="320040" y="2615184"/>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2"/>
          <p:cNvSpPr/>
          <p:nvPr/>
        </p:nvSpPr>
        <p:spPr>
          <a:xfrm>
            <a:off x="320040" y="2615184"/>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dirty="0">
                <a:solidFill>
                  <a:srgbClr val="0E1726"/>
                </a:solidFill>
                <a:latin typeface="Calibri"/>
                <a:ea typeface="Calibri"/>
                <a:cs typeface="Calibri"/>
                <a:sym typeface="Calibri"/>
              </a:rPr>
              <a:t>Step 1</a:t>
            </a:r>
            <a:endParaRPr sz="800" b="0" i="0" u="none" strike="noStrike" cap="none" dirty="0">
              <a:solidFill>
                <a:schemeClr val="dk1"/>
              </a:solidFill>
              <a:latin typeface="Calibri"/>
              <a:ea typeface="Calibri"/>
              <a:cs typeface="Calibri"/>
              <a:sym typeface="Calibri"/>
            </a:endParaRPr>
          </a:p>
        </p:txBody>
      </p:sp>
      <p:sp>
        <p:nvSpPr>
          <p:cNvPr id="340" name="Google Shape;340;p12"/>
          <p:cNvSpPr/>
          <p:nvPr/>
        </p:nvSpPr>
        <p:spPr>
          <a:xfrm>
            <a:off x="621792" y="2546382"/>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Sort </a:t>
            </a:r>
            <a:r>
              <a:rPr lang="en-US" sz="900" dirty="0">
                <a:solidFill>
                  <a:srgbClr val="5C6B82"/>
                </a:solidFill>
                <a:latin typeface="Calibri"/>
                <a:ea typeface="Calibri"/>
                <a:cs typeface="Calibri"/>
                <a:sym typeface="Calibri"/>
              </a:rPr>
              <a:t>26 candidate</a:t>
            </a:r>
            <a:r>
              <a:rPr lang="en-US" sz="900" b="0" i="0" u="none" strike="noStrike" cap="none" dirty="0">
                <a:solidFill>
                  <a:srgbClr val="5C6B82"/>
                </a:solidFill>
                <a:latin typeface="Calibri"/>
                <a:ea typeface="Calibri"/>
                <a:cs typeface="Calibri"/>
                <a:sym typeface="Calibri"/>
              </a:rPr>
              <a:t> keys by angle error </a:t>
            </a:r>
            <a:r>
              <a:rPr lang="en-US" sz="900" b="0" i="0" u="none" strike="noStrike" cap="none" dirty="0" err="1">
                <a:solidFill>
                  <a:srgbClr val="5C6B82"/>
                </a:solidFill>
                <a:latin typeface="Calibri"/>
                <a:ea typeface="Calibri"/>
                <a:cs typeface="Calibri"/>
                <a:sym typeface="Calibri"/>
              </a:rPr>
              <a:t>|δθ|</a:t>
            </a:r>
            <a:r>
              <a:rPr lang="en-US" sz="900" b="0" i="0" u="none" strike="noStrike" cap="none" dirty="0">
                <a:solidFill>
                  <a:srgbClr val="5C6B82"/>
                </a:solidFill>
                <a:latin typeface="Calibri"/>
                <a:ea typeface="Calibri"/>
                <a:cs typeface="Calibri"/>
                <a:sym typeface="Calibri"/>
              </a:rPr>
              <a:t>; </a:t>
            </a:r>
            <a:r>
              <a:rPr lang="en-US" sz="900" dirty="0" err="1">
                <a:solidFill>
                  <a:srgbClr val="5C6B82"/>
                </a:solidFill>
                <a:latin typeface="Calibri"/>
                <a:ea typeface="Calibri"/>
                <a:cs typeface="Calibri"/>
                <a:sym typeface="Calibri"/>
              </a:rPr>
              <a:t>keep</a:t>
            </a:r>
            <a:r>
              <a:rPr lang="en-US" sz="900" dirty="0">
                <a:solidFill>
                  <a:srgbClr val="5C6B82"/>
                </a:solidFill>
                <a:latin typeface="Calibri"/>
                <a:ea typeface="Calibri"/>
                <a:cs typeface="Calibri"/>
                <a:sym typeface="Calibri"/>
              </a:rPr>
              <a:t> top 6.</a:t>
            </a:r>
            <a:r>
              <a:rPr lang="en-US" sz="900" b="0" i="0" u="none" strike="noStrike" cap="none" dirty="0">
                <a:solidFill>
                  <a:srgbClr val="5C6B82"/>
                </a:solidFill>
                <a:latin typeface="Calibri"/>
                <a:ea typeface="Calibri"/>
                <a:cs typeface="Calibri"/>
                <a:sym typeface="Calibri"/>
              </a:rPr>
              <a:t>Closest angular match ranks first — e.g. candidate X at |δθ|=0.6°.</a:t>
            </a:r>
            <a:endParaRPr sz="900" b="0" i="0" u="none" strike="noStrike" cap="none" dirty="0">
              <a:solidFill>
                <a:schemeClr val="dk1"/>
              </a:solidFill>
              <a:latin typeface="Calibri"/>
              <a:ea typeface="Calibri"/>
              <a:cs typeface="Calibri"/>
              <a:sym typeface="Calibri"/>
            </a:endParaRPr>
          </a:p>
        </p:txBody>
      </p:sp>
      <p:sp>
        <p:nvSpPr>
          <p:cNvPr id="341" name="Google Shape;341;p12"/>
          <p:cNvSpPr/>
          <p:nvPr/>
        </p:nvSpPr>
        <p:spPr>
          <a:xfrm>
            <a:off x="320040" y="3090672"/>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2"/>
          <p:cNvSpPr/>
          <p:nvPr/>
        </p:nvSpPr>
        <p:spPr>
          <a:xfrm>
            <a:off x="320040" y="3090672"/>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a:solidFill>
                  <a:srgbClr val="0E1726"/>
                </a:solidFill>
                <a:latin typeface="Calibri"/>
                <a:ea typeface="Calibri"/>
                <a:cs typeface="Calibri"/>
                <a:sym typeface="Calibri"/>
              </a:rPr>
              <a:t>Step 2</a:t>
            </a:r>
            <a:endParaRPr sz="800" b="0" i="0" u="none" strike="noStrike" cap="none">
              <a:solidFill>
                <a:schemeClr val="dk1"/>
              </a:solidFill>
              <a:latin typeface="Calibri"/>
              <a:ea typeface="Calibri"/>
              <a:cs typeface="Calibri"/>
              <a:sym typeface="Calibri"/>
            </a:endParaRPr>
          </a:p>
        </p:txBody>
      </p:sp>
      <p:sp>
        <p:nvSpPr>
          <p:cNvPr id="343" name="Google Shape;343;p12"/>
          <p:cNvSpPr/>
          <p:nvPr/>
        </p:nvSpPr>
        <p:spPr>
          <a:xfrm>
            <a:off x="621792" y="2987041"/>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Among those 6, re-sort by distance error |δd|; keep top 4</a:t>
            </a:r>
            <a:r>
              <a:rPr lang="en-US" sz="900" dirty="0">
                <a:solidFill>
                  <a:srgbClr val="5C6B82"/>
                </a:solidFill>
                <a:latin typeface="Calibri"/>
                <a:ea typeface="Calibri"/>
                <a:cs typeface="Calibri"/>
                <a:sym typeface="Calibri"/>
              </a:rPr>
              <a:t>.</a:t>
            </a:r>
            <a:r>
              <a:rPr lang="en-US" sz="900" b="0" i="0" u="none" strike="noStrike" cap="none" dirty="0">
                <a:solidFill>
                  <a:srgbClr val="5C6B82"/>
                </a:solidFill>
                <a:latin typeface="Calibri"/>
                <a:ea typeface="Calibri"/>
                <a:cs typeface="Calibri"/>
                <a:sym typeface="Calibri"/>
              </a:rPr>
              <a:t> Distance confirms the angular guess.</a:t>
            </a:r>
            <a:endParaRPr sz="900" b="0" i="0" u="none" strike="noStrike" cap="none" dirty="0">
              <a:solidFill>
                <a:schemeClr val="dk1"/>
              </a:solidFill>
              <a:latin typeface="Calibri"/>
              <a:ea typeface="Calibri"/>
              <a:cs typeface="Calibri"/>
              <a:sym typeface="Calibri"/>
            </a:endParaRPr>
          </a:p>
        </p:txBody>
      </p:sp>
      <p:sp>
        <p:nvSpPr>
          <p:cNvPr id="344" name="Google Shape;344;p12"/>
          <p:cNvSpPr/>
          <p:nvPr/>
        </p:nvSpPr>
        <p:spPr>
          <a:xfrm>
            <a:off x="320040" y="3566160"/>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2"/>
          <p:cNvSpPr/>
          <p:nvPr/>
        </p:nvSpPr>
        <p:spPr>
          <a:xfrm>
            <a:off x="320040" y="3566160"/>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a:solidFill>
                  <a:srgbClr val="0E1726"/>
                </a:solidFill>
                <a:latin typeface="Calibri"/>
                <a:ea typeface="Calibri"/>
                <a:cs typeface="Calibri"/>
                <a:sym typeface="Calibri"/>
              </a:rPr>
              <a:t>Step 3</a:t>
            </a:r>
            <a:endParaRPr sz="800" b="0" i="0" u="none" strike="noStrike" cap="none">
              <a:solidFill>
                <a:schemeClr val="dk1"/>
              </a:solidFill>
              <a:latin typeface="Calibri"/>
              <a:ea typeface="Calibri"/>
              <a:cs typeface="Calibri"/>
              <a:sym typeface="Calibri"/>
            </a:endParaRPr>
          </a:p>
        </p:txBody>
      </p:sp>
      <p:sp>
        <p:nvSpPr>
          <p:cNvPr id="346" name="Google Shape;346;p12"/>
          <p:cNvSpPr/>
          <p:nvPr/>
        </p:nvSpPr>
        <p:spPr>
          <a:xfrm>
            <a:off x="621792" y="3453814"/>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Re-sort all 26 keys by |δd|; add next top 6 not already included → 4≤N≤10 final candidates.</a:t>
            </a:r>
            <a:endParaRPr sz="900" b="0" i="0" u="none" strike="noStrike" cap="none" dirty="0">
              <a:solidFill>
                <a:schemeClr val="dk1"/>
              </a:solidFill>
              <a:latin typeface="Calibri"/>
              <a:ea typeface="Calibri"/>
              <a:cs typeface="Calibri"/>
              <a:sym typeface="Calibri"/>
            </a:endParaRPr>
          </a:p>
        </p:txBody>
      </p:sp>
      <p:sp>
        <p:nvSpPr>
          <p:cNvPr id="347" name="Google Shape;347;p12"/>
          <p:cNvSpPr/>
          <p:nvPr/>
        </p:nvSpPr>
        <p:spPr>
          <a:xfrm>
            <a:off x="320040" y="4041648"/>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2"/>
          <p:cNvSpPr/>
          <p:nvPr/>
        </p:nvSpPr>
        <p:spPr>
          <a:xfrm>
            <a:off x="320040" y="4041648"/>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a:solidFill>
                  <a:srgbClr val="0E1726"/>
                </a:solidFill>
                <a:latin typeface="Calibri"/>
                <a:ea typeface="Calibri"/>
                <a:cs typeface="Calibri"/>
                <a:sym typeface="Calibri"/>
              </a:rPr>
              <a:t>Score &amp; Rank</a:t>
            </a:r>
            <a:endParaRPr sz="800" b="0" i="0" u="none" strike="noStrike" cap="none">
              <a:solidFill>
                <a:schemeClr val="dk1"/>
              </a:solidFill>
              <a:latin typeface="Calibri"/>
              <a:ea typeface="Calibri"/>
              <a:cs typeface="Calibri"/>
              <a:sym typeface="Calibri"/>
            </a:endParaRPr>
          </a:p>
        </p:txBody>
      </p:sp>
      <p:sp>
        <p:nvSpPr>
          <p:cNvPr id="349" name="Google Shape;349;p12"/>
          <p:cNvSpPr/>
          <p:nvPr/>
        </p:nvSpPr>
        <p:spPr>
          <a:xfrm>
            <a:off x="621792" y="3955432"/>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Weight(k,depth) = paths through BackTree reaching k</a:t>
            </a:r>
            <a:r>
              <a:rPr lang="en-US" sz="900" dirty="0">
                <a:solidFill>
                  <a:srgbClr val="5C6B82"/>
                </a:solidFill>
                <a:latin typeface="Calibri"/>
                <a:ea typeface="Calibri"/>
                <a:cs typeface="Calibri"/>
                <a:sym typeface="Calibri"/>
              </a:rPr>
              <a:t>;</a:t>
            </a:r>
            <a:r>
              <a:rPr lang="en-US" sz="900" b="0" i="0" u="none" strike="noStrike" cap="none" dirty="0">
                <a:solidFill>
                  <a:srgbClr val="5C6B82"/>
                </a:solidFill>
                <a:latin typeface="Calibri"/>
                <a:ea typeface="Calibri"/>
                <a:cs typeface="Calibri"/>
                <a:sym typeface="Calibri"/>
              </a:rPr>
              <a:t> word score = Σ letter weights. Highest score = predicted word.</a:t>
            </a:r>
            <a:endParaRPr sz="900" b="0" i="0" u="none" strike="noStrike" cap="none" dirty="0">
              <a:solidFill>
                <a:schemeClr val="dk1"/>
              </a:solidFill>
              <a:latin typeface="Calibri"/>
              <a:ea typeface="Calibri"/>
              <a:cs typeface="Calibri"/>
              <a:sym typeface="Calibri"/>
            </a:endParaRPr>
          </a:p>
        </p:txBody>
      </p:sp>
      <p:sp>
        <p:nvSpPr>
          <p:cNvPr id="350" name="Google Shape;350;p12"/>
          <p:cNvSpPr/>
          <p:nvPr/>
        </p:nvSpPr>
        <p:spPr>
          <a:xfrm>
            <a:off x="320040" y="4510167"/>
            <a:ext cx="4160520" cy="585216"/>
          </a:xfrm>
          <a:prstGeom prst="roundRect">
            <a:avLst>
              <a:gd name="adj" fmla="val 12500"/>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2"/>
          <p:cNvSpPr/>
          <p:nvPr/>
        </p:nvSpPr>
        <p:spPr>
          <a:xfrm>
            <a:off x="502920" y="4608576"/>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900"/>
              <a:buFont typeface="Calibri"/>
              <a:buNone/>
            </a:pPr>
            <a:r>
              <a:rPr lang="en-US" sz="900" b="1" i="0" u="none" strike="noStrike" cap="none">
                <a:solidFill>
                  <a:srgbClr val="16202E"/>
                </a:solidFill>
                <a:latin typeface="Calibri"/>
                <a:ea typeface="Calibri"/>
                <a:cs typeface="Calibri"/>
                <a:sym typeface="Calibri"/>
              </a:rPr>
              <a:t>Worked example — O → X transition:</a:t>
            </a:r>
            <a:endParaRPr sz="900" b="0" i="0" u="none" strike="noStrike" cap="none">
              <a:solidFill>
                <a:schemeClr val="dk1"/>
              </a:solidFill>
              <a:latin typeface="Calibri"/>
              <a:ea typeface="Calibri"/>
              <a:cs typeface="Calibri"/>
              <a:sym typeface="Calibri"/>
            </a:endParaRPr>
          </a:p>
        </p:txBody>
      </p:sp>
      <p:sp>
        <p:nvSpPr>
          <p:cNvPr id="352" name="Google Shape;352;p12"/>
          <p:cNvSpPr/>
          <p:nvPr/>
        </p:nvSpPr>
        <p:spPr>
          <a:xfrm>
            <a:off x="2148840" y="4608576"/>
            <a:ext cx="22402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Observed d=1.5, θ=−165.6°. Candidate X: dck≈1.5, θbk≈−165° → |δθ|=0.6°, |δd|=0.0 → ranked #1.</a:t>
            </a:r>
            <a:endParaRPr sz="900" b="0" i="0" u="none" strike="noStrike" cap="none">
              <a:solidFill>
                <a:schemeClr val="dk1"/>
              </a:solidFill>
              <a:latin typeface="Calibri"/>
              <a:ea typeface="Calibri"/>
              <a:cs typeface="Calibri"/>
              <a:sym typeface="Calibri"/>
            </a:endParaRPr>
          </a:p>
        </p:txBody>
      </p:sp>
      <p:sp>
        <p:nvSpPr>
          <p:cNvPr id="353" name="Google Shape;353;p12"/>
          <p:cNvSpPr/>
          <p:nvPr/>
        </p:nvSpPr>
        <p:spPr>
          <a:xfrm>
            <a:off x="4663440" y="1134253"/>
            <a:ext cx="4160520" cy="3712045"/>
          </a:xfrm>
          <a:prstGeom prst="roundRect">
            <a:avLst>
              <a:gd name="adj" fmla="val 2273"/>
            </a:avLst>
          </a:prstGeom>
          <a:solidFill>
            <a:srgbClr val="16202E"/>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2"/>
          <p:cNvSpPr/>
          <p:nvPr/>
        </p:nvSpPr>
        <p:spPr>
          <a:xfrm>
            <a:off x="4828032" y="1207008"/>
            <a:ext cx="3840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GAZE-PAIR DATA (TABLE 4.1) — TYPING “FOX” AT 55CM</a:t>
            </a:r>
            <a:endParaRPr sz="900" b="0" i="0" u="none" strike="noStrike" cap="none">
              <a:solidFill>
                <a:schemeClr val="dk1"/>
              </a:solidFill>
              <a:latin typeface="Calibri"/>
              <a:ea typeface="Calibri"/>
              <a:cs typeface="Calibri"/>
              <a:sym typeface="Calibri"/>
            </a:endParaRPr>
          </a:p>
        </p:txBody>
      </p:sp>
      <p:sp>
        <p:nvSpPr>
          <p:cNvPr id="355" name="Google Shape;355;p12"/>
          <p:cNvSpPr/>
          <p:nvPr/>
        </p:nvSpPr>
        <p:spPr>
          <a:xfrm>
            <a:off x="4828032" y="1536192"/>
            <a:ext cx="135331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Quantity</a:t>
            </a:r>
            <a:endParaRPr sz="750" b="0" i="0" u="none" strike="noStrike" cap="none">
              <a:solidFill>
                <a:schemeClr val="dk1"/>
              </a:solidFill>
              <a:latin typeface="Calibri"/>
              <a:ea typeface="Calibri"/>
              <a:cs typeface="Calibri"/>
              <a:sym typeface="Calibri"/>
            </a:endParaRPr>
          </a:p>
        </p:txBody>
      </p:sp>
      <p:sp>
        <p:nvSpPr>
          <p:cNvPr id="356" name="Google Shape;356;p12"/>
          <p:cNvSpPr/>
          <p:nvPr/>
        </p:nvSpPr>
        <p:spPr>
          <a:xfrm>
            <a:off x="6217920" y="1536192"/>
            <a:ext cx="76809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Value</a:t>
            </a:r>
            <a:endParaRPr sz="750" b="0" i="0" u="none" strike="noStrike" cap="none">
              <a:solidFill>
                <a:schemeClr val="dk1"/>
              </a:solidFill>
              <a:latin typeface="Calibri"/>
              <a:ea typeface="Calibri"/>
              <a:cs typeface="Calibri"/>
              <a:sym typeface="Calibri"/>
            </a:endParaRPr>
          </a:p>
        </p:txBody>
      </p:sp>
      <p:sp>
        <p:nvSpPr>
          <p:cNvPr id="357" name="Google Shape;357;p12"/>
          <p:cNvSpPr/>
          <p:nvPr/>
        </p:nvSpPr>
        <p:spPr>
          <a:xfrm>
            <a:off x="7022592" y="1536192"/>
            <a:ext cx="76809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 </a:t>
            </a:r>
            <a:endParaRPr sz="750" b="0" i="0" u="none" strike="noStrike" cap="none">
              <a:solidFill>
                <a:schemeClr val="dk1"/>
              </a:solidFill>
              <a:latin typeface="Calibri"/>
              <a:ea typeface="Calibri"/>
              <a:cs typeface="Calibri"/>
              <a:sym typeface="Calibri"/>
            </a:endParaRPr>
          </a:p>
        </p:txBody>
      </p:sp>
      <p:sp>
        <p:nvSpPr>
          <p:cNvPr id="358" name="Google Shape;358;p12"/>
          <p:cNvSpPr/>
          <p:nvPr/>
        </p:nvSpPr>
        <p:spPr>
          <a:xfrm>
            <a:off x="7827264" y="1536192"/>
            <a:ext cx="76809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Notes</a:t>
            </a:r>
            <a:endParaRPr sz="750" b="0" i="0" u="none" strike="noStrike" cap="none">
              <a:solidFill>
                <a:schemeClr val="dk1"/>
              </a:solidFill>
              <a:latin typeface="Calibri"/>
              <a:ea typeface="Calibri"/>
              <a:cs typeface="Calibri"/>
              <a:sym typeface="Calibri"/>
            </a:endParaRPr>
          </a:p>
        </p:txBody>
      </p:sp>
      <p:cxnSp>
        <p:nvCxnSpPr>
          <p:cNvPr id="359" name="Google Shape;359;p12"/>
          <p:cNvCxnSpPr/>
          <p:nvPr/>
        </p:nvCxnSpPr>
        <p:spPr>
          <a:xfrm>
            <a:off x="4828032" y="1755648"/>
            <a:ext cx="3840480" cy="0"/>
          </a:xfrm>
          <a:prstGeom prst="straightConnector1">
            <a:avLst/>
          </a:prstGeom>
          <a:noFill/>
          <a:ln w="9525" cap="flat" cmpd="sng">
            <a:solidFill>
              <a:srgbClr val="243452"/>
            </a:solidFill>
            <a:prstDash val="solid"/>
            <a:round/>
            <a:headEnd type="none" w="sm" len="sm"/>
            <a:tailEnd type="none" w="sm" len="sm"/>
          </a:ln>
        </p:spPr>
      </p:cxnSp>
      <p:sp>
        <p:nvSpPr>
          <p:cNvPr id="360" name="Google Shape;360;p12"/>
          <p:cNvSpPr/>
          <p:nvPr/>
        </p:nvSpPr>
        <p:spPr>
          <a:xfrm>
            <a:off x="4828032" y="1828800"/>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Gaze pair F→O</a:t>
            </a:r>
            <a:endParaRPr sz="850" b="0" i="0" u="none" strike="noStrike" cap="none">
              <a:solidFill>
                <a:schemeClr val="dk1"/>
              </a:solidFill>
              <a:latin typeface="Calibri"/>
              <a:ea typeface="Calibri"/>
              <a:cs typeface="Calibri"/>
              <a:sym typeface="Calibri"/>
            </a:endParaRPr>
          </a:p>
        </p:txBody>
      </p:sp>
      <p:sp>
        <p:nvSpPr>
          <p:cNvPr id="361" name="Google Shape;361;p12"/>
          <p:cNvSpPr/>
          <p:nvPr/>
        </p:nvSpPr>
        <p:spPr>
          <a:xfrm>
            <a:off x="6217920" y="1828800"/>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d=2.0, θ=+28.5°</a:t>
            </a:r>
            <a:endParaRPr sz="900" b="0" i="0" u="none" strike="noStrike" cap="none">
              <a:solidFill>
                <a:schemeClr val="dk1"/>
              </a:solidFill>
              <a:latin typeface="Calibri"/>
              <a:ea typeface="Calibri"/>
              <a:cs typeface="Calibri"/>
              <a:sym typeface="Calibri"/>
            </a:endParaRPr>
          </a:p>
        </p:txBody>
      </p:sp>
      <p:sp>
        <p:nvSpPr>
          <p:cNvPr id="362" name="Google Shape;362;p12"/>
          <p:cNvSpPr/>
          <p:nvPr/>
        </p:nvSpPr>
        <p:spPr>
          <a:xfrm>
            <a:off x="7022592" y="1828800"/>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63" name="Google Shape;363;p12"/>
          <p:cNvSpPr/>
          <p:nvPr/>
        </p:nvSpPr>
        <p:spPr>
          <a:xfrm>
            <a:off x="7827264" y="1828800"/>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O ranked #2 (after C)</a:t>
            </a:r>
            <a:endParaRPr sz="900" b="0" i="0" u="none" strike="noStrike" cap="none">
              <a:solidFill>
                <a:schemeClr val="dk1"/>
              </a:solidFill>
              <a:latin typeface="Calibri"/>
              <a:ea typeface="Calibri"/>
              <a:cs typeface="Calibri"/>
              <a:sym typeface="Calibri"/>
            </a:endParaRPr>
          </a:p>
        </p:txBody>
      </p:sp>
      <p:sp>
        <p:nvSpPr>
          <p:cNvPr id="364" name="Google Shape;364;p12"/>
          <p:cNvSpPr/>
          <p:nvPr/>
        </p:nvSpPr>
        <p:spPr>
          <a:xfrm>
            <a:off x="4828032" y="2340864"/>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Gaze pair O→X</a:t>
            </a:r>
            <a:endParaRPr sz="850" b="0" i="0" u="none" strike="noStrike" cap="none">
              <a:solidFill>
                <a:schemeClr val="dk1"/>
              </a:solidFill>
              <a:latin typeface="Calibri"/>
              <a:ea typeface="Calibri"/>
              <a:cs typeface="Calibri"/>
              <a:sym typeface="Calibri"/>
            </a:endParaRPr>
          </a:p>
        </p:txBody>
      </p:sp>
      <p:sp>
        <p:nvSpPr>
          <p:cNvPr id="365" name="Google Shape;365;p12"/>
          <p:cNvSpPr/>
          <p:nvPr/>
        </p:nvSpPr>
        <p:spPr>
          <a:xfrm>
            <a:off x="6217920" y="2340864"/>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d=1.5, θ=−165.6°</a:t>
            </a:r>
            <a:endParaRPr sz="900" b="0" i="0" u="none" strike="noStrike" cap="none">
              <a:solidFill>
                <a:schemeClr val="dk1"/>
              </a:solidFill>
              <a:latin typeface="Calibri"/>
              <a:ea typeface="Calibri"/>
              <a:cs typeface="Calibri"/>
              <a:sym typeface="Calibri"/>
            </a:endParaRPr>
          </a:p>
        </p:txBody>
      </p:sp>
      <p:sp>
        <p:nvSpPr>
          <p:cNvPr id="366" name="Google Shape;366;p12"/>
          <p:cNvSpPr/>
          <p:nvPr/>
        </p:nvSpPr>
        <p:spPr>
          <a:xfrm>
            <a:off x="7022592" y="2340864"/>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67" name="Google Shape;367;p12"/>
          <p:cNvSpPr/>
          <p:nvPr/>
        </p:nvSpPr>
        <p:spPr>
          <a:xfrm>
            <a:off x="7827264" y="2340864"/>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X ranked #1 — exact angular match</a:t>
            </a:r>
            <a:endParaRPr sz="900" b="0" i="0" u="none" strike="noStrike" cap="none">
              <a:solidFill>
                <a:schemeClr val="dk1"/>
              </a:solidFill>
              <a:latin typeface="Calibri"/>
              <a:ea typeface="Calibri"/>
              <a:cs typeface="Calibri"/>
              <a:sym typeface="Calibri"/>
            </a:endParaRPr>
          </a:p>
        </p:txBody>
      </p:sp>
      <p:sp>
        <p:nvSpPr>
          <p:cNvPr id="368" name="Google Shape;368;p12"/>
          <p:cNvSpPr/>
          <p:nvPr/>
        </p:nvSpPr>
        <p:spPr>
          <a:xfrm>
            <a:off x="4828032" y="2852928"/>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Gaze pair X→Space</a:t>
            </a:r>
            <a:endParaRPr sz="850" b="0" i="0" u="none" strike="noStrike" cap="none">
              <a:solidFill>
                <a:schemeClr val="dk1"/>
              </a:solidFill>
              <a:latin typeface="Calibri"/>
              <a:ea typeface="Calibri"/>
              <a:cs typeface="Calibri"/>
              <a:sym typeface="Calibri"/>
            </a:endParaRPr>
          </a:p>
        </p:txBody>
      </p:sp>
      <p:sp>
        <p:nvSpPr>
          <p:cNvPr id="369" name="Google Shape;369;p12"/>
          <p:cNvSpPr/>
          <p:nvPr/>
        </p:nvSpPr>
        <p:spPr>
          <a:xfrm>
            <a:off x="6217920" y="2852928"/>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d=3.3, θ=+182.0°</a:t>
            </a:r>
            <a:endParaRPr sz="900" b="0" i="0" u="none" strike="noStrike" cap="none">
              <a:solidFill>
                <a:schemeClr val="dk1"/>
              </a:solidFill>
              <a:latin typeface="Calibri"/>
              <a:ea typeface="Calibri"/>
              <a:cs typeface="Calibri"/>
              <a:sym typeface="Calibri"/>
            </a:endParaRPr>
          </a:p>
        </p:txBody>
      </p:sp>
      <p:sp>
        <p:nvSpPr>
          <p:cNvPr id="370" name="Google Shape;370;p12"/>
          <p:cNvSpPr/>
          <p:nvPr/>
        </p:nvSpPr>
        <p:spPr>
          <a:xfrm>
            <a:off x="7022592" y="2852928"/>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71" name="Google Shape;371;p12"/>
          <p:cNvSpPr/>
          <p:nvPr/>
        </p:nvSpPr>
        <p:spPr>
          <a:xfrm>
            <a:off x="7827264" y="2852928"/>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Low lat. → DBSCAN labels Space; word boundary</a:t>
            </a:r>
            <a:endParaRPr sz="900" b="0" i="0" u="none" strike="noStrike" cap="none">
              <a:solidFill>
                <a:schemeClr val="dk1"/>
              </a:solidFill>
              <a:latin typeface="Calibri"/>
              <a:ea typeface="Calibri"/>
              <a:cs typeface="Calibri"/>
              <a:sym typeface="Calibri"/>
            </a:endParaRPr>
          </a:p>
        </p:txBody>
      </p:sp>
      <p:sp>
        <p:nvSpPr>
          <p:cNvPr id="372" name="Google Shape;372;p12"/>
          <p:cNvSpPr/>
          <p:nvPr/>
        </p:nvSpPr>
        <p:spPr>
          <a:xfrm>
            <a:off x="4828032" y="3364992"/>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DBSCAN cluster</a:t>
            </a:r>
            <a:endParaRPr sz="850" b="0" i="0" u="none" strike="noStrike" cap="none">
              <a:solidFill>
                <a:schemeClr val="dk1"/>
              </a:solidFill>
              <a:latin typeface="Calibri"/>
              <a:ea typeface="Calibri"/>
              <a:cs typeface="Calibri"/>
              <a:sym typeface="Calibri"/>
            </a:endParaRPr>
          </a:p>
        </p:txBody>
      </p:sp>
      <p:sp>
        <p:nvSpPr>
          <p:cNvPr id="373" name="Google Shape;373;p12"/>
          <p:cNvSpPr/>
          <p:nvPr/>
        </p:nvSpPr>
        <p:spPr>
          <a:xfrm>
            <a:off x="6217920" y="3364992"/>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ε=0.15, minPts=3</a:t>
            </a:r>
            <a:endParaRPr sz="900" b="0" i="0" u="none" strike="noStrike" cap="none">
              <a:solidFill>
                <a:schemeClr val="dk1"/>
              </a:solidFill>
              <a:latin typeface="Calibri"/>
              <a:ea typeface="Calibri"/>
              <a:cs typeface="Calibri"/>
              <a:sym typeface="Calibri"/>
            </a:endParaRPr>
          </a:p>
        </p:txBody>
      </p:sp>
      <p:sp>
        <p:nvSpPr>
          <p:cNvPr id="374" name="Google Shape;374;p12"/>
          <p:cNvSpPr/>
          <p:nvPr/>
        </p:nvSpPr>
        <p:spPr>
          <a:xfrm>
            <a:off x="7022592" y="3364992"/>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75" name="Google Shape;375;p12"/>
          <p:cNvSpPr/>
          <p:nvPr/>
        </p:nvSpPr>
        <p:spPr>
          <a:xfrm>
            <a:off x="7827264" y="3364992"/>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3 Space presses → 3 words (“the red fox”)</a:t>
            </a:r>
            <a:endParaRPr sz="900" b="0" i="0" u="none" strike="noStrike" cap="none">
              <a:solidFill>
                <a:schemeClr val="dk1"/>
              </a:solidFill>
              <a:latin typeface="Calibri"/>
              <a:ea typeface="Calibri"/>
              <a:cs typeface="Calibri"/>
              <a:sym typeface="Calibri"/>
            </a:endParaRPr>
          </a:p>
        </p:txBody>
      </p:sp>
      <p:sp>
        <p:nvSpPr>
          <p:cNvPr id="376" name="Google Shape;376;p12"/>
          <p:cNvSpPr/>
          <p:nvPr/>
        </p:nvSpPr>
        <p:spPr>
          <a:xfrm>
            <a:off x="4736592" y="3822192"/>
            <a:ext cx="4023360" cy="457200"/>
          </a:xfrm>
          <a:prstGeom prst="roundRect">
            <a:avLst>
              <a:gd name="adj" fmla="val 10000"/>
            </a:avLst>
          </a:prstGeom>
          <a:solidFill>
            <a:schemeClr val="bg1"/>
          </a:solidFill>
          <a:ln w="9525" cap="flat" cmpd="sng">
            <a:solidFill>
              <a:srgbClr val="3FA6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2"/>
          <p:cNvSpPr/>
          <p:nvPr/>
        </p:nvSpPr>
        <p:spPr>
          <a:xfrm>
            <a:off x="4828032" y="3877056"/>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50"/>
              <a:buFont typeface="Calibri"/>
              <a:buNone/>
            </a:pPr>
            <a:r>
              <a:rPr lang="en-US" sz="850" b="1" i="0" u="none" strike="noStrike" cap="none">
                <a:solidFill>
                  <a:srgbClr val="FFFFFF"/>
                </a:solidFill>
                <a:latin typeface="Calibri"/>
                <a:ea typeface="Calibri"/>
                <a:cs typeface="Calibri"/>
                <a:sym typeface="Calibri"/>
              </a:rPr>
              <a:t>WAA word score</a:t>
            </a:r>
            <a:endParaRPr sz="850" b="0" i="0" u="none" strike="noStrike" cap="none">
              <a:solidFill>
                <a:schemeClr val="dk1"/>
              </a:solidFill>
              <a:latin typeface="Calibri"/>
              <a:ea typeface="Calibri"/>
              <a:cs typeface="Calibri"/>
              <a:sym typeface="Calibri"/>
            </a:endParaRPr>
          </a:p>
        </p:txBody>
      </p:sp>
      <p:sp>
        <p:nvSpPr>
          <p:cNvPr id="378" name="Google Shape;378;p12"/>
          <p:cNvSpPr/>
          <p:nvPr/>
        </p:nvSpPr>
        <p:spPr>
          <a:xfrm>
            <a:off x="6217920" y="3877056"/>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W(“fox”)=0.82</a:t>
            </a:r>
            <a:endParaRPr sz="900" b="0" i="0" u="none" strike="noStrike" cap="none">
              <a:solidFill>
                <a:schemeClr val="dk1"/>
              </a:solidFill>
              <a:latin typeface="Calibri"/>
              <a:ea typeface="Calibri"/>
              <a:cs typeface="Calibri"/>
              <a:sym typeface="Calibri"/>
            </a:endParaRPr>
          </a:p>
        </p:txBody>
      </p:sp>
      <p:sp>
        <p:nvSpPr>
          <p:cNvPr id="379" name="Google Shape;379;p12"/>
          <p:cNvSpPr/>
          <p:nvPr/>
        </p:nvSpPr>
        <p:spPr>
          <a:xfrm>
            <a:off x="7022592" y="3877056"/>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380" name="Google Shape;380;p12"/>
          <p:cNvSpPr/>
          <p:nvPr/>
        </p:nvSpPr>
        <p:spPr>
          <a:xfrm>
            <a:off x="7827264" y="3877056"/>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Beats “box” (0.61), “cox” (0.44)</a:t>
            </a:r>
            <a:endParaRPr sz="900" b="0" i="0" u="none" strike="noStrike" cap="none">
              <a:solidFill>
                <a:schemeClr val="dk1"/>
              </a:solidFill>
              <a:latin typeface="Calibri"/>
              <a:ea typeface="Calibri"/>
              <a:cs typeface="Calibri"/>
              <a:sym typeface="Calibri"/>
            </a:endParaRPr>
          </a:p>
        </p:txBody>
      </p:sp>
      <p:sp>
        <p:nvSpPr>
          <p:cNvPr id="381" name="Google Shape;381;p12"/>
          <p:cNvSpPr/>
          <p:nvPr/>
        </p:nvSpPr>
        <p:spPr>
          <a:xfrm>
            <a:off x="4823460" y="4398085"/>
            <a:ext cx="38404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A66A"/>
              </a:buClr>
              <a:buSzPts val="900"/>
              <a:buFont typeface="Calibri"/>
              <a:buNone/>
            </a:pPr>
            <a:r>
              <a:rPr lang="en-US" sz="900" b="0" i="0" u="none" strike="noStrike" cap="none" dirty="0">
                <a:solidFill>
                  <a:srgbClr val="3FA66A"/>
                </a:solidFill>
                <a:latin typeface="Calibri"/>
                <a:ea typeface="Calibri"/>
                <a:cs typeface="Calibri"/>
                <a:sym typeface="Calibri"/>
              </a:rPr>
              <a:t>★  </a:t>
            </a:r>
            <a:r>
              <a:rPr lang="en-US" sz="900" b="0" i="0" u="none" strike="noStrike" cap="none" dirty="0" err="1">
                <a:solidFill>
                  <a:srgbClr val="3FA66A"/>
                </a:solidFill>
                <a:latin typeface="Calibri"/>
                <a:ea typeface="Calibri"/>
                <a:cs typeface="Calibri"/>
                <a:sym typeface="Calibri"/>
              </a:rPr>
              <a:t>BackTree</a:t>
            </a:r>
            <a:r>
              <a:rPr lang="en-US" sz="900" b="0" i="0" u="none" strike="noStrike" cap="none" dirty="0">
                <a:solidFill>
                  <a:srgbClr val="3FA66A"/>
                </a:solidFill>
                <a:latin typeface="Calibri"/>
                <a:ea typeface="Calibri"/>
                <a:cs typeface="Calibri"/>
                <a:sym typeface="Calibri"/>
              </a:rPr>
              <a:t> </a:t>
            </a:r>
            <a:r>
              <a:rPr lang="en-US" sz="900" dirty="0">
                <a:solidFill>
                  <a:srgbClr val="3FA66A"/>
                </a:solidFill>
                <a:latin typeface="Calibri"/>
                <a:ea typeface="Calibri"/>
                <a:cs typeface="Calibri"/>
                <a:sym typeface="Calibri"/>
              </a:rPr>
              <a:t>angle</a:t>
            </a:r>
            <a:r>
              <a:rPr lang="en-US" sz="900" b="0" i="0" u="none" strike="noStrike" cap="none" dirty="0">
                <a:solidFill>
                  <a:srgbClr val="3FA66A"/>
                </a:solidFill>
                <a:latin typeface="Calibri"/>
                <a:ea typeface="Calibri"/>
                <a:cs typeface="Calibri"/>
                <a:sym typeface="Calibri"/>
              </a:rPr>
              <a:t> error |</a:t>
            </a:r>
            <a:r>
              <a:rPr lang="en-US" sz="900" b="0" i="0" u="none" strike="noStrike" cap="none" dirty="0" err="1">
                <a:solidFill>
                  <a:srgbClr val="3FA66A"/>
                </a:solidFill>
                <a:latin typeface="Calibri"/>
                <a:ea typeface="Calibri"/>
                <a:cs typeface="Calibri"/>
                <a:sym typeface="Calibri"/>
              </a:rPr>
              <a:t>δθ</a:t>
            </a:r>
            <a:r>
              <a:rPr lang="en-US" sz="900" b="0" i="0" u="none" strike="noStrike" cap="none" dirty="0">
                <a:solidFill>
                  <a:srgbClr val="3FA66A"/>
                </a:solidFill>
                <a:latin typeface="Calibri"/>
                <a:ea typeface="Calibri"/>
                <a:cs typeface="Calibri"/>
                <a:sym typeface="Calibri"/>
              </a:rPr>
              <a:t>| drives </a:t>
            </a:r>
            <a:r>
              <a:rPr lang="en-US" sz="900" dirty="0">
                <a:solidFill>
                  <a:srgbClr val="3FA66A"/>
                </a:solidFill>
                <a:latin typeface="Calibri"/>
                <a:ea typeface="Calibri"/>
                <a:cs typeface="Calibri"/>
                <a:sym typeface="Calibri"/>
              </a:rPr>
              <a:t>Stage 5</a:t>
            </a:r>
            <a:r>
              <a:rPr lang="en-US" sz="900" b="0" i="0" u="none" strike="noStrike" cap="none" dirty="0">
                <a:solidFill>
                  <a:srgbClr val="3FA66A"/>
                </a:solidFill>
                <a:latin typeface="Calibri"/>
                <a:ea typeface="Calibri"/>
                <a:cs typeface="Calibri"/>
                <a:sym typeface="Calibri"/>
              </a:rPr>
              <a:t>; DBSCAN drives Stage 6</a:t>
            </a:r>
            <a:r>
              <a:rPr lang="en-US" sz="900" dirty="0">
                <a:solidFill>
                  <a:srgbClr val="3FA66A"/>
                </a:solidFill>
                <a:latin typeface="Calibri"/>
                <a:ea typeface="Calibri"/>
                <a:cs typeface="Calibri"/>
                <a:sym typeface="Calibri"/>
              </a:rPr>
              <a:t>; WAA</a:t>
            </a:r>
            <a:r>
              <a:rPr lang="en-US" sz="900" b="0" i="0" u="none" strike="noStrike" cap="none" dirty="0">
                <a:solidFill>
                  <a:srgbClr val="3FA66A"/>
                </a:solidFill>
                <a:latin typeface="Calibri"/>
                <a:ea typeface="Calibri"/>
                <a:cs typeface="Calibri"/>
                <a:sym typeface="Calibri"/>
              </a:rPr>
              <a:t> score drives Stage 7 — final word output.</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9"/>
        <p:cNvGrpSpPr/>
        <p:nvPr/>
      </p:nvGrpSpPr>
      <p:grpSpPr>
        <a:xfrm>
          <a:off x="0" y="0"/>
          <a:ext cx="0" cy="0"/>
          <a:chOff x="0" y="0"/>
          <a:chExt cx="0" cy="0"/>
        </a:xfrm>
      </p:grpSpPr>
      <p:sp>
        <p:nvSpPr>
          <p:cNvPr id="420" name="Google Shape;420;p14"/>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IMPLEMENTATION &amp; VERIFICATION · §5</a:t>
            </a:r>
            <a:endParaRPr sz="900" b="0" i="0" u="none" strike="noStrike" cap="none" dirty="0">
              <a:solidFill>
                <a:schemeClr val="dk1"/>
              </a:solidFill>
              <a:latin typeface="Calibri"/>
              <a:ea typeface="Calibri"/>
              <a:cs typeface="Calibri"/>
              <a:sym typeface="Calibri"/>
            </a:endParaRPr>
          </a:p>
        </p:txBody>
      </p:sp>
      <p:sp>
        <p:nvSpPr>
          <p:cNvPr id="421" name="Google Shape;421;p14"/>
          <p:cNvSpPr/>
          <p:nvPr/>
        </p:nvSpPr>
        <p:spPr>
          <a:xfrm>
            <a:off x="365760" y="420624"/>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800" b="1" i="0" u="none" strike="noStrike" cap="none">
                <a:solidFill>
                  <a:srgbClr val="16202E"/>
                </a:solidFill>
                <a:latin typeface="Calibri"/>
                <a:ea typeface="Calibri"/>
                <a:cs typeface="Calibri"/>
                <a:sym typeface="Calibri"/>
              </a:rPr>
              <a:t>Verification: word inference accuracy across word lengths</a:t>
            </a:r>
            <a:endParaRPr sz="2800" b="0" i="0" u="none" strike="noStrike" cap="none">
              <a:solidFill>
                <a:schemeClr val="dk1"/>
              </a:solidFill>
              <a:latin typeface="Calibri"/>
              <a:ea typeface="Calibri"/>
              <a:cs typeface="Calibri"/>
              <a:sym typeface="Calibri"/>
            </a:endParaRPr>
          </a:p>
        </p:txBody>
      </p:sp>
      <p:sp>
        <p:nvSpPr>
          <p:cNvPr id="422" name="Google Shape;422;p14"/>
          <p:cNvSpPr/>
          <p:nvPr/>
        </p:nvSpPr>
        <p:spPr>
          <a:xfrm>
            <a:off x="365760" y="4846320"/>
            <a:ext cx="4572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IMPLEMENTATION &amp; VERIFICATION</a:t>
            </a:r>
            <a:endParaRPr sz="700" b="0" i="0" u="none" strike="noStrike" cap="none">
              <a:solidFill>
                <a:schemeClr val="dk1"/>
              </a:solidFill>
              <a:latin typeface="Calibri"/>
              <a:ea typeface="Calibri"/>
              <a:cs typeface="Calibri"/>
              <a:sym typeface="Calibri"/>
            </a:endParaRPr>
          </a:p>
        </p:txBody>
      </p:sp>
      <p:sp>
        <p:nvSpPr>
          <p:cNvPr id="423" name="Google Shape;423;p14"/>
          <p:cNvSpPr/>
          <p:nvPr/>
        </p:nvSpPr>
        <p:spPr>
          <a:xfrm>
            <a:off x="4572000" y="4846320"/>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15</a:t>
            </a:r>
            <a:endParaRPr sz="700" b="0" i="0" u="none" strike="noStrike" cap="none">
              <a:solidFill>
                <a:schemeClr val="dk1"/>
              </a:solidFill>
              <a:latin typeface="Calibri"/>
              <a:ea typeface="Calibri"/>
              <a:cs typeface="Calibri"/>
              <a:sym typeface="Calibri"/>
            </a:endParaRPr>
          </a:p>
        </p:txBody>
      </p:sp>
      <p:sp>
        <p:nvSpPr>
          <p:cNvPr id="424" name="Google Shape;424;p14"/>
          <p:cNvSpPr/>
          <p:nvPr/>
        </p:nvSpPr>
        <p:spPr>
          <a:xfrm>
            <a:off x="320040" y="1115568"/>
            <a:ext cx="2011680" cy="1417320"/>
          </a:xfrm>
          <a:prstGeom prst="roundRect">
            <a:avLst>
              <a:gd name="adj" fmla="val 6452"/>
            </a:avLst>
          </a:prstGeom>
          <a:solidFill>
            <a:srgbClr val="F5A623"/>
          </a:solidFill>
          <a:ln w="9525"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4"/>
          <p:cNvSpPr/>
          <p:nvPr/>
        </p:nvSpPr>
        <p:spPr>
          <a:xfrm>
            <a:off x="320040" y="1207008"/>
            <a:ext cx="20116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3600"/>
              <a:buFont typeface="Calibri"/>
              <a:buNone/>
            </a:pPr>
            <a:r>
              <a:rPr lang="en-US" sz="3600" b="1" i="0" u="none" strike="noStrike" cap="none">
                <a:solidFill>
                  <a:srgbClr val="0E1726"/>
                </a:solidFill>
                <a:latin typeface="Calibri"/>
                <a:ea typeface="Calibri"/>
                <a:cs typeface="Calibri"/>
                <a:sym typeface="Calibri"/>
              </a:rPr>
              <a:t>55.2%</a:t>
            </a:r>
            <a:endParaRPr sz="3600" b="0" i="0" u="none" strike="noStrike" cap="none">
              <a:solidFill>
                <a:schemeClr val="dk1"/>
              </a:solidFill>
              <a:latin typeface="Calibri"/>
              <a:ea typeface="Calibri"/>
              <a:cs typeface="Calibri"/>
              <a:sym typeface="Calibri"/>
            </a:endParaRPr>
          </a:p>
        </p:txBody>
      </p:sp>
      <p:sp>
        <p:nvSpPr>
          <p:cNvPr id="426" name="Google Shape;426;p14"/>
          <p:cNvSpPr/>
          <p:nvPr/>
        </p:nvSpPr>
        <p:spPr>
          <a:xfrm>
            <a:off x="320040" y="1938528"/>
            <a:ext cx="201168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1000"/>
              <a:buFont typeface="Calibri"/>
              <a:buNone/>
            </a:pPr>
            <a:r>
              <a:rPr lang="en-US" sz="1000" b="0" i="0" u="none" strike="noStrike" cap="none">
                <a:solidFill>
                  <a:srgbClr val="16202E"/>
                </a:solidFill>
                <a:latin typeface="Calibri"/>
                <a:ea typeface="Calibri"/>
                <a:cs typeface="Calibri"/>
                <a:sym typeface="Calibri"/>
              </a:rPr>
              <a:t>avg Top-1</a:t>
            </a:r>
            <a:endParaRPr sz="1000" b="0" i="0" u="none" strike="noStrike" cap="none">
              <a:solidFill>
                <a:schemeClr val="dk1"/>
              </a:solidFill>
              <a:latin typeface="Calibri"/>
              <a:ea typeface="Calibri"/>
              <a:cs typeface="Calibri"/>
              <a:sym typeface="Calibri"/>
            </a:endParaRPr>
          </a:p>
        </p:txBody>
      </p:sp>
      <p:pic>
        <p:nvPicPr>
          <p:cNvPr id="427" name="Google Shape;427;p14"/>
          <p:cNvPicPr preferRelativeResize="0"/>
          <p:nvPr/>
        </p:nvPicPr>
        <p:blipFill rotWithShape="1">
          <a:blip r:embed="rId3">
            <a:alphaModFix/>
          </a:blip>
          <a:srcRect/>
          <a:stretch/>
        </p:blipFill>
        <p:spPr>
          <a:xfrm>
            <a:off x="2468880" y="1051560"/>
            <a:ext cx="6400800" cy="2468880"/>
          </a:xfrm>
          <a:prstGeom prst="rect">
            <a:avLst/>
          </a:prstGeom>
          <a:noFill/>
          <a:ln>
            <a:noFill/>
          </a:ln>
        </p:spPr>
      </p:pic>
      <p:sp>
        <p:nvSpPr>
          <p:cNvPr id="428" name="Google Shape;428;p14"/>
          <p:cNvSpPr/>
          <p:nvPr/>
        </p:nvSpPr>
        <p:spPr>
          <a:xfrm>
            <a:off x="320040" y="2670048"/>
            <a:ext cx="2011680" cy="2176272"/>
          </a:xfrm>
          <a:prstGeom prst="roundRect">
            <a:avLst>
              <a:gd name="adj" fmla="val 3636"/>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4"/>
          <p:cNvSpPr/>
          <p:nvPr/>
        </p:nvSpPr>
        <p:spPr>
          <a:xfrm>
            <a:off x="457200" y="2743200"/>
            <a:ext cx="17373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a:solidFill>
                  <a:srgbClr val="16202E"/>
                </a:solidFill>
                <a:latin typeface="Calibri"/>
                <a:ea typeface="Calibri"/>
                <a:cs typeface="Calibri"/>
                <a:sym typeface="Calibri"/>
              </a:rPr>
              <a:t>Reading the chart</a:t>
            </a:r>
            <a:endParaRPr sz="1000" b="0" i="0" u="none" strike="noStrike" cap="none">
              <a:solidFill>
                <a:schemeClr val="dk1"/>
              </a:solidFill>
              <a:latin typeface="Calibri"/>
              <a:ea typeface="Calibri"/>
              <a:cs typeface="Calibri"/>
              <a:sym typeface="Calibri"/>
            </a:endParaRPr>
          </a:p>
        </p:txBody>
      </p:sp>
      <p:pic>
        <p:nvPicPr>
          <p:cNvPr id="430" name="Google Shape;430;p14" descr="preencoded.png"/>
          <p:cNvPicPr preferRelativeResize="0"/>
          <p:nvPr/>
        </p:nvPicPr>
        <p:blipFill rotWithShape="1">
          <a:blip r:embed="rId4">
            <a:alphaModFix/>
          </a:blip>
          <a:srcRect/>
          <a:stretch/>
        </p:blipFill>
        <p:spPr>
          <a:xfrm>
            <a:off x="457200" y="2999232"/>
            <a:ext cx="164592" cy="164592"/>
          </a:xfrm>
          <a:prstGeom prst="rect">
            <a:avLst/>
          </a:prstGeom>
          <a:noFill/>
          <a:ln>
            <a:noFill/>
          </a:ln>
        </p:spPr>
      </p:pic>
      <p:sp>
        <p:nvSpPr>
          <p:cNvPr id="431" name="Google Shape;431;p14"/>
          <p:cNvSpPr/>
          <p:nvPr/>
        </p:nvSpPr>
        <p:spPr>
          <a:xfrm>
            <a:off x="676656" y="2999232"/>
            <a:ext cx="157276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Shorter words are easier</a:t>
            </a:r>
            <a:r>
              <a:rPr lang="en-US" sz="850">
                <a:solidFill>
                  <a:srgbClr val="5C6B82"/>
                </a:solidFill>
                <a:latin typeface="Calibri"/>
                <a:ea typeface="Calibri"/>
                <a:cs typeface="Calibri"/>
                <a:sym typeface="Calibri"/>
              </a:rPr>
              <a:t>—65%</a:t>
            </a:r>
            <a:r>
              <a:rPr lang="en-US" sz="850" b="0" i="0" u="none" strike="noStrike" cap="none">
                <a:solidFill>
                  <a:srgbClr val="5C6B82"/>
                </a:solidFill>
                <a:latin typeface="Calibri"/>
                <a:ea typeface="Calibri"/>
                <a:cs typeface="Calibri"/>
                <a:sym typeface="Calibri"/>
              </a:rPr>
              <a:t> </a:t>
            </a:r>
            <a:r>
              <a:rPr lang="en-US" sz="850">
                <a:solidFill>
                  <a:srgbClr val="5C6B82"/>
                </a:solidFill>
                <a:latin typeface="Calibri"/>
                <a:ea typeface="Calibri"/>
                <a:cs typeface="Calibri"/>
                <a:sym typeface="Calibri"/>
              </a:rPr>
              <a:t>top-1</a:t>
            </a:r>
            <a:r>
              <a:rPr lang="en-US" sz="850" b="0" i="0" u="none" strike="noStrike" cap="none">
                <a:solidFill>
                  <a:srgbClr val="5C6B82"/>
                </a:solidFill>
                <a:latin typeface="Calibri"/>
                <a:ea typeface="Calibri"/>
                <a:cs typeface="Calibri"/>
                <a:sym typeface="Calibri"/>
              </a:rPr>
              <a:t> at 3 letters, falling to 41% at 6.</a:t>
            </a:r>
            <a:endParaRPr sz="850" b="0" i="0" u="none" strike="noStrike" cap="none">
              <a:solidFill>
                <a:schemeClr val="dk1"/>
              </a:solidFill>
              <a:latin typeface="Calibri"/>
              <a:ea typeface="Calibri"/>
              <a:cs typeface="Calibri"/>
              <a:sym typeface="Calibri"/>
            </a:endParaRPr>
          </a:p>
        </p:txBody>
      </p:sp>
      <p:pic>
        <p:nvPicPr>
          <p:cNvPr id="432" name="Google Shape;432;p14" descr="preencoded.png"/>
          <p:cNvPicPr preferRelativeResize="0"/>
          <p:nvPr/>
        </p:nvPicPr>
        <p:blipFill rotWithShape="1">
          <a:blip r:embed="rId4">
            <a:alphaModFix/>
          </a:blip>
          <a:srcRect/>
          <a:stretch/>
        </p:blipFill>
        <p:spPr>
          <a:xfrm>
            <a:off x="457200" y="3419856"/>
            <a:ext cx="164592" cy="164592"/>
          </a:xfrm>
          <a:prstGeom prst="rect">
            <a:avLst/>
          </a:prstGeom>
          <a:noFill/>
          <a:ln>
            <a:noFill/>
          </a:ln>
        </p:spPr>
      </p:pic>
      <p:sp>
        <p:nvSpPr>
          <p:cNvPr id="433" name="Google Shape;433;p14"/>
          <p:cNvSpPr/>
          <p:nvPr/>
        </p:nvSpPr>
        <p:spPr>
          <a:xfrm>
            <a:off x="676656" y="3419856"/>
            <a:ext cx="157276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Loosening to </a:t>
            </a:r>
            <a:r>
              <a:rPr lang="en-US" sz="850">
                <a:solidFill>
                  <a:srgbClr val="5C6B82"/>
                </a:solidFill>
                <a:latin typeface="Calibri"/>
                <a:ea typeface="Calibri"/>
                <a:cs typeface="Calibri"/>
                <a:sym typeface="Calibri"/>
              </a:rPr>
              <a:t>top-10%</a:t>
            </a:r>
            <a:r>
              <a:rPr lang="en-US" sz="850" b="0" i="0" u="none" strike="noStrike" cap="none">
                <a:solidFill>
                  <a:srgbClr val="5C6B82"/>
                </a:solidFill>
                <a:latin typeface="Calibri"/>
                <a:ea typeface="Calibri"/>
                <a:cs typeface="Calibri"/>
                <a:sym typeface="Calibri"/>
              </a:rPr>
              <a:t> lifts every length to ≈ 70%+.</a:t>
            </a:r>
            <a:endParaRPr sz="850" b="0" i="0" u="none" strike="noStrike" cap="none">
              <a:solidFill>
                <a:schemeClr val="dk1"/>
              </a:solidFill>
              <a:latin typeface="Calibri"/>
              <a:ea typeface="Calibri"/>
              <a:cs typeface="Calibri"/>
              <a:sym typeface="Calibri"/>
            </a:endParaRPr>
          </a:p>
        </p:txBody>
      </p:sp>
      <p:pic>
        <p:nvPicPr>
          <p:cNvPr id="434" name="Google Shape;434;p14" descr="preencoded.png"/>
          <p:cNvPicPr preferRelativeResize="0"/>
          <p:nvPr/>
        </p:nvPicPr>
        <p:blipFill rotWithShape="1">
          <a:blip r:embed="rId4">
            <a:alphaModFix/>
          </a:blip>
          <a:srcRect/>
          <a:stretch/>
        </p:blipFill>
        <p:spPr>
          <a:xfrm>
            <a:off x="457200" y="3840480"/>
            <a:ext cx="164592" cy="164592"/>
          </a:xfrm>
          <a:prstGeom prst="rect">
            <a:avLst/>
          </a:prstGeom>
          <a:noFill/>
          <a:ln>
            <a:noFill/>
          </a:ln>
        </p:spPr>
      </p:pic>
      <p:sp>
        <p:nvSpPr>
          <p:cNvPr id="435" name="Google Shape;435;p14"/>
          <p:cNvSpPr/>
          <p:nvPr/>
        </p:nvSpPr>
        <p:spPr>
          <a:xfrm>
            <a:off x="676656" y="3840480"/>
            <a:ext cx="157276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 166 candidate words on average, yet 62% land within ≈ 8 candidates.</a:t>
            </a:r>
            <a:endParaRPr sz="850" b="0" i="0" u="none" strike="noStrike" cap="none">
              <a:solidFill>
                <a:schemeClr val="dk1"/>
              </a:solidFill>
              <a:latin typeface="Calibri"/>
              <a:ea typeface="Calibri"/>
              <a:cs typeface="Calibri"/>
              <a:sym typeface="Calibri"/>
            </a:endParaRPr>
          </a:p>
        </p:txBody>
      </p:sp>
      <p:pic>
        <p:nvPicPr>
          <p:cNvPr id="436" name="Google Shape;436;p14" descr="preencoded.png"/>
          <p:cNvPicPr preferRelativeResize="0"/>
          <p:nvPr/>
        </p:nvPicPr>
        <p:blipFill rotWithShape="1">
          <a:blip r:embed="rId4">
            <a:alphaModFix/>
          </a:blip>
          <a:srcRect/>
          <a:stretch/>
        </p:blipFill>
        <p:spPr>
          <a:xfrm>
            <a:off x="457200" y="4261104"/>
            <a:ext cx="164592" cy="164592"/>
          </a:xfrm>
          <a:prstGeom prst="rect">
            <a:avLst/>
          </a:prstGeom>
          <a:noFill/>
          <a:ln>
            <a:noFill/>
          </a:ln>
        </p:spPr>
      </p:pic>
      <p:sp>
        <p:nvSpPr>
          <p:cNvPr id="437" name="Google Shape;437;p14"/>
          <p:cNvSpPr/>
          <p:nvPr/>
        </p:nvSpPr>
        <p:spPr>
          <a:xfrm>
            <a:off x="676656" y="4261104"/>
            <a:ext cx="1572768"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All with no per-victim training.</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2"/>
        <p:cNvGrpSpPr/>
        <p:nvPr/>
      </p:nvGrpSpPr>
      <p:grpSpPr>
        <a:xfrm>
          <a:off x="0" y="0"/>
          <a:ext cx="0" cy="0"/>
          <a:chOff x="0" y="0"/>
          <a:chExt cx="0" cy="0"/>
        </a:xfrm>
      </p:grpSpPr>
      <p:sp>
        <p:nvSpPr>
          <p:cNvPr id="443" name="Google Shape;443;p15"/>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IMPLEMENTATION &amp; VERIFICATION · §5</a:t>
            </a:r>
            <a:endParaRPr sz="900" b="0" i="0" u="none" strike="noStrike" cap="none" dirty="0">
              <a:solidFill>
                <a:schemeClr val="dk1"/>
              </a:solidFill>
              <a:latin typeface="Calibri"/>
              <a:ea typeface="Calibri"/>
              <a:cs typeface="Calibri"/>
              <a:sym typeface="Calibri"/>
            </a:endParaRPr>
          </a:p>
        </p:txBody>
      </p:sp>
      <p:sp>
        <p:nvSpPr>
          <p:cNvPr id="444" name="Google Shape;444;p15"/>
          <p:cNvSpPr/>
          <p:nvPr/>
        </p:nvSpPr>
        <p:spPr>
          <a:xfrm>
            <a:off x="365760" y="421200"/>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Verification: sentences, postures &amp; decoy-chaffing benchmarks</a:t>
            </a:r>
            <a:endParaRPr sz="2400" b="0" i="0" u="none" strike="noStrike" cap="none" dirty="0">
              <a:solidFill>
                <a:schemeClr val="dk1"/>
              </a:solidFill>
              <a:latin typeface="Calibri"/>
              <a:ea typeface="Calibri"/>
              <a:cs typeface="Calibri"/>
              <a:sym typeface="Calibri"/>
            </a:endParaRPr>
          </a:p>
        </p:txBody>
      </p:sp>
      <p:sp>
        <p:nvSpPr>
          <p:cNvPr id="445" name="Google Shape;445;p15"/>
          <p:cNvSpPr/>
          <p:nvPr/>
        </p:nvSpPr>
        <p:spPr>
          <a:xfrm>
            <a:off x="365760" y="4846320"/>
            <a:ext cx="4572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IMPLEMENTATION &amp; VERIFICATION</a:t>
            </a:r>
            <a:endParaRPr sz="700" b="0" i="0" u="none" strike="noStrike" cap="none">
              <a:solidFill>
                <a:schemeClr val="dk1"/>
              </a:solidFill>
              <a:latin typeface="Calibri"/>
              <a:ea typeface="Calibri"/>
              <a:cs typeface="Calibri"/>
              <a:sym typeface="Calibri"/>
            </a:endParaRPr>
          </a:p>
        </p:txBody>
      </p:sp>
      <p:sp>
        <p:nvSpPr>
          <p:cNvPr id="446" name="Google Shape;446;p15"/>
          <p:cNvSpPr/>
          <p:nvPr/>
        </p:nvSpPr>
        <p:spPr>
          <a:xfrm>
            <a:off x="4572000" y="4846320"/>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16</a:t>
            </a:r>
            <a:endParaRPr sz="700" b="0" i="0" u="none" strike="noStrike" cap="none">
              <a:solidFill>
                <a:schemeClr val="dk1"/>
              </a:solidFill>
              <a:latin typeface="Calibri"/>
              <a:ea typeface="Calibri"/>
              <a:cs typeface="Calibri"/>
              <a:sym typeface="Calibri"/>
            </a:endParaRPr>
          </a:p>
        </p:txBody>
      </p:sp>
      <p:sp>
        <p:nvSpPr>
          <p:cNvPr id="447" name="Google Shape;447;p15"/>
          <p:cNvSpPr/>
          <p:nvPr/>
        </p:nvSpPr>
        <p:spPr>
          <a:xfrm>
            <a:off x="320040" y="1115568"/>
            <a:ext cx="2377440" cy="1188720"/>
          </a:xfrm>
          <a:prstGeom prst="roundRect">
            <a:avLst>
              <a:gd name="adj" fmla="val 7692"/>
            </a:avLst>
          </a:prstGeom>
          <a:solidFill>
            <a:srgbClr val="F5A623"/>
          </a:solidFill>
          <a:ln w="9525"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5"/>
          <p:cNvSpPr/>
          <p:nvPr/>
        </p:nvSpPr>
        <p:spPr>
          <a:xfrm>
            <a:off x="320040" y="1188720"/>
            <a:ext cx="2377440" cy="7132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3600"/>
              <a:buFont typeface="Calibri"/>
              <a:buNone/>
            </a:pPr>
            <a:r>
              <a:rPr lang="en-US" sz="3600" b="1" i="0" u="none" strike="noStrike" cap="none">
                <a:solidFill>
                  <a:srgbClr val="0E1726"/>
                </a:solidFill>
                <a:latin typeface="Calibri"/>
                <a:ea typeface="Calibri"/>
                <a:cs typeface="Calibri"/>
                <a:sym typeface="Calibri"/>
              </a:rPr>
              <a:t>68.8%</a:t>
            </a:r>
            <a:endParaRPr sz="3600" b="0" i="0" u="none" strike="noStrike" cap="none">
              <a:solidFill>
                <a:schemeClr val="dk1"/>
              </a:solidFill>
              <a:latin typeface="Calibri"/>
              <a:ea typeface="Calibri"/>
              <a:cs typeface="Calibri"/>
              <a:sym typeface="Calibri"/>
            </a:endParaRPr>
          </a:p>
        </p:txBody>
      </p:sp>
      <p:sp>
        <p:nvSpPr>
          <p:cNvPr id="449" name="Google Shape;449;p15"/>
          <p:cNvSpPr/>
          <p:nvPr/>
        </p:nvSpPr>
        <p:spPr>
          <a:xfrm>
            <a:off x="320040" y="1901952"/>
            <a:ext cx="23774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950"/>
              <a:buFont typeface="Calibri"/>
              <a:buNone/>
            </a:pPr>
            <a:r>
              <a:rPr lang="en-US" sz="950" b="0" i="0" u="none" strike="noStrike" cap="none">
                <a:solidFill>
                  <a:srgbClr val="16202E"/>
                </a:solidFill>
                <a:latin typeface="Calibri"/>
                <a:ea typeface="Calibri"/>
                <a:cs typeface="Calibri"/>
                <a:sym typeface="Calibri"/>
              </a:rPr>
              <a:t>avg Top-1 WAA</a:t>
            </a:r>
            <a:endParaRPr sz="950" b="0" i="0" u="none" strike="noStrike" cap="none">
              <a:solidFill>
                <a:schemeClr val="dk1"/>
              </a:solidFill>
              <a:latin typeface="Calibri"/>
              <a:ea typeface="Calibri"/>
              <a:cs typeface="Calibri"/>
              <a:sym typeface="Calibri"/>
            </a:endParaRPr>
          </a:p>
        </p:txBody>
      </p:sp>
      <p:sp>
        <p:nvSpPr>
          <p:cNvPr id="450" name="Google Shape;450;p15"/>
          <p:cNvSpPr/>
          <p:nvPr/>
        </p:nvSpPr>
        <p:spPr>
          <a:xfrm>
            <a:off x="2834640" y="1115568"/>
            <a:ext cx="598932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1000"/>
              <a:buFont typeface="Calibri"/>
              <a:buNone/>
            </a:pPr>
            <a:r>
              <a:rPr lang="en-US" sz="1000" b="0" i="0" u="none" strike="noStrike" cap="none">
                <a:solidFill>
                  <a:srgbClr val="5C6B82"/>
                </a:solidFill>
                <a:latin typeface="Calibri"/>
                <a:ea typeface="Calibri"/>
                <a:cs typeface="Calibri"/>
                <a:sym typeface="Calibri"/>
              </a:rPr>
              <a:t>Higher than per-word accuracy — segmenting on spaces lets each word be inferred cleanly, so errors don't propagate. WAA stays 0.65–0.71 across 3–6-word sentences.</a:t>
            </a:r>
            <a:endParaRPr sz="1000" b="0" i="0" u="none" strike="noStrike" cap="none">
              <a:solidFill>
                <a:schemeClr val="dk1"/>
              </a:solidFill>
              <a:latin typeface="Calibri"/>
              <a:ea typeface="Calibri"/>
              <a:cs typeface="Calibri"/>
              <a:sym typeface="Calibri"/>
            </a:endParaRPr>
          </a:p>
        </p:txBody>
      </p:sp>
      <p:sp>
        <p:nvSpPr>
          <p:cNvPr id="451" name="Google Shape;451;p15"/>
          <p:cNvSpPr/>
          <p:nvPr/>
        </p:nvSpPr>
        <p:spPr>
          <a:xfrm>
            <a:off x="2834640" y="1828800"/>
            <a:ext cx="5989320" cy="1417320"/>
          </a:xfrm>
          <a:prstGeom prst="roundRect">
            <a:avLst>
              <a:gd name="adj" fmla="val 5161"/>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5"/>
          <p:cNvSpPr/>
          <p:nvPr/>
        </p:nvSpPr>
        <p:spPr>
          <a:xfrm>
            <a:off x="2999232" y="1901952"/>
            <a:ext cx="56692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a:solidFill>
                  <a:srgbClr val="16202E"/>
                </a:solidFill>
                <a:latin typeface="Calibri"/>
                <a:ea typeface="Calibri"/>
                <a:cs typeface="Calibri"/>
                <a:sym typeface="Calibri"/>
              </a:rPr>
              <a:t>Robust across postures (Top-1)</a:t>
            </a:r>
            <a:endParaRPr sz="1000" b="0" i="0" u="none" strike="noStrike" cap="none">
              <a:solidFill>
                <a:schemeClr val="dk1"/>
              </a:solidFill>
              <a:latin typeface="Calibri"/>
              <a:ea typeface="Calibri"/>
              <a:cs typeface="Calibri"/>
              <a:sym typeface="Calibri"/>
            </a:endParaRPr>
          </a:p>
        </p:txBody>
      </p:sp>
      <p:sp>
        <p:nvSpPr>
          <p:cNvPr id="453" name="Google Shape;453;p15"/>
          <p:cNvSpPr/>
          <p:nvPr/>
        </p:nvSpPr>
        <p:spPr>
          <a:xfrm>
            <a:off x="2999232" y="2157984"/>
            <a:ext cx="182880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Sitting</a:t>
            </a:r>
            <a:endParaRPr sz="900" b="0" i="0" u="none" strike="noStrike" cap="none">
              <a:solidFill>
                <a:schemeClr val="dk1"/>
              </a:solidFill>
              <a:latin typeface="Calibri"/>
              <a:ea typeface="Calibri"/>
              <a:cs typeface="Calibri"/>
              <a:sym typeface="Calibri"/>
            </a:endParaRPr>
          </a:p>
        </p:txBody>
      </p:sp>
      <p:sp>
        <p:nvSpPr>
          <p:cNvPr id="454" name="Google Shape;454;p15"/>
          <p:cNvSpPr/>
          <p:nvPr/>
        </p:nvSpPr>
        <p:spPr>
          <a:xfrm>
            <a:off x="2999232" y="2377440"/>
            <a:ext cx="1132759" cy="329184"/>
          </a:xfrm>
          <a:prstGeom prst="roundRect">
            <a:avLst>
              <a:gd name="adj" fmla="val 11111"/>
            </a:avLst>
          </a:prstGeom>
          <a:solidFill>
            <a:srgbClr val="F5A623"/>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5"/>
          <p:cNvSpPr/>
          <p:nvPr/>
        </p:nvSpPr>
        <p:spPr>
          <a:xfrm>
            <a:off x="4177711" y="2395728"/>
            <a:ext cx="4572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950"/>
              <a:buFont typeface="Calibri"/>
              <a:buNone/>
            </a:pPr>
            <a:r>
              <a:rPr lang="en-US" sz="950" b="1" i="0" u="none" strike="noStrike" cap="none">
                <a:solidFill>
                  <a:srgbClr val="16202E"/>
                </a:solidFill>
                <a:latin typeface="Calibri"/>
                <a:ea typeface="Calibri"/>
                <a:cs typeface="Calibri"/>
                <a:sym typeface="Calibri"/>
              </a:rPr>
              <a:t>65.2%</a:t>
            </a:r>
            <a:endParaRPr sz="950" b="0" i="0" u="none" strike="noStrike" cap="none">
              <a:solidFill>
                <a:schemeClr val="dk1"/>
              </a:solidFill>
              <a:latin typeface="Calibri"/>
              <a:ea typeface="Calibri"/>
              <a:cs typeface="Calibri"/>
              <a:sym typeface="Calibri"/>
            </a:endParaRPr>
          </a:p>
        </p:txBody>
      </p:sp>
      <p:sp>
        <p:nvSpPr>
          <p:cNvPr id="456" name="Google Shape;456;p15"/>
          <p:cNvSpPr/>
          <p:nvPr/>
        </p:nvSpPr>
        <p:spPr>
          <a:xfrm>
            <a:off x="4965192" y="2157984"/>
            <a:ext cx="182880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Standing</a:t>
            </a:r>
            <a:endParaRPr sz="900" b="0" i="0" u="none" strike="noStrike" cap="none">
              <a:solidFill>
                <a:schemeClr val="dk1"/>
              </a:solidFill>
              <a:latin typeface="Calibri"/>
              <a:ea typeface="Calibri"/>
              <a:cs typeface="Calibri"/>
              <a:sym typeface="Calibri"/>
            </a:endParaRPr>
          </a:p>
        </p:txBody>
      </p:sp>
      <p:sp>
        <p:nvSpPr>
          <p:cNvPr id="457" name="Google Shape;457;p15"/>
          <p:cNvSpPr/>
          <p:nvPr/>
        </p:nvSpPr>
        <p:spPr>
          <a:xfrm>
            <a:off x="4965192" y="2377440"/>
            <a:ext cx="795711" cy="329184"/>
          </a:xfrm>
          <a:prstGeom prst="roundRect">
            <a:avLst>
              <a:gd name="adj" fmla="val 11111"/>
            </a:avLst>
          </a:prstGeom>
          <a:solidFill>
            <a:srgbClr val="2DA8A0"/>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5"/>
          <p:cNvSpPr/>
          <p:nvPr/>
        </p:nvSpPr>
        <p:spPr>
          <a:xfrm>
            <a:off x="5806623" y="2395728"/>
            <a:ext cx="4572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950"/>
              <a:buFont typeface="Calibri"/>
              <a:buNone/>
            </a:pPr>
            <a:r>
              <a:rPr lang="en-US" sz="950" b="1" i="0" u="none" strike="noStrike" cap="none">
                <a:solidFill>
                  <a:srgbClr val="16202E"/>
                </a:solidFill>
                <a:latin typeface="Calibri"/>
                <a:ea typeface="Calibri"/>
                <a:cs typeface="Calibri"/>
                <a:sym typeface="Calibri"/>
              </a:rPr>
              <a:t>45.8%</a:t>
            </a:r>
            <a:endParaRPr sz="950" b="0" i="0" u="none" strike="noStrike" cap="none">
              <a:solidFill>
                <a:schemeClr val="dk1"/>
              </a:solidFill>
              <a:latin typeface="Calibri"/>
              <a:ea typeface="Calibri"/>
              <a:cs typeface="Calibri"/>
              <a:sym typeface="Calibri"/>
            </a:endParaRPr>
          </a:p>
        </p:txBody>
      </p:sp>
      <p:sp>
        <p:nvSpPr>
          <p:cNvPr id="459" name="Google Shape;459;p15"/>
          <p:cNvSpPr/>
          <p:nvPr/>
        </p:nvSpPr>
        <p:spPr>
          <a:xfrm>
            <a:off x="6931152" y="2157984"/>
            <a:ext cx="182880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a:solidFill>
                  <a:srgbClr val="5C6B82"/>
                </a:solidFill>
                <a:latin typeface="Calibri"/>
                <a:ea typeface="Calibri"/>
                <a:cs typeface="Calibri"/>
                <a:sym typeface="Calibri"/>
              </a:rPr>
              <a:t>Walking</a:t>
            </a:r>
            <a:endParaRPr sz="900" b="0" i="0" u="none" strike="noStrike" cap="none">
              <a:solidFill>
                <a:schemeClr val="dk1"/>
              </a:solidFill>
              <a:latin typeface="Calibri"/>
              <a:ea typeface="Calibri"/>
              <a:cs typeface="Calibri"/>
              <a:sym typeface="Calibri"/>
            </a:endParaRPr>
          </a:p>
        </p:txBody>
      </p:sp>
      <p:sp>
        <p:nvSpPr>
          <p:cNvPr id="460" name="Google Shape;460;p15"/>
          <p:cNvSpPr/>
          <p:nvPr/>
        </p:nvSpPr>
        <p:spPr>
          <a:xfrm>
            <a:off x="6931152" y="2377440"/>
            <a:ext cx="545531" cy="329184"/>
          </a:xfrm>
          <a:prstGeom prst="roundRect">
            <a:avLst>
              <a:gd name="adj" fmla="val 11111"/>
            </a:avLst>
          </a:prstGeom>
          <a:solidFill>
            <a:srgbClr val="5C6B82"/>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5"/>
          <p:cNvSpPr/>
          <p:nvPr/>
        </p:nvSpPr>
        <p:spPr>
          <a:xfrm>
            <a:off x="7522403" y="2395728"/>
            <a:ext cx="4572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950"/>
              <a:buFont typeface="Calibri"/>
              <a:buNone/>
            </a:pPr>
            <a:r>
              <a:rPr lang="en-US" sz="950" b="1" i="0" u="none" strike="noStrike" cap="none">
                <a:solidFill>
                  <a:srgbClr val="16202E"/>
                </a:solidFill>
                <a:latin typeface="Calibri"/>
                <a:ea typeface="Calibri"/>
                <a:cs typeface="Calibri"/>
                <a:sym typeface="Calibri"/>
              </a:rPr>
              <a:t>31.4%</a:t>
            </a:r>
            <a:endParaRPr sz="950" b="0" i="0" u="none" strike="noStrike" cap="none">
              <a:solidFill>
                <a:schemeClr val="dk1"/>
              </a:solidFill>
              <a:latin typeface="Calibri"/>
              <a:ea typeface="Calibri"/>
              <a:cs typeface="Calibri"/>
              <a:sym typeface="Calibri"/>
            </a:endParaRPr>
          </a:p>
        </p:txBody>
      </p:sp>
      <p:sp>
        <p:nvSpPr>
          <p:cNvPr id="462" name="Google Shape;462;p15"/>
          <p:cNvSpPr/>
          <p:nvPr/>
        </p:nvSpPr>
        <p:spPr>
          <a:xfrm>
            <a:off x="320040" y="3364992"/>
            <a:ext cx="8503920" cy="1463040"/>
          </a:xfrm>
          <a:prstGeom prst="roundRect">
            <a:avLst>
              <a:gd name="adj" fmla="val 6250"/>
            </a:avLst>
          </a:prstGeom>
          <a:solidFill>
            <a:srgbClr val="FFF5F5"/>
          </a:solidFill>
          <a:ln w="12700" cap="flat" cmpd="sng">
            <a:solidFill>
              <a:srgbClr val="FD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3" name="Google Shape;463;p15" descr="preencoded.png"/>
          <p:cNvPicPr preferRelativeResize="0"/>
          <p:nvPr/>
        </p:nvPicPr>
        <p:blipFill rotWithShape="1">
          <a:blip r:embed="rId3">
            <a:alphaModFix/>
          </a:blip>
          <a:srcRect/>
          <a:stretch/>
        </p:blipFill>
        <p:spPr>
          <a:xfrm>
            <a:off x="502920" y="3456432"/>
            <a:ext cx="274320" cy="274320"/>
          </a:xfrm>
          <a:prstGeom prst="rect">
            <a:avLst/>
          </a:prstGeom>
          <a:noFill/>
          <a:ln>
            <a:noFill/>
          </a:ln>
        </p:spPr>
      </p:pic>
      <p:sp>
        <p:nvSpPr>
          <p:cNvPr id="464" name="Google Shape;464;p15"/>
          <p:cNvSpPr/>
          <p:nvPr/>
        </p:nvSpPr>
        <p:spPr>
          <a:xfrm>
            <a:off x="868680" y="3438144"/>
            <a:ext cx="5486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484D"/>
              </a:buClr>
              <a:buSzPts val="1100"/>
              <a:buFont typeface="Calibri"/>
              <a:buNone/>
            </a:pPr>
            <a:r>
              <a:rPr lang="en-US" sz="1100" b="1" i="0" u="none" strike="noStrike" cap="none">
                <a:solidFill>
                  <a:srgbClr val="E5484D"/>
                </a:solidFill>
                <a:latin typeface="Calibri"/>
                <a:ea typeface="Calibri"/>
                <a:cs typeface="Calibri"/>
                <a:sym typeface="Calibri"/>
              </a:rPr>
              <a:t>The Failure Scenario: no Enter key pressed</a:t>
            </a:r>
            <a:endParaRPr sz="1100" b="0" i="0" u="none" strike="noStrike" cap="none">
              <a:solidFill>
                <a:schemeClr val="dk1"/>
              </a:solidFill>
              <a:latin typeface="Calibri"/>
              <a:ea typeface="Calibri"/>
              <a:cs typeface="Calibri"/>
              <a:sym typeface="Calibri"/>
            </a:endParaRPr>
          </a:p>
        </p:txBody>
      </p:sp>
      <p:sp>
        <p:nvSpPr>
          <p:cNvPr id="465" name="Google Shape;465;p15"/>
          <p:cNvSpPr/>
          <p:nvPr/>
        </p:nvSpPr>
        <p:spPr>
          <a:xfrm>
            <a:off x="502920" y="3749040"/>
            <a:ext cx="81381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3333"/>
              </a:buClr>
              <a:buSzPts val="1000"/>
              <a:buFont typeface="Calibri"/>
              <a:buNone/>
            </a:pPr>
            <a:r>
              <a:rPr lang="en-US" sz="1000" b="0" i="0" u="none" strike="noStrike" cap="none">
                <a:solidFill>
                  <a:srgbClr val="993333"/>
                </a:solidFill>
                <a:latin typeface="Calibri"/>
                <a:ea typeface="Calibri"/>
                <a:cs typeface="Calibri"/>
                <a:sym typeface="Calibri"/>
              </a:rPr>
              <a:t>Without the Enter anchor, the attack must bootstrap from the first two points. Accuracy drops sharply and degrades with length — as low as 1–6% Top-1 for longer words. This is the honest limit of the method and a clear robustness gap.</a:t>
            </a:r>
            <a:endParaRPr sz="1000" b="0" i="0" u="none" strike="noStrike" cap="none">
              <a:solidFill>
                <a:schemeClr val="dk1"/>
              </a:solidFill>
              <a:latin typeface="Calibri"/>
              <a:ea typeface="Calibri"/>
              <a:cs typeface="Calibri"/>
              <a:sym typeface="Calibri"/>
            </a:endParaRPr>
          </a:p>
        </p:txBody>
      </p:sp>
      <p:sp>
        <p:nvSpPr>
          <p:cNvPr id="466" name="Google Shape;466;p15"/>
          <p:cNvSpPr/>
          <p:nvPr/>
        </p:nvSpPr>
        <p:spPr>
          <a:xfrm>
            <a:off x="502920" y="4315968"/>
            <a:ext cx="822960" cy="384048"/>
          </a:xfrm>
          <a:prstGeom prst="roundRect">
            <a:avLst>
              <a:gd name="adj" fmla="val 9524"/>
            </a:avLst>
          </a:prstGeom>
          <a:solidFill>
            <a:srgbClr val="E5484D"/>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5"/>
          <p:cNvSpPr/>
          <p:nvPr/>
        </p:nvSpPr>
        <p:spPr>
          <a:xfrm>
            <a:off x="502920" y="4114800"/>
            <a:ext cx="8229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800"/>
              <a:buFont typeface="Calibri"/>
              <a:buNone/>
            </a:pPr>
            <a:r>
              <a:rPr lang="en-US" sz="800" b="0" i="0" u="none" strike="noStrike" cap="none">
                <a:solidFill>
                  <a:srgbClr val="E5484D"/>
                </a:solidFill>
                <a:latin typeface="Calibri"/>
                <a:ea typeface="Calibri"/>
                <a:cs typeface="Calibri"/>
                <a:sym typeface="Calibri"/>
              </a:rPr>
              <a:t>22%</a:t>
            </a:r>
            <a:endParaRPr sz="800" b="0" i="0" u="none" strike="noStrike" cap="none">
              <a:solidFill>
                <a:schemeClr val="dk1"/>
              </a:solidFill>
              <a:latin typeface="Calibri"/>
              <a:ea typeface="Calibri"/>
              <a:cs typeface="Calibri"/>
              <a:sym typeface="Calibri"/>
            </a:endParaRPr>
          </a:p>
        </p:txBody>
      </p:sp>
      <p:sp>
        <p:nvSpPr>
          <p:cNvPr id="468" name="Google Shape;468;p15"/>
          <p:cNvSpPr/>
          <p:nvPr/>
        </p:nvSpPr>
        <p:spPr>
          <a:xfrm>
            <a:off x="502920" y="4718304"/>
            <a:ext cx="822960" cy="1463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3L</a:t>
            </a:r>
            <a:endParaRPr sz="750" b="0" i="0" u="none" strike="noStrike" cap="none">
              <a:solidFill>
                <a:schemeClr val="dk1"/>
              </a:solidFill>
              <a:latin typeface="Calibri"/>
              <a:ea typeface="Calibri"/>
              <a:cs typeface="Calibri"/>
              <a:sym typeface="Calibri"/>
            </a:endParaRPr>
          </a:p>
        </p:txBody>
      </p:sp>
      <p:sp>
        <p:nvSpPr>
          <p:cNvPr id="469" name="Google Shape;469;p15"/>
          <p:cNvSpPr/>
          <p:nvPr/>
        </p:nvSpPr>
        <p:spPr>
          <a:xfrm>
            <a:off x="1508760" y="4315968"/>
            <a:ext cx="822960" cy="209481"/>
          </a:xfrm>
          <a:prstGeom prst="roundRect">
            <a:avLst>
              <a:gd name="adj" fmla="val 17460"/>
            </a:avLst>
          </a:prstGeom>
          <a:solidFill>
            <a:srgbClr val="E5484D"/>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5"/>
          <p:cNvSpPr/>
          <p:nvPr/>
        </p:nvSpPr>
        <p:spPr>
          <a:xfrm>
            <a:off x="1508760" y="4114800"/>
            <a:ext cx="8229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800"/>
              <a:buFont typeface="Calibri"/>
              <a:buNone/>
            </a:pPr>
            <a:r>
              <a:rPr lang="en-US" sz="800" b="0" i="0" u="none" strike="noStrike" cap="none">
                <a:solidFill>
                  <a:srgbClr val="E5484D"/>
                </a:solidFill>
                <a:latin typeface="Calibri"/>
                <a:ea typeface="Calibri"/>
                <a:cs typeface="Calibri"/>
                <a:sym typeface="Calibri"/>
              </a:rPr>
              <a:t>12%</a:t>
            </a:r>
            <a:endParaRPr sz="800" b="0" i="0" u="none" strike="noStrike" cap="none">
              <a:solidFill>
                <a:schemeClr val="dk1"/>
              </a:solidFill>
              <a:latin typeface="Calibri"/>
              <a:ea typeface="Calibri"/>
              <a:cs typeface="Calibri"/>
              <a:sym typeface="Calibri"/>
            </a:endParaRPr>
          </a:p>
        </p:txBody>
      </p:sp>
      <p:sp>
        <p:nvSpPr>
          <p:cNvPr id="471" name="Google Shape;471;p15"/>
          <p:cNvSpPr/>
          <p:nvPr/>
        </p:nvSpPr>
        <p:spPr>
          <a:xfrm>
            <a:off x="1508760" y="4718304"/>
            <a:ext cx="822960" cy="1463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4L</a:t>
            </a:r>
            <a:endParaRPr sz="750" b="0" i="0" u="none" strike="noStrike" cap="none">
              <a:solidFill>
                <a:schemeClr val="dk1"/>
              </a:solidFill>
              <a:latin typeface="Calibri"/>
              <a:ea typeface="Calibri"/>
              <a:cs typeface="Calibri"/>
              <a:sym typeface="Calibri"/>
            </a:endParaRPr>
          </a:p>
        </p:txBody>
      </p:sp>
      <p:sp>
        <p:nvSpPr>
          <p:cNvPr id="472" name="Google Shape;472;p15"/>
          <p:cNvSpPr/>
          <p:nvPr/>
        </p:nvSpPr>
        <p:spPr>
          <a:xfrm>
            <a:off x="2514600" y="4315968"/>
            <a:ext cx="822960" cy="104740"/>
          </a:xfrm>
          <a:prstGeom prst="roundRect">
            <a:avLst>
              <a:gd name="adj" fmla="val 34921"/>
            </a:avLst>
          </a:prstGeom>
          <a:solidFill>
            <a:srgbClr val="E5484D"/>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5"/>
          <p:cNvSpPr/>
          <p:nvPr/>
        </p:nvSpPr>
        <p:spPr>
          <a:xfrm>
            <a:off x="2514600" y="4114800"/>
            <a:ext cx="8229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800"/>
              <a:buFont typeface="Calibri"/>
              <a:buNone/>
            </a:pPr>
            <a:r>
              <a:rPr lang="en-US" sz="800" b="0" i="0" u="none" strike="noStrike" cap="none">
                <a:solidFill>
                  <a:srgbClr val="E5484D"/>
                </a:solidFill>
                <a:latin typeface="Calibri"/>
                <a:ea typeface="Calibri"/>
                <a:cs typeface="Calibri"/>
                <a:sym typeface="Calibri"/>
              </a:rPr>
              <a:t>6%</a:t>
            </a:r>
            <a:endParaRPr sz="800" b="0" i="0" u="none" strike="noStrike" cap="none">
              <a:solidFill>
                <a:schemeClr val="dk1"/>
              </a:solidFill>
              <a:latin typeface="Calibri"/>
              <a:ea typeface="Calibri"/>
              <a:cs typeface="Calibri"/>
              <a:sym typeface="Calibri"/>
            </a:endParaRPr>
          </a:p>
        </p:txBody>
      </p:sp>
      <p:sp>
        <p:nvSpPr>
          <p:cNvPr id="474" name="Google Shape;474;p15"/>
          <p:cNvSpPr/>
          <p:nvPr/>
        </p:nvSpPr>
        <p:spPr>
          <a:xfrm>
            <a:off x="2514600" y="4718304"/>
            <a:ext cx="822960" cy="1463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5L</a:t>
            </a:r>
            <a:endParaRPr sz="750" b="0" i="0" u="none" strike="noStrike" cap="none">
              <a:solidFill>
                <a:schemeClr val="dk1"/>
              </a:solidFill>
              <a:latin typeface="Calibri"/>
              <a:ea typeface="Calibri"/>
              <a:cs typeface="Calibri"/>
              <a:sym typeface="Calibri"/>
            </a:endParaRPr>
          </a:p>
        </p:txBody>
      </p:sp>
      <p:sp>
        <p:nvSpPr>
          <p:cNvPr id="475" name="Google Shape;475;p15"/>
          <p:cNvSpPr/>
          <p:nvPr/>
        </p:nvSpPr>
        <p:spPr>
          <a:xfrm>
            <a:off x="3520440" y="4315968"/>
            <a:ext cx="822960" cy="17457"/>
          </a:xfrm>
          <a:prstGeom prst="roundRect">
            <a:avLst>
              <a:gd name="adj" fmla="val 209521"/>
            </a:avLst>
          </a:prstGeom>
          <a:solidFill>
            <a:srgbClr val="E5484D"/>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15"/>
          <p:cNvSpPr/>
          <p:nvPr/>
        </p:nvSpPr>
        <p:spPr>
          <a:xfrm>
            <a:off x="3520440" y="4114800"/>
            <a:ext cx="82296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800"/>
              <a:buFont typeface="Calibri"/>
              <a:buNone/>
            </a:pPr>
            <a:r>
              <a:rPr lang="en-US" sz="800" b="0" i="0" u="none" strike="noStrike" cap="none">
                <a:solidFill>
                  <a:srgbClr val="E5484D"/>
                </a:solidFill>
                <a:latin typeface="Calibri"/>
                <a:ea typeface="Calibri"/>
                <a:cs typeface="Calibri"/>
                <a:sym typeface="Calibri"/>
              </a:rPr>
              <a:t>1%</a:t>
            </a:r>
            <a:endParaRPr sz="800" b="0" i="0" u="none" strike="noStrike" cap="none">
              <a:solidFill>
                <a:schemeClr val="dk1"/>
              </a:solidFill>
              <a:latin typeface="Calibri"/>
              <a:ea typeface="Calibri"/>
              <a:cs typeface="Calibri"/>
              <a:sym typeface="Calibri"/>
            </a:endParaRPr>
          </a:p>
        </p:txBody>
      </p:sp>
      <p:sp>
        <p:nvSpPr>
          <p:cNvPr id="477" name="Google Shape;477;p15"/>
          <p:cNvSpPr/>
          <p:nvPr/>
        </p:nvSpPr>
        <p:spPr>
          <a:xfrm>
            <a:off x="3520440" y="4718304"/>
            <a:ext cx="822960" cy="1463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6L</a:t>
            </a:r>
            <a:endParaRPr sz="750" b="0" i="0" u="none" strike="noStrike" cap="none">
              <a:solidFill>
                <a:schemeClr val="dk1"/>
              </a:solidFill>
              <a:latin typeface="Calibri"/>
              <a:ea typeface="Calibri"/>
              <a:cs typeface="Calibri"/>
              <a:sym typeface="Calibri"/>
            </a:endParaRPr>
          </a:p>
        </p:txBody>
      </p:sp>
      <p:sp>
        <p:nvSpPr>
          <p:cNvPr id="478" name="Google Shape;478;p15"/>
          <p:cNvSpPr/>
          <p:nvPr/>
        </p:nvSpPr>
        <p:spPr>
          <a:xfrm>
            <a:off x="4572000" y="4315968"/>
            <a:ext cx="411480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00"/>
              <a:buFont typeface="Calibri"/>
              <a:buNone/>
            </a:pPr>
            <a:r>
              <a:rPr lang="en-US" sz="800" b="0" i="1" u="none" strike="noStrike" cap="none">
                <a:solidFill>
                  <a:srgbClr val="9DB0CC"/>
                </a:solidFill>
                <a:latin typeface="Calibri"/>
                <a:ea typeface="Calibri"/>
                <a:cs typeface="Calibri"/>
                <a:sym typeface="Calibri"/>
              </a:rPr>
              <a:t>No Enter anchor — accuracy by word length</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0"/>
        <p:cNvGrpSpPr/>
        <p:nvPr/>
      </p:nvGrpSpPr>
      <p:grpSpPr>
        <a:xfrm>
          <a:off x="0" y="0"/>
          <a:ext cx="0" cy="0"/>
          <a:chOff x="0" y="0"/>
          <a:chExt cx="0" cy="0"/>
        </a:xfrm>
      </p:grpSpPr>
      <p:sp>
        <p:nvSpPr>
          <p:cNvPr id="171" name="Google Shape;171;p8"/>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PROPOSED SOLUTION IN PAPER · §2</a:t>
            </a:r>
            <a:endParaRPr sz="900" b="0" i="0" u="none" strike="noStrike" cap="none" dirty="0">
              <a:solidFill>
                <a:schemeClr val="dk1"/>
              </a:solidFill>
              <a:latin typeface="Calibri"/>
              <a:ea typeface="Calibri"/>
              <a:cs typeface="Calibri"/>
              <a:sym typeface="Calibri"/>
            </a:endParaRPr>
          </a:p>
        </p:txBody>
      </p:sp>
      <p:sp>
        <p:nvSpPr>
          <p:cNvPr id="172" name="Google Shape;172;p8"/>
          <p:cNvSpPr/>
          <p:nvPr/>
        </p:nvSpPr>
        <p:spPr>
          <a:xfrm>
            <a:off x="365760" y="420624"/>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What the SNOOPFINGER paper proposes to stop the attack ?</a:t>
            </a:r>
            <a:endParaRPr sz="2400" b="0" i="0" u="none" strike="noStrike" cap="none" dirty="0">
              <a:solidFill>
                <a:schemeClr val="dk1"/>
              </a:solidFill>
              <a:latin typeface="Calibri"/>
              <a:ea typeface="Calibri"/>
              <a:cs typeface="Calibri"/>
              <a:sym typeface="Calibri"/>
            </a:endParaRPr>
          </a:p>
        </p:txBody>
      </p:sp>
      <p:sp>
        <p:nvSpPr>
          <p:cNvPr id="173" name="Google Shape;173;p8"/>
          <p:cNvSpPr/>
          <p:nvPr/>
        </p:nvSpPr>
        <p:spPr>
          <a:xfrm>
            <a:off x="365760" y="4625884"/>
            <a:ext cx="4572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PROPOSED SOLUTION IN PAPER</a:t>
            </a:r>
            <a:endParaRPr sz="700" b="0" i="0" u="none" strike="noStrike" cap="none">
              <a:solidFill>
                <a:schemeClr val="dk1"/>
              </a:solidFill>
              <a:latin typeface="Calibri"/>
              <a:ea typeface="Calibri"/>
              <a:cs typeface="Calibri"/>
              <a:sym typeface="Calibri"/>
            </a:endParaRPr>
          </a:p>
        </p:txBody>
      </p:sp>
      <p:sp>
        <p:nvSpPr>
          <p:cNvPr id="174" name="Google Shape;174;p8"/>
          <p:cNvSpPr/>
          <p:nvPr/>
        </p:nvSpPr>
        <p:spPr>
          <a:xfrm>
            <a:off x="4572000" y="4903472"/>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dirty="0">
                <a:solidFill>
                  <a:srgbClr val="9DB0CC"/>
                </a:solidFill>
                <a:latin typeface="Calibri"/>
                <a:ea typeface="Calibri"/>
                <a:cs typeface="Calibri"/>
                <a:sym typeface="Calibri"/>
              </a:rPr>
              <a:t>SNOOPFINGER  ·  Lee &amp; Choi, IEEE S&amp;P 2025  ·  9</a:t>
            </a:r>
            <a:endParaRPr sz="700" b="0" i="0" u="none" strike="noStrike" cap="none" dirty="0">
              <a:solidFill>
                <a:schemeClr val="dk1"/>
              </a:solidFill>
              <a:latin typeface="Calibri"/>
              <a:ea typeface="Calibri"/>
              <a:cs typeface="Calibri"/>
              <a:sym typeface="Calibri"/>
            </a:endParaRPr>
          </a:p>
        </p:txBody>
      </p:sp>
      <p:sp>
        <p:nvSpPr>
          <p:cNvPr id="175" name="Google Shape;175;p8"/>
          <p:cNvSpPr/>
          <p:nvPr/>
        </p:nvSpPr>
        <p:spPr>
          <a:xfrm>
            <a:off x="365760" y="1115568"/>
            <a:ext cx="84124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1050"/>
              <a:buFont typeface="Calibri"/>
              <a:buNone/>
            </a:pPr>
            <a:r>
              <a:rPr lang="en-US" sz="1050" b="0" i="0" u="none" strike="noStrike" cap="none">
                <a:solidFill>
                  <a:srgbClr val="5C6B82"/>
                </a:solidFill>
                <a:latin typeface="Calibri"/>
                <a:ea typeface="Calibri"/>
                <a:cs typeface="Calibri"/>
                <a:sym typeface="Calibri"/>
              </a:rPr>
              <a:t>The paper outlines theoretical defenses — but provides zero implementation details, API specs, or code. These are starting points, not solutions.</a:t>
            </a:r>
            <a:endParaRPr sz="1050" b="0" i="0" u="none" strike="noStrike" cap="none">
              <a:solidFill>
                <a:schemeClr val="dk1"/>
              </a:solidFill>
              <a:latin typeface="Calibri"/>
              <a:ea typeface="Calibri"/>
              <a:cs typeface="Calibri"/>
              <a:sym typeface="Calibri"/>
            </a:endParaRPr>
          </a:p>
        </p:txBody>
      </p:sp>
      <p:sp>
        <p:nvSpPr>
          <p:cNvPr id="176" name="Google Shape;176;p8"/>
          <p:cNvSpPr/>
          <p:nvPr/>
        </p:nvSpPr>
        <p:spPr>
          <a:xfrm>
            <a:off x="320040" y="1517904"/>
            <a:ext cx="4251960" cy="1371600"/>
          </a:xfrm>
          <a:prstGeom prst="roundRect">
            <a:avLst>
              <a:gd name="adj" fmla="val 533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8" descr="preencoded.png"/>
          <p:cNvPicPr preferRelativeResize="0"/>
          <p:nvPr/>
        </p:nvPicPr>
        <p:blipFill rotWithShape="1">
          <a:blip r:embed="rId3">
            <a:alphaModFix/>
          </a:blip>
          <a:srcRect/>
          <a:stretch/>
        </p:blipFill>
        <p:spPr>
          <a:xfrm>
            <a:off x="457200" y="1636776"/>
            <a:ext cx="256032" cy="256032"/>
          </a:xfrm>
          <a:prstGeom prst="rect">
            <a:avLst/>
          </a:prstGeom>
          <a:noFill/>
          <a:ln>
            <a:noFill/>
          </a:ln>
        </p:spPr>
      </p:pic>
      <p:sp>
        <p:nvSpPr>
          <p:cNvPr id="178" name="Google Shape;178;p8"/>
          <p:cNvSpPr/>
          <p:nvPr/>
        </p:nvSpPr>
        <p:spPr>
          <a:xfrm>
            <a:off x="777240" y="1627632"/>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Sensor Access Control</a:t>
            </a:r>
            <a:endParaRPr sz="1100" b="0" i="0" u="none" strike="noStrike" cap="none">
              <a:solidFill>
                <a:schemeClr val="dk1"/>
              </a:solidFill>
              <a:latin typeface="Calibri"/>
              <a:ea typeface="Calibri"/>
              <a:cs typeface="Calibri"/>
              <a:sym typeface="Calibri"/>
            </a:endParaRPr>
          </a:p>
        </p:txBody>
      </p:sp>
      <p:sp>
        <p:nvSpPr>
          <p:cNvPr id="179" name="Google Shape;179;p8"/>
          <p:cNvSpPr/>
          <p:nvPr/>
        </p:nvSpPr>
        <p:spPr>
          <a:xfrm>
            <a:off x="457200" y="1938528"/>
            <a:ext cx="3977640" cy="8412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Treat continuous background orientation access as sensitive. Flag or gate apps that request it — similar to how camera/microphone permissions work today.</a:t>
            </a:r>
            <a:endParaRPr sz="950" b="0" i="0" u="none" strike="noStrike" cap="none">
              <a:solidFill>
                <a:schemeClr val="dk1"/>
              </a:solidFill>
              <a:latin typeface="Calibri"/>
              <a:ea typeface="Calibri"/>
              <a:cs typeface="Calibri"/>
              <a:sym typeface="Calibri"/>
            </a:endParaRPr>
          </a:p>
        </p:txBody>
      </p:sp>
      <p:sp>
        <p:nvSpPr>
          <p:cNvPr id="180" name="Google Shape;180;p8"/>
          <p:cNvSpPr/>
          <p:nvPr/>
        </p:nvSpPr>
        <p:spPr>
          <a:xfrm>
            <a:off x="4754880" y="1517904"/>
            <a:ext cx="4251960" cy="1371600"/>
          </a:xfrm>
          <a:prstGeom prst="roundRect">
            <a:avLst>
              <a:gd name="adj" fmla="val 533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1" name="Google Shape;181;p8" descr="preencoded.png"/>
          <p:cNvPicPr preferRelativeResize="0"/>
          <p:nvPr/>
        </p:nvPicPr>
        <p:blipFill rotWithShape="1">
          <a:blip r:embed="rId4">
            <a:alphaModFix/>
          </a:blip>
          <a:srcRect/>
          <a:stretch/>
        </p:blipFill>
        <p:spPr>
          <a:xfrm>
            <a:off x="4892040" y="1636776"/>
            <a:ext cx="256032" cy="256032"/>
          </a:xfrm>
          <a:prstGeom prst="rect">
            <a:avLst/>
          </a:prstGeom>
          <a:noFill/>
          <a:ln>
            <a:noFill/>
          </a:ln>
        </p:spPr>
      </p:pic>
      <p:sp>
        <p:nvSpPr>
          <p:cNvPr id="182" name="Google Shape;182;p8"/>
          <p:cNvSpPr/>
          <p:nvPr/>
        </p:nvSpPr>
        <p:spPr>
          <a:xfrm>
            <a:off x="5212080" y="1627632"/>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Data Obfuscation</a:t>
            </a:r>
            <a:endParaRPr sz="1100" b="0" i="0" u="none" strike="noStrike" cap="none">
              <a:solidFill>
                <a:schemeClr val="dk1"/>
              </a:solidFill>
              <a:latin typeface="Calibri"/>
              <a:ea typeface="Calibri"/>
              <a:cs typeface="Calibri"/>
              <a:sym typeface="Calibri"/>
            </a:endParaRPr>
          </a:p>
        </p:txBody>
      </p:sp>
      <p:sp>
        <p:nvSpPr>
          <p:cNvPr id="183" name="Google Shape;183;p8"/>
          <p:cNvSpPr/>
          <p:nvPr/>
        </p:nvSpPr>
        <p:spPr>
          <a:xfrm>
            <a:off x="4892040" y="1938528"/>
            <a:ext cx="3977640" cy="8412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Inject artificial noise into raw orientation/telemetry streams to degrade spatial precision, making gaze point reconstruction less accurate.</a:t>
            </a:r>
            <a:endParaRPr sz="950" b="0" i="0" u="none" strike="noStrike" cap="none">
              <a:solidFill>
                <a:schemeClr val="dk1"/>
              </a:solidFill>
              <a:latin typeface="Calibri"/>
              <a:ea typeface="Calibri"/>
              <a:cs typeface="Calibri"/>
              <a:sym typeface="Calibri"/>
            </a:endParaRPr>
          </a:p>
        </p:txBody>
      </p:sp>
      <p:sp>
        <p:nvSpPr>
          <p:cNvPr id="184" name="Google Shape;184;p8"/>
          <p:cNvSpPr/>
          <p:nvPr/>
        </p:nvSpPr>
        <p:spPr>
          <a:xfrm>
            <a:off x="320040" y="2999232"/>
            <a:ext cx="4251960" cy="1123732"/>
          </a:xfrm>
          <a:prstGeom prst="roundRect">
            <a:avLst>
              <a:gd name="adj" fmla="val 533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5" name="Google Shape;185;p8" descr="preencoded.png"/>
          <p:cNvPicPr preferRelativeResize="0"/>
          <p:nvPr/>
        </p:nvPicPr>
        <p:blipFill rotWithShape="1">
          <a:blip r:embed="rId5">
            <a:alphaModFix/>
          </a:blip>
          <a:srcRect/>
          <a:stretch/>
        </p:blipFill>
        <p:spPr>
          <a:xfrm>
            <a:off x="457200" y="3118104"/>
            <a:ext cx="256032" cy="256032"/>
          </a:xfrm>
          <a:prstGeom prst="rect">
            <a:avLst/>
          </a:prstGeom>
          <a:noFill/>
          <a:ln>
            <a:noFill/>
          </a:ln>
        </p:spPr>
      </p:pic>
      <p:sp>
        <p:nvSpPr>
          <p:cNvPr id="186" name="Google Shape;186;p8"/>
          <p:cNvSpPr/>
          <p:nvPr/>
        </p:nvSpPr>
        <p:spPr>
          <a:xfrm>
            <a:off x="777240" y="3108960"/>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Rate Reduction</a:t>
            </a:r>
            <a:endParaRPr sz="1100" b="0" i="0" u="none" strike="noStrike" cap="none">
              <a:solidFill>
                <a:schemeClr val="dk1"/>
              </a:solidFill>
              <a:latin typeface="Calibri"/>
              <a:ea typeface="Calibri"/>
              <a:cs typeface="Calibri"/>
              <a:sym typeface="Calibri"/>
            </a:endParaRPr>
          </a:p>
        </p:txBody>
      </p:sp>
      <p:sp>
        <p:nvSpPr>
          <p:cNvPr id="187" name="Google Shape;187;p8"/>
          <p:cNvSpPr/>
          <p:nvPr/>
        </p:nvSpPr>
        <p:spPr>
          <a:xfrm>
            <a:off x="457200" y="3419856"/>
            <a:ext cx="3977640" cy="8412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Limit the sample rate (downsampling) given to background applications, preventing fine-grained head-motion tracking at the 72Hz resolution attackers exploit.</a:t>
            </a:r>
            <a:endParaRPr sz="950" b="0" i="0" u="none" strike="noStrike" cap="none">
              <a:solidFill>
                <a:schemeClr val="dk1"/>
              </a:solidFill>
              <a:latin typeface="Calibri"/>
              <a:ea typeface="Calibri"/>
              <a:cs typeface="Calibri"/>
              <a:sym typeface="Calibri"/>
            </a:endParaRPr>
          </a:p>
        </p:txBody>
      </p:sp>
      <p:sp>
        <p:nvSpPr>
          <p:cNvPr id="188" name="Google Shape;188;p8"/>
          <p:cNvSpPr/>
          <p:nvPr/>
        </p:nvSpPr>
        <p:spPr>
          <a:xfrm>
            <a:off x="4754880" y="2999232"/>
            <a:ext cx="4251960" cy="1123732"/>
          </a:xfrm>
          <a:prstGeom prst="roundRect">
            <a:avLst>
              <a:gd name="adj" fmla="val 533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9" name="Google Shape;189;p8" descr="preencoded.png"/>
          <p:cNvPicPr preferRelativeResize="0"/>
          <p:nvPr/>
        </p:nvPicPr>
        <p:blipFill rotWithShape="1">
          <a:blip r:embed="rId6">
            <a:alphaModFix/>
          </a:blip>
          <a:srcRect/>
          <a:stretch/>
        </p:blipFill>
        <p:spPr>
          <a:xfrm>
            <a:off x="4892040" y="3118104"/>
            <a:ext cx="256032" cy="256032"/>
          </a:xfrm>
          <a:prstGeom prst="rect">
            <a:avLst/>
          </a:prstGeom>
          <a:noFill/>
          <a:ln>
            <a:noFill/>
          </a:ln>
        </p:spPr>
      </p:pic>
      <p:sp>
        <p:nvSpPr>
          <p:cNvPr id="190" name="Google Shape;190;p8"/>
          <p:cNvSpPr/>
          <p:nvPr/>
        </p:nvSpPr>
        <p:spPr>
          <a:xfrm>
            <a:off x="5212080" y="3108960"/>
            <a:ext cx="3657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Foreground / Background Split</a:t>
            </a:r>
            <a:endParaRPr sz="1100" b="0" i="0" u="none" strike="noStrike" cap="none">
              <a:solidFill>
                <a:schemeClr val="dk1"/>
              </a:solidFill>
              <a:latin typeface="Calibri"/>
              <a:ea typeface="Calibri"/>
              <a:cs typeface="Calibri"/>
              <a:sym typeface="Calibri"/>
            </a:endParaRPr>
          </a:p>
        </p:txBody>
      </p:sp>
      <p:sp>
        <p:nvSpPr>
          <p:cNvPr id="191" name="Google Shape;191;p8"/>
          <p:cNvSpPr/>
          <p:nvPr/>
        </p:nvSpPr>
        <p:spPr>
          <a:xfrm>
            <a:off x="4892040" y="3419856"/>
            <a:ext cx="3977640" cy="8412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Adjust sensor permissions by app state — a backgrounded app loses the high-fidelity access a foreground app would have, blocking silent recording.</a:t>
            </a:r>
            <a:endParaRPr sz="950" b="0" i="0" u="none" strike="noStrike" cap="none">
              <a:solidFill>
                <a:schemeClr val="dk1"/>
              </a:solidFill>
              <a:latin typeface="Calibri"/>
              <a:ea typeface="Calibri"/>
              <a:cs typeface="Calibri"/>
              <a:sym typeface="Calibri"/>
            </a:endParaRPr>
          </a:p>
        </p:txBody>
      </p:sp>
      <p:sp>
        <p:nvSpPr>
          <p:cNvPr id="192" name="Google Shape;192;p8"/>
          <p:cNvSpPr/>
          <p:nvPr/>
        </p:nvSpPr>
        <p:spPr>
          <a:xfrm>
            <a:off x="320040" y="4211351"/>
            <a:ext cx="8458200" cy="676656"/>
          </a:xfrm>
          <a:prstGeom prst="roundRect">
            <a:avLst>
              <a:gd name="adj" fmla="val 10811"/>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3" name="Google Shape;193;p8" descr="preencoded.png"/>
          <p:cNvPicPr preferRelativeResize="0"/>
          <p:nvPr/>
        </p:nvPicPr>
        <p:blipFill rotWithShape="1">
          <a:blip r:embed="rId7">
            <a:alphaModFix/>
          </a:blip>
          <a:srcRect/>
          <a:stretch/>
        </p:blipFill>
        <p:spPr>
          <a:xfrm>
            <a:off x="475488" y="4476970"/>
            <a:ext cx="219456" cy="219456"/>
          </a:xfrm>
          <a:prstGeom prst="rect">
            <a:avLst/>
          </a:prstGeom>
          <a:solidFill>
            <a:srgbClr val="FFFFFF"/>
          </a:solidFill>
          <a:ln>
            <a:noFill/>
          </a:ln>
        </p:spPr>
      </p:pic>
      <p:sp>
        <p:nvSpPr>
          <p:cNvPr id="194" name="Google Shape;194;p8"/>
          <p:cNvSpPr/>
          <p:nvPr/>
        </p:nvSpPr>
        <p:spPr>
          <a:xfrm>
            <a:off x="768096" y="4468261"/>
            <a:ext cx="13716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50"/>
              <a:buFont typeface="Calibri"/>
              <a:buNone/>
            </a:pPr>
            <a:r>
              <a:rPr lang="en-US" sz="950" b="1" i="0" u="none" strike="noStrike" cap="none" dirty="0">
                <a:solidFill>
                  <a:srgbClr val="F5A623"/>
                </a:solidFill>
                <a:latin typeface="Calibri"/>
                <a:ea typeface="Calibri"/>
                <a:cs typeface="Calibri"/>
                <a:sym typeface="Calibri"/>
              </a:rPr>
              <a:t>Trade-off dilemma:</a:t>
            </a:r>
            <a:endParaRPr sz="950" b="0" i="0" u="none" strike="noStrike" cap="none" dirty="0">
              <a:solidFill>
                <a:schemeClr val="dk1"/>
              </a:solidFill>
              <a:latin typeface="Calibri"/>
              <a:ea typeface="Calibri"/>
              <a:cs typeface="Calibri"/>
              <a:sym typeface="Calibri"/>
            </a:endParaRPr>
          </a:p>
        </p:txBody>
      </p:sp>
      <p:sp>
        <p:nvSpPr>
          <p:cNvPr id="195" name="Google Shape;195;p8"/>
          <p:cNvSpPr/>
          <p:nvPr/>
        </p:nvSpPr>
        <p:spPr>
          <a:xfrm>
            <a:off x="2157984" y="4355044"/>
            <a:ext cx="6528816"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950"/>
              <a:buFont typeface="Calibri"/>
              <a:buNone/>
            </a:pPr>
            <a:r>
              <a:rPr lang="en-US" sz="950" b="0" i="0" u="none" strike="noStrike" cap="none" dirty="0">
                <a:solidFill>
                  <a:srgbClr val="E8EEF7"/>
                </a:solidFill>
                <a:latin typeface="Calibri"/>
                <a:ea typeface="Calibri"/>
                <a:cs typeface="Calibri"/>
                <a:sym typeface="Calibri"/>
              </a:rPr>
              <a:t>Security must be balanced with usability — background tasks (VR spatial audio, games, social presence) still need orientation data to function correctly. A global block breaks the experience.</a:t>
            </a:r>
            <a:endParaRPr sz="9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
        <p:cNvGrpSpPr/>
        <p:nvPr/>
      </p:nvGrpSpPr>
      <p:grpSpPr>
        <a:xfrm>
          <a:off x="0" y="0"/>
          <a:ext cx="0" cy="0"/>
          <a:chOff x="0" y="0"/>
          <a:chExt cx="0" cy="0"/>
        </a:xfrm>
      </p:grpSpPr>
      <p:sp>
        <p:nvSpPr>
          <p:cNvPr id="201" name="Google Shape;201;p9"/>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a:solidFill>
                  <a:srgbClr val="C77F12"/>
                </a:solidFill>
                <a:latin typeface="Calibri"/>
                <a:ea typeface="Calibri"/>
                <a:cs typeface="Calibri"/>
                <a:sym typeface="Calibri"/>
              </a:rPr>
              <a:t>IDENTIFIED GAPS &amp; LIMITATIONS · §3</a:t>
            </a:r>
            <a:endParaRPr sz="900" b="0" i="0" u="none" strike="noStrike" cap="none">
              <a:solidFill>
                <a:schemeClr val="dk1"/>
              </a:solidFill>
              <a:latin typeface="Calibri"/>
              <a:ea typeface="Calibri"/>
              <a:cs typeface="Calibri"/>
              <a:sym typeface="Calibri"/>
            </a:endParaRPr>
          </a:p>
        </p:txBody>
      </p:sp>
      <p:sp>
        <p:nvSpPr>
          <p:cNvPr id="202" name="Google Shape;202;p9"/>
          <p:cNvSpPr/>
          <p:nvPr/>
        </p:nvSpPr>
        <p:spPr>
          <a:xfrm>
            <a:off x="365760" y="420624"/>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Why the paper's defenses fail: the averaging &amp; geometry gaps</a:t>
            </a:r>
            <a:endParaRPr sz="2400" b="0" i="0" u="none" strike="noStrike" cap="none" dirty="0">
              <a:solidFill>
                <a:schemeClr val="dk1"/>
              </a:solidFill>
              <a:latin typeface="Calibri"/>
              <a:ea typeface="Calibri"/>
              <a:cs typeface="Calibri"/>
              <a:sym typeface="Calibri"/>
            </a:endParaRPr>
          </a:p>
        </p:txBody>
      </p:sp>
      <p:sp>
        <p:nvSpPr>
          <p:cNvPr id="203" name="Google Shape;203;p9"/>
          <p:cNvSpPr/>
          <p:nvPr/>
        </p:nvSpPr>
        <p:spPr>
          <a:xfrm>
            <a:off x="365760" y="4601396"/>
            <a:ext cx="4572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IDENTIFIED GAPS</a:t>
            </a:r>
            <a:endParaRPr sz="700" b="0" i="0" u="none" strike="noStrike" cap="none">
              <a:solidFill>
                <a:schemeClr val="dk1"/>
              </a:solidFill>
              <a:latin typeface="Calibri"/>
              <a:ea typeface="Calibri"/>
              <a:cs typeface="Calibri"/>
              <a:sym typeface="Calibri"/>
            </a:endParaRPr>
          </a:p>
        </p:txBody>
      </p:sp>
      <p:sp>
        <p:nvSpPr>
          <p:cNvPr id="204" name="Google Shape;204;p9"/>
          <p:cNvSpPr/>
          <p:nvPr/>
        </p:nvSpPr>
        <p:spPr>
          <a:xfrm>
            <a:off x="4572000" y="4919801"/>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dirty="0">
                <a:solidFill>
                  <a:srgbClr val="9DB0CC"/>
                </a:solidFill>
                <a:latin typeface="Calibri"/>
                <a:ea typeface="Calibri"/>
                <a:cs typeface="Calibri"/>
                <a:sym typeface="Calibri"/>
              </a:rPr>
              <a:t>SNOOPFINGER  ·  Lee &amp; Choi, IEEE S&amp;P 2025  ·  10</a:t>
            </a:r>
            <a:endParaRPr sz="700" b="0" i="0" u="none" strike="noStrike" cap="none" dirty="0">
              <a:solidFill>
                <a:schemeClr val="dk1"/>
              </a:solidFill>
              <a:latin typeface="Calibri"/>
              <a:ea typeface="Calibri"/>
              <a:cs typeface="Calibri"/>
              <a:sym typeface="Calibri"/>
            </a:endParaRPr>
          </a:p>
        </p:txBody>
      </p:sp>
      <p:sp>
        <p:nvSpPr>
          <p:cNvPr id="206" name="Google Shape;206;p9"/>
          <p:cNvSpPr/>
          <p:nvPr/>
        </p:nvSpPr>
        <p:spPr>
          <a:xfrm>
            <a:off x="320040" y="1463040"/>
            <a:ext cx="4160520" cy="2331720"/>
          </a:xfrm>
          <a:prstGeom prst="roundRect">
            <a:avLst>
              <a:gd name="adj" fmla="val 3922"/>
            </a:avLst>
          </a:prstGeom>
          <a:solidFill>
            <a:srgbClr val="16202E"/>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9"/>
          <p:cNvSpPr/>
          <p:nvPr/>
        </p:nvSpPr>
        <p:spPr>
          <a:xfrm>
            <a:off x="502920" y="1554480"/>
            <a:ext cx="3794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Gap 1 · IID Noise Fails</a:t>
            </a:r>
            <a:endParaRPr sz="1100" b="0" i="0" u="none" strike="noStrike" cap="none">
              <a:solidFill>
                <a:schemeClr val="dk1"/>
              </a:solidFill>
              <a:latin typeface="Calibri"/>
              <a:ea typeface="Calibri"/>
              <a:cs typeface="Calibri"/>
              <a:sym typeface="Calibri"/>
            </a:endParaRPr>
          </a:p>
        </p:txBody>
      </p:sp>
      <p:sp>
        <p:nvSpPr>
          <p:cNvPr id="208" name="Google Shape;208;p9"/>
          <p:cNvSpPr/>
          <p:nvPr/>
        </p:nvSpPr>
        <p:spPr>
          <a:xfrm>
            <a:off x="502920" y="1828800"/>
            <a:ext cx="37947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IID Noise Strategy:</a:t>
            </a:r>
            <a:endParaRPr sz="950" b="0" i="0" u="none" strike="noStrike" cap="none">
              <a:solidFill>
                <a:schemeClr val="dk1"/>
              </a:solidFill>
              <a:latin typeface="Calibri"/>
              <a:ea typeface="Calibri"/>
              <a:cs typeface="Calibri"/>
              <a:sym typeface="Calibri"/>
            </a:endParaRPr>
          </a:p>
        </p:txBody>
      </p:sp>
      <p:sp>
        <p:nvSpPr>
          <p:cNvPr id="209" name="Google Shape;209;p9"/>
          <p:cNvSpPr/>
          <p:nvPr/>
        </p:nvSpPr>
        <p:spPr>
          <a:xfrm>
            <a:off x="502920" y="2029968"/>
            <a:ext cx="37947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00"/>
              <a:buFont typeface="Calibri"/>
              <a:buNone/>
            </a:pPr>
            <a:r>
              <a:rPr lang="en-US" sz="900" b="0" i="0" u="none" strike="noStrike" cap="none">
                <a:solidFill>
                  <a:srgbClr val="9DB0CC"/>
                </a:solidFill>
                <a:latin typeface="Calibri"/>
                <a:ea typeface="Calibri"/>
                <a:cs typeface="Calibri"/>
                <a:sym typeface="Calibri"/>
              </a:rPr>
              <a:t>Add </a:t>
            </a:r>
            <a:r>
              <a:rPr lang="en-US" sz="900">
                <a:solidFill>
                  <a:srgbClr val="9DB0CC"/>
                </a:solidFill>
                <a:latin typeface="Calibri"/>
                <a:ea typeface="Calibri"/>
                <a:cs typeface="Calibri"/>
                <a:sym typeface="Calibri"/>
              </a:rPr>
              <a:t>independent,</a:t>
            </a:r>
            <a:r>
              <a:rPr lang="en-US" sz="900" b="0" i="0" u="none" strike="noStrike" cap="none">
                <a:solidFill>
                  <a:srgbClr val="9DB0CC"/>
                </a:solidFill>
                <a:latin typeface="Calibri"/>
                <a:ea typeface="Calibri"/>
                <a:cs typeface="Calibri"/>
                <a:sym typeface="Calibri"/>
              </a:rPr>
              <a:t> zero-mean Laplace noise to each </a:t>
            </a:r>
            <a:r>
              <a:rPr lang="en-US" sz="900">
                <a:solidFill>
                  <a:srgbClr val="9DB0CC"/>
                </a:solidFill>
                <a:latin typeface="Calibri"/>
                <a:ea typeface="Calibri"/>
                <a:cs typeface="Calibri"/>
                <a:sym typeface="Calibri"/>
              </a:rPr>
              <a:t>72 Hz</a:t>
            </a:r>
            <a:r>
              <a:rPr lang="en-US" sz="900" b="0" i="0" u="none" strike="noStrike" cap="none">
                <a:solidFill>
                  <a:srgbClr val="9DB0CC"/>
                </a:solidFill>
                <a:latin typeface="Calibri"/>
                <a:ea typeface="Calibri"/>
                <a:cs typeface="Calibri"/>
                <a:sym typeface="Calibri"/>
              </a:rPr>
              <a:t> sample. Gaze coordinates look scattered.</a:t>
            </a:r>
            <a:endParaRPr sz="900" b="0" i="0" u="none" strike="noStrike" cap="none">
              <a:solidFill>
                <a:schemeClr val="dk1"/>
              </a:solidFill>
              <a:latin typeface="Calibri"/>
              <a:ea typeface="Calibri"/>
              <a:cs typeface="Calibri"/>
              <a:sym typeface="Calibri"/>
            </a:endParaRPr>
          </a:p>
        </p:txBody>
      </p:sp>
      <p:sp>
        <p:nvSpPr>
          <p:cNvPr id="210" name="Google Shape;210;p9"/>
          <p:cNvSpPr/>
          <p:nvPr/>
        </p:nvSpPr>
        <p:spPr>
          <a:xfrm>
            <a:off x="502920" y="2395728"/>
            <a:ext cx="37947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484D"/>
              </a:buClr>
              <a:buSzPts val="950"/>
              <a:buFont typeface="Calibri"/>
              <a:buNone/>
            </a:pPr>
            <a:r>
              <a:rPr lang="en-US" sz="950" b="1" i="0" u="none" strike="noStrike" cap="none">
                <a:solidFill>
                  <a:srgbClr val="E5484D"/>
                </a:solidFill>
                <a:latin typeface="Calibri"/>
                <a:ea typeface="Calibri"/>
                <a:cs typeface="Calibri"/>
                <a:sym typeface="Calibri"/>
              </a:rPr>
              <a:t>Why it fails:</a:t>
            </a:r>
            <a:endParaRPr sz="950" b="0" i="0" u="none" strike="noStrike" cap="none">
              <a:solidFill>
                <a:schemeClr val="dk1"/>
              </a:solidFill>
              <a:latin typeface="Calibri"/>
              <a:ea typeface="Calibri"/>
              <a:cs typeface="Calibri"/>
              <a:sym typeface="Calibri"/>
            </a:endParaRPr>
          </a:p>
        </p:txBody>
      </p:sp>
      <p:sp>
        <p:nvSpPr>
          <p:cNvPr id="211" name="Google Shape;211;p9"/>
          <p:cNvSpPr/>
          <p:nvPr/>
        </p:nvSpPr>
        <p:spPr>
          <a:xfrm>
            <a:off x="502920" y="2596896"/>
            <a:ext cx="379476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00"/>
              <a:buFont typeface="Calibri"/>
              <a:buNone/>
            </a:pPr>
            <a:r>
              <a:rPr lang="en-US" sz="900" b="0" i="0" u="none" strike="noStrike" cap="none">
                <a:solidFill>
                  <a:srgbClr val="9DB0CC"/>
                </a:solidFill>
                <a:latin typeface="Calibri"/>
                <a:ea typeface="Calibri"/>
                <a:cs typeface="Calibri"/>
                <a:sym typeface="Calibri"/>
              </a:rPr>
              <a:t>A user dwell holds ~15–35 frames per key. The attacker averages all frames. By the Law of Large Numbers, independent zero-mean noise cancels to zero — returning the true coordinate.</a:t>
            </a:r>
            <a:endParaRPr sz="900" b="0" i="0" u="none" strike="noStrike" cap="none">
              <a:solidFill>
                <a:schemeClr val="dk1"/>
              </a:solidFill>
              <a:latin typeface="Calibri"/>
              <a:ea typeface="Calibri"/>
              <a:cs typeface="Calibri"/>
              <a:sym typeface="Calibri"/>
            </a:endParaRPr>
          </a:p>
        </p:txBody>
      </p:sp>
      <p:sp>
        <p:nvSpPr>
          <p:cNvPr id="212" name="Google Shape;212;p9"/>
          <p:cNvSpPr/>
          <p:nvPr/>
        </p:nvSpPr>
        <p:spPr>
          <a:xfrm>
            <a:off x="502920" y="3108960"/>
            <a:ext cx="3794760" cy="502920"/>
          </a:xfrm>
          <a:prstGeom prst="roundRect">
            <a:avLst>
              <a:gd name="adj" fmla="val 10909"/>
            </a:avLst>
          </a:prstGeom>
          <a:solidFill>
            <a:srgbClr val="0A1120"/>
          </a:solidFill>
          <a:ln w="9525"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9"/>
          <p:cNvSpPr/>
          <p:nvPr/>
        </p:nvSpPr>
        <p:spPr>
          <a:xfrm>
            <a:off x="594360" y="3182112"/>
            <a:ext cx="36118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50"/>
              <a:buFont typeface="Calibri"/>
              <a:buNone/>
            </a:pPr>
            <a:r>
              <a:rPr lang="en-US" sz="950" b="0" i="0" u="none" strike="noStrike" cap="none">
                <a:solidFill>
                  <a:srgbClr val="F5A623"/>
                </a:solidFill>
                <a:latin typeface="Calibri"/>
                <a:ea typeface="Calibri"/>
                <a:cs typeface="Calibri"/>
                <a:sym typeface="Calibri"/>
              </a:rPr>
              <a:t>Centroid = (1/N) Σ(xᵢ + ηᵢ) ≈ x̄   [noise averages to 0]</a:t>
            </a:r>
            <a:endParaRPr sz="950" b="0" i="0" u="none" strike="noStrike" cap="none">
              <a:solidFill>
                <a:schemeClr val="dk1"/>
              </a:solidFill>
              <a:latin typeface="Calibri"/>
              <a:ea typeface="Calibri"/>
              <a:cs typeface="Calibri"/>
              <a:sym typeface="Calibri"/>
            </a:endParaRPr>
          </a:p>
        </p:txBody>
      </p:sp>
      <p:sp>
        <p:nvSpPr>
          <p:cNvPr id="214" name="Google Shape;214;p9"/>
          <p:cNvSpPr/>
          <p:nvPr/>
        </p:nvSpPr>
        <p:spPr>
          <a:xfrm>
            <a:off x="4663440" y="1463040"/>
            <a:ext cx="4069080" cy="2331720"/>
          </a:xfrm>
          <a:prstGeom prst="roundRect">
            <a:avLst>
              <a:gd name="adj" fmla="val 3922"/>
            </a:avLst>
          </a:prstGeom>
          <a:solidFill>
            <a:srgbClr val="16202E"/>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9"/>
          <p:cNvSpPr/>
          <p:nvPr/>
        </p:nvSpPr>
        <p:spPr>
          <a:xfrm>
            <a:off x="4846320" y="1554480"/>
            <a:ext cx="3794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Gap 2 · Correlated Drift Fails</a:t>
            </a:r>
            <a:endParaRPr sz="1100" b="0" i="0" u="none" strike="noStrike" cap="none">
              <a:solidFill>
                <a:schemeClr val="dk1"/>
              </a:solidFill>
              <a:latin typeface="Calibri"/>
              <a:ea typeface="Calibri"/>
              <a:cs typeface="Calibri"/>
              <a:sym typeface="Calibri"/>
            </a:endParaRPr>
          </a:p>
        </p:txBody>
      </p:sp>
      <p:sp>
        <p:nvSpPr>
          <p:cNvPr id="216" name="Google Shape;216;p9"/>
          <p:cNvSpPr/>
          <p:nvPr/>
        </p:nvSpPr>
        <p:spPr>
          <a:xfrm>
            <a:off x="4846320" y="1828800"/>
            <a:ext cx="37947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Drift Strategy:</a:t>
            </a:r>
            <a:endParaRPr sz="950" b="0" i="0" u="none" strike="noStrike" cap="none">
              <a:solidFill>
                <a:schemeClr val="dk1"/>
              </a:solidFill>
              <a:latin typeface="Calibri"/>
              <a:ea typeface="Calibri"/>
              <a:cs typeface="Calibri"/>
              <a:sym typeface="Calibri"/>
            </a:endParaRPr>
          </a:p>
        </p:txBody>
      </p:sp>
      <p:sp>
        <p:nvSpPr>
          <p:cNvPr id="217" name="Google Shape;217;p9"/>
          <p:cNvSpPr/>
          <p:nvPr/>
        </p:nvSpPr>
        <p:spPr>
          <a:xfrm>
            <a:off x="4846320" y="2029968"/>
            <a:ext cx="37947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00"/>
              <a:buFont typeface="Calibri"/>
              <a:buNone/>
            </a:pPr>
            <a:r>
              <a:rPr lang="en-US" sz="900" b="0" i="0" u="none" strike="noStrike" cap="none">
                <a:solidFill>
                  <a:srgbClr val="9DB0CC"/>
                </a:solidFill>
                <a:latin typeface="Calibri"/>
                <a:ea typeface="Calibri"/>
                <a:cs typeface="Calibri"/>
                <a:sym typeface="Calibri"/>
              </a:rPr>
              <a:t>Slowly bias the noise over time</a:t>
            </a:r>
            <a:r>
              <a:rPr lang="en-US" sz="900">
                <a:solidFill>
                  <a:srgbClr val="9DB0CC"/>
                </a:solidFill>
                <a:latin typeface="Calibri"/>
                <a:ea typeface="Calibri"/>
                <a:cs typeface="Calibri"/>
                <a:sym typeface="Calibri"/>
              </a:rPr>
              <a:t>—drift</a:t>
            </a:r>
            <a:r>
              <a:rPr lang="en-US" sz="900" b="0" i="0" u="none" strike="noStrike" cap="none">
                <a:solidFill>
                  <a:srgbClr val="9DB0CC"/>
                </a:solidFill>
                <a:latin typeface="Calibri"/>
                <a:ea typeface="Calibri"/>
                <a:cs typeface="Calibri"/>
                <a:sym typeface="Calibri"/>
              </a:rPr>
              <a:t> the coordinates so absolute positions become unpredictable.</a:t>
            </a:r>
            <a:endParaRPr sz="900" b="0" i="0" u="none" strike="noStrike" cap="none">
              <a:solidFill>
                <a:schemeClr val="dk1"/>
              </a:solidFill>
              <a:latin typeface="Calibri"/>
              <a:ea typeface="Calibri"/>
              <a:cs typeface="Calibri"/>
              <a:sym typeface="Calibri"/>
            </a:endParaRPr>
          </a:p>
        </p:txBody>
      </p:sp>
      <p:sp>
        <p:nvSpPr>
          <p:cNvPr id="218" name="Google Shape;218;p9"/>
          <p:cNvSpPr/>
          <p:nvPr/>
        </p:nvSpPr>
        <p:spPr>
          <a:xfrm>
            <a:off x="4846320" y="2395728"/>
            <a:ext cx="37947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484D"/>
              </a:buClr>
              <a:buSzPts val="950"/>
              <a:buFont typeface="Calibri"/>
              <a:buNone/>
            </a:pPr>
            <a:r>
              <a:rPr lang="en-US" sz="950" b="1" i="0" u="none" strike="noStrike" cap="none">
                <a:solidFill>
                  <a:srgbClr val="E5484D"/>
                </a:solidFill>
                <a:latin typeface="Calibri"/>
                <a:ea typeface="Calibri"/>
                <a:cs typeface="Calibri"/>
                <a:sym typeface="Calibri"/>
              </a:rPr>
              <a:t>Why it fails:</a:t>
            </a:r>
            <a:endParaRPr sz="950" b="0" i="0" u="none" strike="noStrike" cap="none">
              <a:solidFill>
                <a:schemeClr val="dk1"/>
              </a:solidFill>
              <a:latin typeface="Calibri"/>
              <a:ea typeface="Calibri"/>
              <a:cs typeface="Calibri"/>
              <a:sym typeface="Calibri"/>
            </a:endParaRPr>
          </a:p>
        </p:txBody>
      </p:sp>
      <p:sp>
        <p:nvSpPr>
          <p:cNvPr id="219" name="Google Shape;219;p9"/>
          <p:cNvSpPr/>
          <p:nvPr/>
        </p:nvSpPr>
        <p:spPr>
          <a:xfrm>
            <a:off x="4846320" y="2596896"/>
            <a:ext cx="379476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00"/>
              <a:buFont typeface="Calibri"/>
              <a:buNone/>
            </a:pPr>
            <a:r>
              <a:rPr lang="en-US" sz="900" b="0" i="0" u="none" strike="noStrike" cap="none">
                <a:solidFill>
                  <a:srgbClr val="9DB0CC"/>
                </a:solidFill>
                <a:latin typeface="Calibri"/>
                <a:ea typeface="Calibri"/>
                <a:cs typeface="Calibri"/>
                <a:sym typeface="Calibri"/>
              </a:rPr>
              <a:t>BackTree only needs relative distance &amp; angle between consecutive keypress centroids</a:t>
            </a:r>
            <a:r>
              <a:rPr lang="en-US" sz="900">
                <a:solidFill>
                  <a:srgbClr val="9DB0CC"/>
                </a:solidFill>
                <a:latin typeface="Calibri"/>
                <a:ea typeface="Calibri"/>
                <a:cs typeface="Calibri"/>
                <a:sym typeface="Calibri"/>
              </a:rPr>
              <a:t>—not</a:t>
            </a:r>
            <a:r>
              <a:rPr lang="en-US" sz="900" b="0" i="0" u="none" strike="noStrike" cap="none">
                <a:solidFill>
                  <a:srgbClr val="9DB0CC"/>
                </a:solidFill>
                <a:latin typeface="Calibri"/>
                <a:ea typeface="Calibri"/>
                <a:cs typeface="Calibri"/>
                <a:sym typeface="Calibri"/>
              </a:rPr>
              <a:t> absolute positions. Slow drift shifts everything uniformly, preserving the geometry BackTree relies on.</a:t>
            </a:r>
            <a:endParaRPr sz="900" b="0" i="0" u="none" strike="noStrike" cap="none">
              <a:solidFill>
                <a:schemeClr val="dk1"/>
              </a:solidFill>
              <a:latin typeface="Calibri"/>
              <a:ea typeface="Calibri"/>
              <a:cs typeface="Calibri"/>
              <a:sym typeface="Calibri"/>
            </a:endParaRPr>
          </a:p>
        </p:txBody>
      </p:sp>
      <p:sp>
        <p:nvSpPr>
          <p:cNvPr id="220" name="Google Shape;220;p9"/>
          <p:cNvSpPr/>
          <p:nvPr/>
        </p:nvSpPr>
        <p:spPr>
          <a:xfrm>
            <a:off x="4846320" y="3108960"/>
            <a:ext cx="3794760" cy="502920"/>
          </a:xfrm>
          <a:prstGeom prst="roundRect">
            <a:avLst>
              <a:gd name="adj" fmla="val 10909"/>
            </a:avLst>
          </a:prstGeom>
          <a:solidFill>
            <a:srgbClr val="0A1120"/>
          </a:solidFill>
          <a:ln w="9525"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9"/>
          <p:cNvSpPr/>
          <p:nvPr/>
        </p:nvSpPr>
        <p:spPr>
          <a:xfrm>
            <a:off x="4937760" y="3182112"/>
            <a:ext cx="36118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50"/>
              <a:buFont typeface="Calibri"/>
              <a:buNone/>
            </a:pPr>
            <a:r>
              <a:rPr lang="en-US" sz="950" b="0" i="0" u="none" strike="noStrike" cap="none">
                <a:solidFill>
                  <a:srgbClr val="F5A623"/>
                </a:solidFill>
                <a:latin typeface="Calibri"/>
                <a:ea typeface="Calibri"/>
                <a:cs typeface="Calibri"/>
                <a:sym typeface="Calibri"/>
              </a:rPr>
              <a:t>Δ(key_i → key_j) unchanged by uniform drift  →  BackTree still wins</a:t>
            </a:r>
            <a:endParaRPr sz="950" b="0" i="0" u="none" strike="noStrike" cap="none">
              <a:solidFill>
                <a:schemeClr val="dk1"/>
              </a:solidFill>
              <a:latin typeface="Calibri"/>
              <a:ea typeface="Calibri"/>
              <a:cs typeface="Calibri"/>
              <a:sym typeface="Calibri"/>
            </a:endParaRPr>
          </a:p>
        </p:txBody>
      </p:sp>
      <p:sp>
        <p:nvSpPr>
          <p:cNvPr id="222" name="Google Shape;222;p9"/>
          <p:cNvSpPr/>
          <p:nvPr/>
        </p:nvSpPr>
        <p:spPr>
          <a:xfrm>
            <a:off x="320040" y="3845260"/>
            <a:ext cx="8412480" cy="1074542"/>
          </a:xfrm>
          <a:prstGeom prst="roundRect">
            <a:avLst>
              <a:gd name="adj" fmla="val 5797"/>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9"/>
          <p:cNvSpPr/>
          <p:nvPr/>
        </p:nvSpPr>
        <p:spPr>
          <a:xfrm>
            <a:off x="502920" y="3847993"/>
            <a:ext cx="82296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dirty="0">
                <a:solidFill>
                  <a:srgbClr val="16202E"/>
                </a:solidFill>
                <a:latin typeface="Calibri"/>
                <a:ea typeface="Calibri"/>
                <a:cs typeface="Calibri"/>
                <a:sym typeface="Calibri"/>
              </a:rPr>
              <a:t>Benchmark Evidence — our simulation confirms the failure:</a:t>
            </a:r>
            <a:endParaRPr sz="1000" b="0" i="0" u="none" strike="noStrike" cap="none" dirty="0">
              <a:solidFill>
                <a:schemeClr val="dk1"/>
              </a:solidFill>
              <a:latin typeface="Calibri"/>
              <a:ea typeface="Calibri"/>
              <a:cs typeface="Calibri"/>
              <a:sym typeface="Calibri"/>
            </a:endParaRPr>
          </a:p>
        </p:txBody>
      </p:sp>
      <p:sp>
        <p:nvSpPr>
          <p:cNvPr id="224" name="Google Shape;224;p9"/>
          <p:cNvSpPr/>
          <p:nvPr/>
        </p:nvSpPr>
        <p:spPr>
          <a:xfrm>
            <a:off x="502920" y="4016180"/>
            <a:ext cx="1920240"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2600"/>
              <a:buFont typeface="Calibri"/>
              <a:buNone/>
            </a:pPr>
            <a:r>
              <a:rPr lang="en-US" sz="2600" b="1" i="0" u="none" strike="noStrike" cap="none" dirty="0">
                <a:solidFill>
                  <a:srgbClr val="E5484D"/>
                </a:solidFill>
                <a:latin typeface="Calibri"/>
                <a:ea typeface="Calibri"/>
                <a:cs typeface="Calibri"/>
                <a:sym typeface="Calibri"/>
              </a:rPr>
              <a:t>80.9%</a:t>
            </a:r>
            <a:endParaRPr sz="2600" b="0" i="0" u="none" strike="noStrike" cap="none" dirty="0">
              <a:solidFill>
                <a:schemeClr val="dk1"/>
              </a:solidFill>
              <a:latin typeface="Calibri"/>
              <a:ea typeface="Calibri"/>
              <a:cs typeface="Calibri"/>
              <a:sym typeface="Calibri"/>
            </a:endParaRPr>
          </a:p>
        </p:txBody>
      </p:sp>
      <p:sp>
        <p:nvSpPr>
          <p:cNvPr id="225" name="Google Shape;225;p9"/>
          <p:cNvSpPr/>
          <p:nvPr/>
        </p:nvSpPr>
        <p:spPr>
          <a:xfrm>
            <a:off x="502920" y="4418516"/>
            <a:ext cx="192024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800"/>
              <a:buFont typeface="Calibri"/>
              <a:buNone/>
            </a:pPr>
            <a:r>
              <a:rPr lang="en-US" sz="800" b="1" i="0" u="none" strike="noStrike" cap="none">
                <a:solidFill>
                  <a:srgbClr val="16202E"/>
                </a:solidFill>
                <a:latin typeface="Calibri"/>
                <a:ea typeface="Calibri"/>
                <a:cs typeface="Calibri"/>
                <a:sym typeface="Calibri"/>
              </a:rPr>
              <a:t>No Defense</a:t>
            </a:r>
            <a:endParaRPr sz="800" b="0" i="0" u="none" strike="noStrike" cap="none">
              <a:solidFill>
                <a:schemeClr val="dk1"/>
              </a:solidFill>
              <a:latin typeface="Calibri"/>
              <a:ea typeface="Calibri"/>
              <a:cs typeface="Calibri"/>
              <a:sym typeface="Calibri"/>
            </a:endParaRPr>
          </a:p>
        </p:txBody>
      </p:sp>
      <p:sp>
        <p:nvSpPr>
          <p:cNvPr id="226" name="Google Shape;226;p9"/>
          <p:cNvSpPr/>
          <p:nvPr/>
        </p:nvSpPr>
        <p:spPr>
          <a:xfrm>
            <a:off x="502920" y="4576908"/>
            <a:ext cx="19202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dirty="0">
                <a:solidFill>
                  <a:srgbClr val="5C6B82"/>
                </a:solidFill>
                <a:latin typeface="Calibri"/>
                <a:ea typeface="Calibri"/>
                <a:cs typeface="Calibri"/>
                <a:sym typeface="Calibri"/>
              </a:rPr>
              <a:t>Baseline — fully vulnerable</a:t>
            </a:r>
            <a:endParaRPr sz="750" b="0" i="0" u="none" strike="noStrike" cap="none" dirty="0">
              <a:solidFill>
                <a:schemeClr val="dk1"/>
              </a:solidFill>
              <a:latin typeface="Calibri"/>
              <a:ea typeface="Calibri"/>
              <a:cs typeface="Calibri"/>
              <a:sym typeface="Calibri"/>
            </a:endParaRPr>
          </a:p>
        </p:txBody>
      </p:sp>
      <p:sp>
        <p:nvSpPr>
          <p:cNvPr id="227" name="Google Shape;227;p9"/>
          <p:cNvSpPr/>
          <p:nvPr/>
        </p:nvSpPr>
        <p:spPr>
          <a:xfrm>
            <a:off x="2606040" y="4016180"/>
            <a:ext cx="1920240"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2600"/>
              <a:buFont typeface="Calibri"/>
              <a:buNone/>
            </a:pPr>
            <a:r>
              <a:rPr lang="en-US" sz="2600" b="1" i="0" u="none" strike="noStrike" cap="none" dirty="0">
                <a:solidFill>
                  <a:srgbClr val="E5484D"/>
                </a:solidFill>
                <a:latin typeface="Calibri"/>
                <a:ea typeface="Calibri"/>
                <a:cs typeface="Calibri"/>
                <a:sym typeface="Calibri"/>
              </a:rPr>
              <a:t>51.8%</a:t>
            </a:r>
            <a:endParaRPr sz="2600" b="0" i="0" u="none" strike="noStrike" cap="none" dirty="0">
              <a:solidFill>
                <a:schemeClr val="dk1"/>
              </a:solidFill>
              <a:latin typeface="Calibri"/>
              <a:ea typeface="Calibri"/>
              <a:cs typeface="Calibri"/>
              <a:sym typeface="Calibri"/>
            </a:endParaRPr>
          </a:p>
        </p:txBody>
      </p:sp>
      <p:sp>
        <p:nvSpPr>
          <p:cNvPr id="228" name="Google Shape;228;p9"/>
          <p:cNvSpPr/>
          <p:nvPr/>
        </p:nvSpPr>
        <p:spPr>
          <a:xfrm>
            <a:off x="2606040" y="4418516"/>
            <a:ext cx="192024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800"/>
              <a:buFont typeface="Calibri"/>
              <a:buNone/>
            </a:pPr>
            <a:r>
              <a:rPr lang="en-US" sz="800" b="1" i="0" u="none" strike="noStrike" cap="none">
                <a:solidFill>
                  <a:srgbClr val="16202E"/>
                </a:solidFill>
                <a:latin typeface="Calibri"/>
                <a:ea typeface="Calibri"/>
                <a:cs typeface="Calibri"/>
                <a:sym typeface="Calibri"/>
              </a:rPr>
              <a:t>IID Noise</a:t>
            </a:r>
            <a:endParaRPr sz="800" b="0" i="0" u="none" strike="noStrike" cap="none">
              <a:solidFill>
                <a:schemeClr val="dk1"/>
              </a:solidFill>
              <a:latin typeface="Calibri"/>
              <a:ea typeface="Calibri"/>
              <a:cs typeface="Calibri"/>
              <a:sym typeface="Calibri"/>
            </a:endParaRPr>
          </a:p>
        </p:txBody>
      </p:sp>
      <p:sp>
        <p:nvSpPr>
          <p:cNvPr id="229" name="Google Shape;229;p9"/>
          <p:cNvSpPr/>
          <p:nvPr/>
        </p:nvSpPr>
        <p:spPr>
          <a:xfrm>
            <a:off x="2606040" y="4560580"/>
            <a:ext cx="19202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dirty="0">
                <a:solidFill>
                  <a:srgbClr val="5C6B82"/>
                </a:solidFill>
                <a:latin typeface="Calibri"/>
                <a:ea typeface="Calibri"/>
                <a:cs typeface="Calibri"/>
                <a:sym typeface="Calibri"/>
              </a:rPr>
              <a:t>Top-1 against adaptive attacker</a:t>
            </a:r>
            <a:endParaRPr sz="75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750"/>
              <a:buFont typeface="Calibri"/>
              <a:buNone/>
            </a:pPr>
            <a:r>
              <a:rPr lang="en-US" sz="750" b="0" i="0" u="none" strike="noStrike" cap="none" dirty="0">
                <a:solidFill>
                  <a:srgbClr val="5C6B82"/>
                </a:solidFill>
                <a:latin typeface="Calibri"/>
                <a:ea typeface="Calibri"/>
                <a:cs typeface="Calibri"/>
                <a:sym typeface="Calibri"/>
              </a:rPr>
              <a:t>(noise averaged away)</a:t>
            </a:r>
            <a:endParaRPr sz="750" b="0" i="0" u="none" strike="noStrike" cap="none" dirty="0">
              <a:solidFill>
                <a:schemeClr val="dk1"/>
              </a:solidFill>
              <a:latin typeface="Calibri"/>
              <a:ea typeface="Calibri"/>
              <a:cs typeface="Calibri"/>
              <a:sym typeface="Calibri"/>
            </a:endParaRPr>
          </a:p>
        </p:txBody>
      </p:sp>
      <p:sp>
        <p:nvSpPr>
          <p:cNvPr id="230" name="Google Shape;230;p9"/>
          <p:cNvSpPr/>
          <p:nvPr/>
        </p:nvSpPr>
        <p:spPr>
          <a:xfrm>
            <a:off x="4709160" y="4016180"/>
            <a:ext cx="1920240"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2600"/>
              <a:buFont typeface="Calibri"/>
              <a:buNone/>
            </a:pPr>
            <a:r>
              <a:rPr lang="en-US" sz="2600" b="1" i="0" u="none" strike="noStrike" cap="none">
                <a:solidFill>
                  <a:srgbClr val="F5A623"/>
                </a:solidFill>
                <a:latin typeface="Calibri"/>
                <a:ea typeface="Calibri"/>
                <a:cs typeface="Calibri"/>
                <a:sym typeface="Calibri"/>
              </a:rPr>
              <a:t>27.6%</a:t>
            </a:r>
            <a:endParaRPr sz="2600" b="0" i="0" u="none" strike="noStrike" cap="none">
              <a:solidFill>
                <a:schemeClr val="dk1"/>
              </a:solidFill>
              <a:latin typeface="Calibri"/>
              <a:ea typeface="Calibri"/>
              <a:cs typeface="Calibri"/>
              <a:sym typeface="Calibri"/>
            </a:endParaRPr>
          </a:p>
        </p:txBody>
      </p:sp>
      <p:sp>
        <p:nvSpPr>
          <p:cNvPr id="231" name="Google Shape;231;p9"/>
          <p:cNvSpPr/>
          <p:nvPr/>
        </p:nvSpPr>
        <p:spPr>
          <a:xfrm>
            <a:off x="4709160" y="4418516"/>
            <a:ext cx="192024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800"/>
              <a:buFont typeface="Calibri"/>
              <a:buNone/>
            </a:pPr>
            <a:r>
              <a:rPr lang="en-US" sz="800" b="1" i="0" u="none" strike="noStrike" cap="none">
                <a:solidFill>
                  <a:srgbClr val="16202E"/>
                </a:solidFill>
                <a:latin typeface="Calibri"/>
                <a:ea typeface="Calibri"/>
                <a:cs typeface="Calibri"/>
                <a:sym typeface="Calibri"/>
              </a:rPr>
              <a:t>Correlated Drift</a:t>
            </a:r>
            <a:endParaRPr sz="800" b="0" i="0" u="none" strike="noStrike" cap="none">
              <a:solidFill>
                <a:schemeClr val="dk1"/>
              </a:solidFill>
              <a:latin typeface="Calibri"/>
              <a:ea typeface="Calibri"/>
              <a:cs typeface="Calibri"/>
              <a:sym typeface="Calibri"/>
            </a:endParaRPr>
          </a:p>
        </p:txBody>
      </p:sp>
      <p:sp>
        <p:nvSpPr>
          <p:cNvPr id="232" name="Google Shape;232;p9"/>
          <p:cNvSpPr/>
          <p:nvPr/>
        </p:nvSpPr>
        <p:spPr>
          <a:xfrm>
            <a:off x="4709160" y="4593236"/>
            <a:ext cx="19202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dirty="0">
                <a:solidFill>
                  <a:srgbClr val="5C6B82"/>
                </a:solidFill>
                <a:latin typeface="Calibri"/>
                <a:ea typeface="Calibri"/>
                <a:cs typeface="Calibri"/>
                <a:sym typeface="Calibri"/>
              </a:rPr>
              <a:t>Still leaks — relative geometry</a:t>
            </a:r>
            <a:endParaRPr sz="75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750"/>
              <a:buFont typeface="Calibri"/>
              <a:buNone/>
            </a:pPr>
            <a:r>
              <a:rPr lang="en-US" sz="750" b="0" i="0" u="none" strike="noStrike" cap="none" dirty="0">
                <a:solidFill>
                  <a:srgbClr val="5C6B82"/>
                </a:solidFill>
                <a:latin typeface="Calibri"/>
                <a:ea typeface="Calibri"/>
                <a:cs typeface="Calibri"/>
                <a:sym typeface="Calibri"/>
              </a:rPr>
              <a:t>survives drift</a:t>
            </a:r>
            <a:endParaRPr sz="750" b="0" i="0" u="none" strike="noStrike" cap="none" dirty="0">
              <a:solidFill>
                <a:schemeClr val="dk1"/>
              </a:solidFill>
              <a:latin typeface="Calibri"/>
              <a:ea typeface="Calibri"/>
              <a:cs typeface="Calibri"/>
              <a:sym typeface="Calibri"/>
            </a:endParaRPr>
          </a:p>
        </p:txBody>
      </p:sp>
      <p:sp>
        <p:nvSpPr>
          <p:cNvPr id="233" name="Google Shape;233;p9"/>
          <p:cNvSpPr/>
          <p:nvPr/>
        </p:nvSpPr>
        <p:spPr>
          <a:xfrm>
            <a:off x="6812280" y="4016180"/>
            <a:ext cx="1920240"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2600"/>
              <a:buFont typeface="Calibri"/>
              <a:buNone/>
            </a:pPr>
            <a:r>
              <a:rPr lang="en-US" sz="2600" b="1" i="0" u="none" strike="noStrike" cap="none" dirty="0">
                <a:solidFill>
                  <a:srgbClr val="3FA66A"/>
                </a:solidFill>
                <a:latin typeface="Calibri"/>
                <a:ea typeface="Calibri"/>
                <a:cs typeface="Calibri"/>
                <a:sym typeface="Calibri"/>
              </a:rPr>
              <a:t>3.6%</a:t>
            </a:r>
            <a:endParaRPr sz="2600" b="0" i="0" u="none" strike="noStrike" cap="none" dirty="0">
              <a:solidFill>
                <a:schemeClr val="dk1"/>
              </a:solidFill>
              <a:latin typeface="Calibri"/>
              <a:ea typeface="Calibri"/>
              <a:cs typeface="Calibri"/>
              <a:sym typeface="Calibri"/>
            </a:endParaRPr>
          </a:p>
        </p:txBody>
      </p:sp>
      <p:sp>
        <p:nvSpPr>
          <p:cNvPr id="234" name="Google Shape;234;p9"/>
          <p:cNvSpPr/>
          <p:nvPr/>
        </p:nvSpPr>
        <p:spPr>
          <a:xfrm>
            <a:off x="6812280" y="4418516"/>
            <a:ext cx="1920240"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800"/>
              <a:buFont typeface="Calibri"/>
              <a:buNone/>
            </a:pPr>
            <a:r>
              <a:rPr lang="en-US" sz="800" b="1" i="0" u="none" strike="noStrike" cap="none">
                <a:solidFill>
                  <a:srgbClr val="16202E"/>
                </a:solidFill>
                <a:latin typeface="Calibri"/>
                <a:ea typeface="Calibri"/>
                <a:cs typeface="Calibri"/>
                <a:sym typeface="Calibri"/>
              </a:rPr>
              <a:t>CASOM Block Offset</a:t>
            </a:r>
            <a:endParaRPr sz="800" b="0" i="0" u="none" strike="noStrike" cap="none">
              <a:solidFill>
                <a:schemeClr val="dk1"/>
              </a:solidFill>
              <a:latin typeface="Calibri"/>
              <a:ea typeface="Calibri"/>
              <a:cs typeface="Calibri"/>
              <a:sym typeface="Calibri"/>
            </a:endParaRPr>
          </a:p>
        </p:txBody>
      </p:sp>
      <p:sp>
        <p:nvSpPr>
          <p:cNvPr id="235" name="Google Shape;235;p9"/>
          <p:cNvSpPr/>
          <p:nvPr/>
        </p:nvSpPr>
        <p:spPr>
          <a:xfrm>
            <a:off x="6812280" y="4593236"/>
            <a:ext cx="19202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Our solution</a:t>
            </a:r>
            <a:r>
              <a:rPr lang="en-US" sz="750">
                <a:solidFill>
                  <a:srgbClr val="5C6B82"/>
                </a:solidFill>
                <a:latin typeface="Calibri"/>
                <a:ea typeface="Calibri"/>
                <a:cs typeface="Calibri"/>
                <a:sym typeface="Calibri"/>
              </a:rPr>
              <a:t>—geometry</a:t>
            </a:r>
            <a:r>
              <a:rPr lang="en-US" sz="750" b="0" i="0" u="none" strike="noStrike" cap="none">
                <a:solidFill>
                  <a:srgbClr val="5C6B82"/>
                </a:solidFill>
                <a:latin typeface="Calibri"/>
                <a:ea typeface="Calibri"/>
                <a:cs typeface="Calibri"/>
                <a:sym typeface="Calibri"/>
              </a:rPr>
              <a:t> destroyed</a:t>
            </a:r>
            <a:endParaRPr sz="75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0"/>
        <p:cNvGrpSpPr/>
        <p:nvPr/>
      </p:nvGrpSpPr>
      <p:grpSpPr>
        <a:xfrm>
          <a:off x="0" y="0"/>
          <a:ext cx="0" cy="0"/>
          <a:chOff x="0" y="0"/>
          <a:chExt cx="0" cy="0"/>
        </a:xfrm>
      </p:grpSpPr>
      <p:sp>
        <p:nvSpPr>
          <p:cNvPr id="241" name="Google Shape;241;p10"/>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IDENTIFIED GAPS · §3</a:t>
            </a:r>
            <a:endParaRPr sz="900" b="0" i="0" u="none" strike="noStrike" cap="none" dirty="0">
              <a:solidFill>
                <a:schemeClr val="dk1"/>
              </a:solidFill>
              <a:latin typeface="Calibri"/>
              <a:ea typeface="Calibri"/>
              <a:cs typeface="Calibri"/>
              <a:sym typeface="Calibri"/>
            </a:endParaRPr>
          </a:p>
        </p:txBody>
      </p:sp>
      <p:sp>
        <p:nvSpPr>
          <p:cNvPr id="242" name="Google Shape;242;p10"/>
          <p:cNvSpPr/>
          <p:nvPr/>
        </p:nvSpPr>
        <p:spPr>
          <a:xfrm>
            <a:off x="365760" y="420624"/>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dirty="0">
                <a:solidFill>
                  <a:srgbClr val="16202E"/>
                </a:solidFill>
                <a:latin typeface="Calibri"/>
                <a:ea typeface="Calibri"/>
                <a:cs typeface="Calibri"/>
                <a:sym typeface="Calibri"/>
              </a:rPr>
              <a:t>Additional Gap</a:t>
            </a:r>
            <a:r>
              <a:rPr lang="en-US" sz="2400" b="1" i="0" u="none" strike="noStrike" cap="none" dirty="0">
                <a:solidFill>
                  <a:srgbClr val="16202E"/>
                </a:solidFill>
                <a:latin typeface="Calibri"/>
                <a:ea typeface="Calibri"/>
                <a:cs typeface="Calibri"/>
                <a:sym typeface="Calibri"/>
              </a:rPr>
              <a:t>: Can users intentionally evade or poison the attack?</a:t>
            </a:r>
            <a:endParaRPr sz="2400" b="0" i="0" u="none" strike="noStrike" cap="none" dirty="0">
              <a:solidFill>
                <a:schemeClr val="dk1"/>
              </a:solidFill>
              <a:latin typeface="Calibri"/>
              <a:ea typeface="Calibri"/>
              <a:cs typeface="Calibri"/>
              <a:sym typeface="Calibri"/>
            </a:endParaRPr>
          </a:p>
        </p:txBody>
      </p:sp>
      <p:sp>
        <p:nvSpPr>
          <p:cNvPr id="243" name="Google Shape;243;p10"/>
          <p:cNvSpPr/>
          <p:nvPr/>
        </p:nvSpPr>
        <p:spPr>
          <a:xfrm>
            <a:off x="365760" y="4625886"/>
            <a:ext cx="4572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IDENTIFIED GAPS</a:t>
            </a:r>
            <a:endParaRPr sz="700" b="0" i="0" u="none" strike="noStrike" cap="none">
              <a:solidFill>
                <a:schemeClr val="dk1"/>
              </a:solidFill>
              <a:latin typeface="Calibri"/>
              <a:ea typeface="Calibri"/>
              <a:cs typeface="Calibri"/>
              <a:sym typeface="Calibri"/>
            </a:endParaRPr>
          </a:p>
        </p:txBody>
      </p:sp>
      <p:sp>
        <p:nvSpPr>
          <p:cNvPr id="244" name="Google Shape;244;p10"/>
          <p:cNvSpPr/>
          <p:nvPr/>
        </p:nvSpPr>
        <p:spPr>
          <a:xfrm>
            <a:off x="4572000" y="4903466"/>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11</a:t>
            </a:r>
            <a:endParaRPr sz="700" b="0" i="0" u="none" strike="noStrike" cap="none">
              <a:solidFill>
                <a:schemeClr val="dk1"/>
              </a:solidFill>
              <a:latin typeface="Calibri"/>
              <a:ea typeface="Calibri"/>
              <a:cs typeface="Calibri"/>
              <a:sym typeface="Calibri"/>
            </a:endParaRPr>
          </a:p>
        </p:txBody>
      </p:sp>
      <p:sp>
        <p:nvSpPr>
          <p:cNvPr id="245" name="Google Shape;245;p10"/>
          <p:cNvSpPr/>
          <p:nvPr/>
        </p:nvSpPr>
        <p:spPr>
          <a:xfrm>
            <a:off x="320040" y="1260894"/>
            <a:ext cx="4160520" cy="932688"/>
          </a:xfrm>
          <a:prstGeom prst="roundRect">
            <a:avLst>
              <a:gd name="adj" fmla="val 7843"/>
            </a:avLst>
          </a:prstGeom>
          <a:solidFill>
            <a:srgbClr val="F2F5FA"/>
          </a:solidFill>
          <a:ln w="9525" cap="flat" cmpd="sng">
            <a:solidFill>
              <a:srgbClr val="FD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6" name="Google Shape;246;p10" descr="preencoded.png"/>
          <p:cNvPicPr preferRelativeResize="0"/>
          <p:nvPr/>
        </p:nvPicPr>
        <p:blipFill rotWithShape="1">
          <a:blip r:embed="rId3">
            <a:alphaModFix/>
          </a:blip>
          <a:srcRect/>
          <a:stretch/>
        </p:blipFill>
        <p:spPr>
          <a:xfrm>
            <a:off x="502920" y="1352334"/>
            <a:ext cx="237744" cy="237744"/>
          </a:xfrm>
          <a:prstGeom prst="rect">
            <a:avLst/>
          </a:prstGeom>
          <a:noFill/>
          <a:ln>
            <a:noFill/>
          </a:ln>
        </p:spPr>
      </p:pic>
      <p:sp>
        <p:nvSpPr>
          <p:cNvPr id="247" name="Google Shape;247;p10"/>
          <p:cNvSpPr/>
          <p:nvPr/>
        </p:nvSpPr>
        <p:spPr>
          <a:xfrm>
            <a:off x="804672" y="1352334"/>
            <a:ext cx="35661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484D"/>
              </a:buClr>
              <a:buSzPts val="1050"/>
              <a:buFont typeface="Calibri"/>
              <a:buNone/>
            </a:pPr>
            <a:r>
              <a:rPr lang="en-US" sz="1050" b="1">
                <a:solidFill>
                  <a:srgbClr val="E5484D"/>
                </a:solidFill>
                <a:latin typeface="Calibri"/>
                <a:ea typeface="Calibri"/>
                <a:cs typeface="Calibri"/>
                <a:sym typeface="Calibri"/>
              </a:rPr>
              <a:t>Evade or Poison the attack</a:t>
            </a:r>
            <a:endParaRPr sz="1050" b="0" i="0" u="none" strike="noStrike" cap="none">
              <a:solidFill>
                <a:schemeClr val="dk1"/>
              </a:solidFill>
              <a:latin typeface="Calibri"/>
              <a:ea typeface="Calibri"/>
              <a:cs typeface="Calibri"/>
              <a:sym typeface="Calibri"/>
            </a:endParaRPr>
          </a:p>
        </p:txBody>
      </p:sp>
      <p:sp>
        <p:nvSpPr>
          <p:cNvPr id="248" name="Google Shape;248;p10"/>
          <p:cNvSpPr/>
          <p:nvPr/>
        </p:nvSpPr>
        <p:spPr>
          <a:xfrm>
            <a:off x="502920" y="1626654"/>
            <a:ext cx="3858768"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3333"/>
              </a:buClr>
              <a:buSzPts val="900"/>
              <a:buFont typeface="Calibri"/>
              <a:buNone/>
            </a:pPr>
            <a:r>
              <a:rPr lang="en-US" sz="900" b="0" i="0" u="none" strike="noStrike" cap="none" dirty="0">
                <a:solidFill>
                  <a:srgbClr val="993333"/>
                </a:solidFill>
                <a:latin typeface="Calibri"/>
                <a:ea typeface="Calibri"/>
                <a:cs typeface="Calibri"/>
                <a:sym typeface="Calibri"/>
              </a:rPr>
              <a:t>The SNOOPFINGER paper assumes a passive, cooperative user. It never evaluates what happens when a user actively fights back by deliberately decoupling their gaze from their keystrokes.</a:t>
            </a:r>
            <a:endParaRPr sz="900" b="0" i="0" u="none" strike="noStrike" cap="none" dirty="0">
              <a:solidFill>
                <a:schemeClr val="dk1"/>
              </a:solidFill>
              <a:latin typeface="Calibri"/>
              <a:ea typeface="Calibri"/>
              <a:cs typeface="Calibri"/>
              <a:sym typeface="Calibri"/>
            </a:endParaRPr>
          </a:p>
        </p:txBody>
      </p:sp>
      <p:sp>
        <p:nvSpPr>
          <p:cNvPr id="249" name="Google Shape;249;p10"/>
          <p:cNvSpPr/>
          <p:nvPr/>
        </p:nvSpPr>
        <p:spPr>
          <a:xfrm>
            <a:off x="320040" y="2236556"/>
            <a:ext cx="41604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Decoy Chaffing</a:t>
            </a:r>
            <a:r>
              <a:rPr lang="en-US" sz="1100" b="1">
                <a:solidFill>
                  <a:srgbClr val="16202E"/>
                </a:solidFill>
                <a:latin typeface="Calibri"/>
                <a:ea typeface="Calibri"/>
                <a:cs typeface="Calibri"/>
                <a:sym typeface="Calibri"/>
              </a:rPr>
              <a:t>—How</a:t>
            </a:r>
            <a:r>
              <a:rPr lang="en-US" sz="1100" b="1" i="0" u="none" strike="noStrike" cap="none">
                <a:solidFill>
                  <a:srgbClr val="16202E"/>
                </a:solidFill>
                <a:latin typeface="Calibri"/>
                <a:ea typeface="Calibri"/>
                <a:cs typeface="Calibri"/>
                <a:sym typeface="Calibri"/>
              </a:rPr>
              <a:t> It Works</a:t>
            </a:r>
            <a:endParaRPr sz="1100" b="0" i="0" u="none" strike="noStrike" cap="none">
              <a:solidFill>
                <a:schemeClr val="dk1"/>
              </a:solidFill>
              <a:latin typeface="Calibri"/>
              <a:ea typeface="Calibri"/>
              <a:cs typeface="Calibri"/>
              <a:sym typeface="Calibri"/>
            </a:endParaRPr>
          </a:p>
        </p:txBody>
      </p:sp>
      <p:sp>
        <p:nvSpPr>
          <p:cNvPr id="250" name="Google Shape;250;p10"/>
          <p:cNvSpPr/>
          <p:nvPr/>
        </p:nvSpPr>
        <p:spPr>
          <a:xfrm>
            <a:off x="320040" y="2504478"/>
            <a:ext cx="256032" cy="256032"/>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0"/>
          <p:cNvSpPr/>
          <p:nvPr/>
        </p:nvSpPr>
        <p:spPr>
          <a:xfrm>
            <a:off x="320040" y="2504478"/>
            <a:ext cx="2560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1000"/>
              <a:buFont typeface="Calibri"/>
              <a:buNone/>
            </a:pPr>
            <a:r>
              <a:rPr lang="en-US" sz="1000" b="1" i="0" u="none" strike="noStrike" cap="none">
                <a:solidFill>
                  <a:srgbClr val="0E1726"/>
                </a:solidFill>
                <a:latin typeface="Calibri"/>
                <a:ea typeface="Calibri"/>
                <a:cs typeface="Calibri"/>
                <a:sym typeface="Calibri"/>
              </a:rPr>
              <a:t>1</a:t>
            </a:r>
            <a:endParaRPr sz="1000" b="0" i="0" u="none" strike="noStrike" cap="none">
              <a:solidFill>
                <a:schemeClr val="dk1"/>
              </a:solidFill>
              <a:latin typeface="Calibri"/>
              <a:ea typeface="Calibri"/>
              <a:cs typeface="Calibri"/>
              <a:sym typeface="Calibri"/>
            </a:endParaRPr>
          </a:p>
        </p:txBody>
      </p:sp>
      <p:sp>
        <p:nvSpPr>
          <p:cNvPr id="252" name="Google Shape;252;p10"/>
          <p:cNvSpPr/>
          <p:nvPr/>
        </p:nvSpPr>
        <p:spPr>
          <a:xfrm>
            <a:off x="640080" y="2522766"/>
            <a:ext cx="374904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950"/>
              <a:buFont typeface="Calibri"/>
              <a:buNone/>
            </a:pPr>
            <a:r>
              <a:rPr lang="en-US" sz="950" b="1" i="0" u="none" strike="noStrike" cap="none">
                <a:solidFill>
                  <a:srgbClr val="16202E"/>
                </a:solidFill>
                <a:latin typeface="Calibri"/>
                <a:ea typeface="Calibri"/>
                <a:cs typeface="Calibri"/>
                <a:sym typeface="Calibri"/>
              </a:rPr>
              <a:t>Type Normally:</a:t>
            </a:r>
            <a:endParaRPr sz="950" b="0" i="0" u="none" strike="noStrike" cap="none">
              <a:solidFill>
                <a:schemeClr val="dk1"/>
              </a:solidFill>
              <a:latin typeface="Calibri"/>
              <a:ea typeface="Calibri"/>
              <a:cs typeface="Calibri"/>
              <a:sym typeface="Calibri"/>
            </a:endParaRPr>
          </a:p>
        </p:txBody>
      </p:sp>
      <p:sp>
        <p:nvSpPr>
          <p:cNvPr id="253" name="Google Shape;253;p10"/>
          <p:cNvSpPr/>
          <p:nvPr/>
        </p:nvSpPr>
        <p:spPr>
          <a:xfrm>
            <a:off x="640080" y="2723934"/>
            <a:ext cx="37490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850"/>
              <a:buFont typeface="Calibri"/>
              <a:buNone/>
            </a:pPr>
            <a:r>
              <a:rPr lang="en-US" sz="850">
                <a:solidFill>
                  <a:srgbClr val="5C6B82"/>
                </a:solidFill>
                <a:latin typeface="Calibri"/>
                <a:ea typeface="Calibri"/>
                <a:cs typeface="Calibri"/>
                <a:sym typeface="Calibri"/>
              </a:rPr>
              <a:t>The user</a:t>
            </a:r>
            <a:r>
              <a:rPr lang="en-US" sz="850" b="0" i="0" u="none" strike="noStrike" cap="none">
                <a:solidFill>
                  <a:srgbClr val="5C6B82"/>
                </a:solidFill>
                <a:latin typeface="Calibri"/>
                <a:ea typeface="Calibri"/>
                <a:cs typeface="Calibri"/>
                <a:sym typeface="Calibri"/>
              </a:rPr>
              <a:t> presses real keys with their fingers as usual</a:t>
            </a:r>
            <a:r>
              <a:rPr lang="en-US" sz="850">
                <a:solidFill>
                  <a:srgbClr val="5C6B82"/>
                </a:solidFill>
                <a:latin typeface="Calibri"/>
                <a:ea typeface="Calibri"/>
                <a:cs typeface="Calibri"/>
                <a:sym typeface="Calibri"/>
              </a:rPr>
              <a:t>—the</a:t>
            </a:r>
            <a:r>
              <a:rPr lang="en-US" sz="850" b="0" i="0" u="none" strike="noStrike" cap="none">
                <a:solidFill>
                  <a:srgbClr val="5C6B82"/>
                </a:solidFill>
                <a:latin typeface="Calibri"/>
                <a:ea typeface="Calibri"/>
                <a:cs typeface="Calibri"/>
                <a:sym typeface="Calibri"/>
              </a:rPr>
              <a:t> foreground keyboard receives correct input.</a:t>
            </a:r>
            <a:endParaRPr sz="850" b="0" i="0" u="none" strike="noStrike" cap="none">
              <a:solidFill>
                <a:schemeClr val="dk1"/>
              </a:solidFill>
              <a:latin typeface="Calibri"/>
              <a:ea typeface="Calibri"/>
              <a:cs typeface="Calibri"/>
              <a:sym typeface="Calibri"/>
            </a:endParaRPr>
          </a:p>
        </p:txBody>
      </p:sp>
      <p:sp>
        <p:nvSpPr>
          <p:cNvPr id="254" name="Google Shape;254;p10"/>
          <p:cNvSpPr/>
          <p:nvPr/>
        </p:nvSpPr>
        <p:spPr>
          <a:xfrm>
            <a:off x="320040" y="3089694"/>
            <a:ext cx="256032" cy="256032"/>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0"/>
          <p:cNvSpPr/>
          <p:nvPr/>
        </p:nvSpPr>
        <p:spPr>
          <a:xfrm>
            <a:off x="320040" y="3089694"/>
            <a:ext cx="2560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1000"/>
              <a:buFont typeface="Calibri"/>
              <a:buNone/>
            </a:pPr>
            <a:r>
              <a:rPr lang="en-US" sz="1000" b="1" i="0" u="none" strike="noStrike" cap="none">
                <a:solidFill>
                  <a:srgbClr val="0E1726"/>
                </a:solidFill>
                <a:latin typeface="Calibri"/>
                <a:ea typeface="Calibri"/>
                <a:cs typeface="Calibri"/>
                <a:sym typeface="Calibri"/>
              </a:rPr>
              <a:t>2</a:t>
            </a:r>
            <a:endParaRPr sz="1000" b="0" i="0" u="none" strike="noStrike" cap="none">
              <a:solidFill>
                <a:schemeClr val="dk1"/>
              </a:solidFill>
              <a:latin typeface="Calibri"/>
              <a:ea typeface="Calibri"/>
              <a:cs typeface="Calibri"/>
              <a:sym typeface="Calibri"/>
            </a:endParaRPr>
          </a:p>
        </p:txBody>
      </p:sp>
      <p:sp>
        <p:nvSpPr>
          <p:cNvPr id="256" name="Google Shape;256;p10"/>
          <p:cNvSpPr/>
          <p:nvPr/>
        </p:nvSpPr>
        <p:spPr>
          <a:xfrm>
            <a:off x="640080" y="3107982"/>
            <a:ext cx="374904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950"/>
              <a:buFont typeface="Calibri"/>
              <a:buNone/>
            </a:pPr>
            <a:r>
              <a:rPr lang="en-US" sz="950" b="1" i="0" u="none" strike="noStrike" cap="none">
                <a:solidFill>
                  <a:srgbClr val="16202E"/>
                </a:solidFill>
                <a:latin typeface="Calibri"/>
                <a:ea typeface="Calibri"/>
                <a:cs typeface="Calibri"/>
                <a:sym typeface="Calibri"/>
              </a:rPr>
              <a:t>Decouple Gaze:</a:t>
            </a:r>
            <a:endParaRPr sz="950" b="0" i="0" u="none" strike="noStrike" cap="none">
              <a:solidFill>
                <a:schemeClr val="dk1"/>
              </a:solidFill>
              <a:latin typeface="Calibri"/>
              <a:ea typeface="Calibri"/>
              <a:cs typeface="Calibri"/>
              <a:sym typeface="Calibri"/>
            </a:endParaRPr>
          </a:p>
        </p:txBody>
      </p:sp>
      <p:sp>
        <p:nvSpPr>
          <p:cNvPr id="257" name="Google Shape;257;p10"/>
          <p:cNvSpPr/>
          <p:nvPr/>
        </p:nvSpPr>
        <p:spPr>
          <a:xfrm>
            <a:off x="640080" y="3309150"/>
            <a:ext cx="37490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While typing, </a:t>
            </a:r>
            <a:r>
              <a:rPr lang="en-US" sz="850">
                <a:solidFill>
                  <a:srgbClr val="5C6B82"/>
                </a:solidFill>
                <a:latin typeface="Calibri"/>
                <a:ea typeface="Calibri"/>
                <a:cs typeface="Calibri"/>
                <a:sym typeface="Calibri"/>
              </a:rPr>
              <a:t>the user</a:t>
            </a:r>
            <a:r>
              <a:rPr lang="en-US" sz="850" b="0" i="0" u="none" strike="noStrike" cap="none">
                <a:solidFill>
                  <a:srgbClr val="5C6B82"/>
                </a:solidFill>
                <a:latin typeface="Calibri"/>
                <a:ea typeface="Calibri"/>
                <a:cs typeface="Calibri"/>
                <a:sym typeface="Calibri"/>
              </a:rPr>
              <a:t> moves their head in a deliberately unrelated circular or random pattern, decoupling head orientation from finger position.</a:t>
            </a:r>
            <a:endParaRPr sz="850" b="0" i="0" u="none" strike="noStrike" cap="none">
              <a:solidFill>
                <a:schemeClr val="dk1"/>
              </a:solidFill>
              <a:latin typeface="Calibri"/>
              <a:ea typeface="Calibri"/>
              <a:cs typeface="Calibri"/>
              <a:sym typeface="Calibri"/>
            </a:endParaRPr>
          </a:p>
        </p:txBody>
      </p:sp>
      <p:sp>
        <p:nvSpPr>
          <p:cNvPr id="258" name="Google Shape;258;p10"/>
          <p:cNvSpPr/>
          <p:nvPr/>
        </p:nvSpPr>
        <p:spPr>
          <a:xfrm>
            <a:off x="320040" y="3674910"/>
            <a:ext cx="256032" cy="256032"/>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0"/>
          <p:cNvSpPr/>
          <p:nvPr/>
        </p:nvSpPr>
        <p:spPr>
          <a:xfrm>
            <a:off x="320040" y="3674910"/>
            <a:ext cx="25603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1000"/>
              <a:buFont typeface="Calibri"/>
              <a:buNone/>
            </a:pPr>
            <a:r>
              <a:rPr lang="en-US" sz="1000" b="1" i="0" u="none" strike="noStrike" cap="none">
                <a:solidFill>
                  <a:srgbClr val="0E1726"/>
                </a:solidFill>
                <a:latin typeface="Calibri"/>
                <a:ea typeface="Calibri"/>
                <a:cs typeface="Calibri"/>
                <a:sym typeface="Calibri"/>
              </a:rPr>
              <a:t>3</a:t>
            </a:r>
            <a:endParaRPr sz="1000" b="0" i="0" u="none" strike="noStrike" cap="none">
              <a:solidFill>
                <a:schemeClr val="dk1"/>
              </a:solidFill>
              <a:latin typeface="Calibri"/>
              <a:ea typeface="Calibri"/>
              <a:cs typeface="Calibri"/>
              <a:sym typeface="Calibri"/>
            </a:endParaRPr>
          </a:p>
        </p:txBody>
      </p:sp>
      <p:sp>
        <p:nvSpPr>
          <p:cNvPr id="260" name="Google Shape;260;p10"/>
          <p:cNvSpPr/>
          <p:nvPr/>
        </p:nvSpPr>
        <p:spPr>
          <a:xfrm>
            <a:off x="640080" y="3693198"/>
            <a:ext cx="3749040" cy="182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950"/>
              <a:buFont typeface="Calibri"/>
              <a:buNone/>
            </a:pPr>
            <a:r>
              <a:rPr lang="en-US" sz="950" b="1" i="0" u="none" strike="noStrike" cap="none">
                <a:solidFill>
                  <a:srgbClr val="16202E"/>
                </a:solidFill>
                <a:latin typeface="Calibri"/>
                <a:ea typeface="Calibri"/>
                <a:cs typeface="Calibri"/>
                <a:sym typeface="Calibri"/>
              </a:rPr>
              <a:t>Poison the Stream:</a:t>
            </a:r>
            <a:endParaRPr sz="950" b="0" i="0" u="none" strike="noStrike" cap="none">
              <a:solidFill>
                <a:schemeClr val="dk1"/>
              </a:solidFill>
              <a:latin typeface="Calibri"/>
              <a:ea typeface="Calibri"/>
              <a:cs typeface="Calibri"/>
              <a:sym typeface="Calibri"/>
            </a:endParaRPr>
          </a:p>
        </p:txBody>
      </p:sp>
      <p:sp>
        <p:nvSpPr>
          <p:cNvPr id="261" name="Google Shape;261;p10"/>
          <p:cNvSpPr/>
          <p:nvPr/>
        </p:nvSpPr>
        <p:spPr>
          <a:xfrm>
            <a:off x="640080" y="3894366"/>
            <a:ext cx="37490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The attacker's 72Hz quaternion stream records the fake head trajectory. BackTree receives scrambled geometry and infers garbage.</a:t>
            </a:r>
            <a:endParaRPr sz="850" b="0" i="0" u="none" strike="noStrike" cap="none">
              <a:solidFill>
                <a:schemeClr val="dk1"/>
              </a:solidFill>
              <a:latin typeface="Calibri"/>
              <a:ea typeface="Calibri"/>
              <a:cs typeface="Calibri"/>
              <a:sym typeface="Calibri"/>
            </a:endParaRPr>
          </a:p>
        </p:txBody>
      </p:sp>
      <p:sp>
        <p:nvSpPr>
          <p:cNvPr id="262" name="Google Shape;262;p10"/>
          <p:cNvSpPr/>
          <p:nvPr/>
        </p:nvSpPr>
        <p:spPr>
          <a:xfrm>
            <a:off x="4663440" y="1260894"/>
            <a:ext cx="4114800" cy="3611880"/>
          </a:xfrm>
          <a:prstGeom prst="roundRect">
            <a:avLst>
              <a:gd name="adj" fmla="val 2532"/>
            </a:avLst>
          </a:prstGeom>
          <a:solidFill>
            <a:srgbClr val="16202E"/>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0"/>
          <p:cNvSpPr/>
          <p:nvPr/>
        </p:nvSpPr>
        <p:spPr>
          <a:xfrm>
            <a:off x="4828032" y="1352334"/>
            <a:ext cx="3840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IMPACT ON ATTACKER ACCURACY</a:t>
            </a:r>
            <a:endParaRPr sz="900" b="0" i="0" u="none" strike="noStrike" cap="none">
              <a:solidFill>
                <a:schemeClr val="dk1"/>
              </a:solidFill>
              <a:latin typeface="Calibri"/>
              <a:ea typeface="Calibri"/>
              <a:cs typeface="Calibri"/>
              <a:sym typeface="Calibri"/>
            </a:endParaRPr>
          </a:p>
        </p:txBody>
      </p:sp>
      <p:sp>
        <p:nvSpPr>
          <p:cNvPr id="264" name="Google Shape;264;p10"/>
          <p:cNvSpPr/>
          <p:nvPr/>
        </p:nvSpPr>
        <p:spPr>
          <a:xfrm>
            <a:off x="4828032" y="1663230"/>
            <a:ext cx="3840480" cy="877824"/>
          </a:xfrm>
          <a:prstGeom prst="roundRect">
            <a:avLst>
              <a:gd name="adj" fmla="val 6250"/>
            </a:avLst>
          </a:prstGeom>
          <a:noFill/>
          <a:ln w="9525" cap="flat" cmpd="sng">
            <a:solidFill>
              <a:srgbClr val="4A1A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0"/>
          <p:cNvSpPr/>
          <p:nvPr/>
        </p:nvSpPr>
        <p:spPr>
          <a:xfrm>
            <a:off x="4828032" y="1699806"/>
            <a:ext cx="118872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2800"/>
              <a:buFont typeface="Calibri"/>
              <a:buNone/>
            </a:pPr>
            <a:r>
              <a:rPr lang="en-US" sz="2800" b="1" i="0" u="none" strike="noStrike" cap="none">
                <a:solidFill>
                  <a:srgbClr val="E5484D"/>
                </a:solidFill>
                <a:latin typeface="Calibri"/>
                <a:ea typeface="Calibri"/>
                <a:cs typeface="Calibri"/>
                <a:sym typeface="Calibri"/>
              </a:rPr>
              <a:t>80.9%</a:t>
            </a:r>
            <a:endParaRPr sz="2800" b="0" i="0" u="none" strike="noStrike" cap="none">
              <a:solidFill>
                <a:schemeClr val="dk1"/>
              </a:solidFill>
              <a:latin typeface="Calibri"/>
              <a:ea typeface="Calibri"/>
              <a:cs typeface="Calibri"/>
              <a:sym typeface="Calibri"/>
            </a:endParaRPr>
          </a:p>
        </p:txBody>
      </p:sp>
      <p:sp>
        <p:nvSpPr>
          <p:cNvPr id="266" name="Google Shape;266;p10"/>
          <p:cNvSpPr/>
          <p:nvPr/>
        </p:nvSpPr>
        <p:spPr>
          <a:xfrm>
            <a:off x="6035040" y="1718094"/>
            <a:ext cx="25603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Baseline (no defense)</a:t>
            </a:r>
            <a:endParaRPr sz="950" b="0" i="0" u="none" strike="noStrike" cap="none">
              <a:solidFill>
                <a:schemeClr val="dk1"/>
              </a:solidFill>
              <a:latin typeface="Calibri"/>
              <a:ea typeface="Calibri"/>
              <a:cs typeface="Calibri"/>
              <a:sym typeface="Calibri"/>
            </a:endParaRPr>
          </a:p>
        </p:txBody>
      </p:sp>
      <p:sp>
        <p:nvSpPr>
          <p:cNvPr id="267" name="Google Shape;267;p10"/>
          <p:cNvSpPr/>
          <p:nvPr/>
        </p:nvSpPr>
        <p:spPr>
          <a:xfrm>
            <a:off x="6035040" y="1955838"/>
            <a:ext cx="2578608"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No defense, no evasion. Attack is fully lethal</a:t>
            </a:r>
            <a:r>
              <a:rPr lang="en-US" sz="850">
                <a:solidFill>
                  <a:srgbClr val="9DB0CC"/>
                </a:solidFill>
                <a:latin typeface="Calibri"/>
                <a:ea typeface="Calibri"/>
                <a:cs typeface="Calibri"/>
                <a:sym typeface="Calibri"/>
              </a:rPr>
              <a:t>—every</a:t>
            </a:r>
            <a:r>
              <a:rPr lang="en-US" sz="850" b="0" i="0" u="none" strike="noStrike" cap="none">
                <a:solidFill>
                  <a:srgbClr val="9DB0CC"/>
                </a:solidFill>
                <a:latin typeface="Calibri"/>
                <a:ea typeface="Calibri"/>
                <a:cs typeface="Calibri"/>
                <a:sym typeface="Calibri"/>
              </a:rPr>
              <a:t> word recoverable.</a:t>
            </a:r>
            <a:endParaRPr sz="850" b="0" i="0" u="none" strike="noStrike" cap="none">
              <a:solidFill>
                <a:schemeClr val="dk1"/>
              </a:solidFill>
              <a:latin typeface="Calibri"/>
              <a:ea typeface="Calibri"/>
              <a:cs typeface="Calibri"/>
              <a:sym typeface="Calibri"/>
            </a:endParaRPr>
          </a:p>
        </p:txBody>
      </p:sp>
      <p:sp>
        <p:nvSpPr>
          <p:cNvPr id="268" name="Google Shape;268;p10"/>
          <p:cNvSpPr/>
          <p:nvPr/>
        </p:nvSpPr>
        <p:spPr>
          <a:xfrm>
            <a:off x="4828032" y="2669070"/>
            <a:ext cx="3840480" cy="877824"/>
          </a:xfrm>
          <a:prstGeom prst="roundRect">
            <a:avLst>
              <a:gd name="adj" fmla="val 6250"/>
            </a:avLst>
          </a:prstGeom>
          <a:noFill/>
          <a:ln w="9525" cap="flat" cmpd="sng">
            <a:solidFill>
              <a:srgbClr val="3A2A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0"/>
          <p:cNvSpPr/>
          <p:nvPr/>
        </p:nvSpPr>
        <p:spPr>
          <a:xfrm>
            <a:off x="4828032" y="2705646"/>
            <a:ext cx="118872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2800"/>
              <a:buFont typeface="Calibri"/>
              <a:buNone/>
            </a:pPr>
            <a:r>
              <a:rPr lang="en-US" sz="2800" b="1" i="0" u="none" strike="noStrike" cap="none">
                <a:solidFill>
                  <a:srgbClr val="F5A623"/>
                </a:solidFill>
                <a:latin typeface="Calibri"/>
                <a:ea typeface="Calibri"/>
                <a:cs typeface="Calibri"/>
                <a:sym typeface="Calibri"/>
              </a:rPr>
              <a:t>~8%</a:t>
            </a:r>
            <a:endParaRPr sz="2800" b="0" i="0" u="none" strike="noStrike" cap="none">
              <a:solidFill>
                <a:schemeClr val="dk1"/>
              </a:solidFill>
              <a:latin typeface="Calibri"/>
              <a:ea typeface="Calibri"/>
              <a:cs typeface="Calibri"/>
              <a:sym typeface="Calibri"/>
            </a:endParaRPr>
          </a:p>
        </p:txBody>
      </p:sp>
      <p:sp>
        <p:nvSpPr>
          <p:cNvPr id="270" name="Google Shape;270;p10"/>
          <p:cNvSpPr/>
          <p:nvPr/>
        </p:nvSpPr>
        <p:spPr>
          <a:xfrm>
            <a:off x="6035040" y="2723934"/>
            <a:ext cx="25603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Decoy Head Evasion</a:t>
            </a:r>
            <a:endParaRPr sz="950" b="0" i="0" u="none" strike="noStrike" cap="none">
              <a:solidFill>
                <a:schemeClr val="dk1"/>
              </a:solidFill>
              <a:latin typeface="Calibri"/>
              <a:ea typeface="Calibri"/>
              <a:cs typeface="Calibri"/>
              <a:sym typeface="Calibri"/>
            </a:endParaRPr>
          </a:p>
        </p:txBody>
      </p:sp>
      <p:sp>
        <p:nvSpPr>
          <p:cNvPr id="271" name="Google Shape;271;p10"/>
          <p:cNvSpPr/>
          <p:nvPr/>
        </p:nvSpPr>
        <p:spPr>
          <a:xfrm>
            <a:off x="6035040" y="2961678"/>
            <a:ext cx="2578608"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a:solidFill>
                  <a:srgbClr val="9DB0CC"/>
                </a:solidFill>
                <a:latin typeface="Calibri"/>
                <a:ea typeface="Calibri"/>
                <a:cs typeface="Calibri"/>
                <a:sym typeface="Calibri"/>
              </a:rPr>
              <a:t>The user</a:t>
            </a:r>
            <a:r>
              <a:rPr lang="en-US" sz="850" b="0" i="0" u="none" strike="noStrike" cap="none">
                <a:solidFill>
                  <a:srgbClr val="9DB0CC"/>
                </a:solidFill>
                <a:latin typeface="Calibri"/>
                <a:ea typeface="Calibri"/>
                <a:cs typeface="Calibri"/>
                <a:sym typeface="Calibri"/>
              </a:rPr>
              <a:t> circles </a:t>
            </a:r>
            <a:r>
              <a:rPr lang="en-US" sz="850">
                <a:solidFill>
                  <a:srgbClr val="9DB0CC"/>
                </a:solidFill>
                <a:latin typeface="Calibri"/>
                <a:ea typeface="Calibri"/>
                <a:cs typeface="Calibri"/>
                <a:sym typeface="Calibri"/>
              </a:rPr>
              <a:t>the head</a:t>
            </a:r>
            <a:r>
              <a:rPr lang="en-US" sz="850" b="0" i="0" u="none" strike="noStrike" cap="none">
                <a:solidFill>
                  <a:srgbClr val="9DB0CC"/>
                </a:solidFill>
                <a:latin typeface="Calibri"/>
                <a:ea typeface="Calibri"/>
                <a:cs typeface="Calibri"/>
                <a:sym typeface="Calibri"/>
              </a:rPr>
              <a:t> while typing. Geometry scrambled</a:t>
            </a:r>
            <a:r>
              <a:rPr lang="en-US" sz="850">
                <a:solidFill>
                  <a:srgbClr val="9DB0CC"/>
                </a:solidFill>
                <a:latin typeface="Calibri"/>
                <a:ea typeface="Calibri"/>
                <a:cs typeface="Calibri"/>
                <a:sym typeface="Calibri"/>
              </a:rPr>
              <a:t>—attack</a:t>
            </a:r>
            <a:r>
              <a:rPr lang="en-US" sz="850" b="0" i="0" u="none" strike="noStrike" cap="none">
                <a:solidFill>
                  <a:srgbClr val="9DB0CC"/>
                </a:solidFill>
                <a:latin typeface="Calibri"/>
                <a:ea typeface="Calibri"/>
                <a:cs typeface="Calibri"/>
                <a:sym typeface="Calibri"/>
              </a:rPr>
              <a:t> degraded to near-random.</a:t>
            </a:r>
            <a:endParaRPr sz="850" b="0" i="0" u="none" strike="noStrike" cap="none">
              <a:solidFill>
                <a:schemeClr val="dk1"/>
              </a:solidFill>
              <a:latin typeface="Calibri"/>
              <a:ea typeface="Calibri"/>
              <a:cs typeface="Calibri"/>
              <a:sym typeface="Calibri"/>
            </a:endParaRPr>
          </a:p>
        </p:txBody>
      </p:sp>
      <p:sp>
        <p:nvSpPr>
          <p:cNvPr id="272" name="Google Shape;272;p10"/>
          <p:cNvSpPr/>
          <p:nvPr/>
        </p:nvSpPr>
        <p:spPr>
          <a:xfrm>
            <a:off x="4828032" y="3674910"/>
            <a:ext cx="3840480" cy="877824"/>
          </a:xfrm>
          <a:prstGeom prst="roundRect">
            <a:avLst>
              <a:gd name="adj" fmla="val 6250"/>
            </a:avLst>
          </a:prstGeom>
          <a:noFill/>
          <a:ln w="9525" cap="flat" cmpd="sng">
            <a:solidFill>
              <a:srgbClr val="1A4A3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0"/>
          <p:cNvSpPr/>
          <p:nvPr/>
        </p:nvSpPr>
        <p:spPr>
          <a:xfrm>
            <a:off x="4828032" y="3711486"/>
            <a:ext cx="118872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2800"/>
              <a:buFont typeface="Calibri"/>
              <a:buNone/>
            </a:pPr>
            <a:r>
              <a:rPr lang="en-US" sz="2800" b="1" i="0" u="none" strike="noStrike" cap="none">
                <a:solidFill>
                  <a:srgbClr val="3FA66A"/>
                </a:solidFill>
                <a:latin typeface="Calibri"/>
                <a:ea typeface="Calibri"/>
                <a:cs typeface="Calibri"/>
                <a:sym typeface="Calibri"/>
              </a:rPr>
              <a:t>3.6%</a:t>
            </a:r>
            <a:endParaRPr sz="2800" b="0" i="0" u="none" strike="noStrike" cap="none">
              <a:solidFill>
                <a:schemeClr val="dk1"/>
              </a:solidFill>
              <a:latin typeface="Calibri"/>
              <a:ea typeface="Calibri"/>
              <a:cs typeface="Calibri"/>
              <a:sym typeface="Calibri"/>
            </a:endParaRPr>
          </a:p>
        </p:txBody>
      </p:sp>
      <p:sp>
        <p:nvSpPr>
          <p:cNvPr id="274" name="Google Shape;274;p10"/>
          <p:cNvSpPr/>
          <p:nvPr/>
        </p:nvSpPr>
        <p:spPr>
          <a:xfrm>
            <a:off x="6035040" y="3729774"/>
            <a:ext cx="25603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CASOM + Decoy</a:t>
            </a:r>
            <a:endParaRPr sz="950" b="0" i="0" u="none" strike="noStrike" cap="none">
              <a:solidFill>
                <a:schemeClr val="dk1"/>
              </a:solidFill>
              <a:latin typeface="Calibri"/>
              <a:ea typeface="Calibri"/>
              <a:cs typeface="Calibri"/>
              <a:sym typeface="Calibri"/>
            </a:endParaRPr>
          </a:p>
        </p:txBody>
      </p:sp>
      <p:sp>
        <p:nvSpPr>
          <p:cNvPr id="275" name="Google Shape;275;p10"/>
          <p:cNvSpPr/>
          <p:nvPr/>
        </p:nvSpPr>
        <p:spPr>
          <a:xfrm>
            <a:off x="6035040" y="3967518"/>
            <a:ext cx="2578608"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Combined: middleware block-offset + user poisoning. Top-1 accuracy </a:t>
            </a:r>
            <a:r>
              <a:rPr lang="en-US" sz="850">
                <a:solidFill>
                  <a:srgbClr val="9DB0CC"/>
                </a:solidFill>
                <a:latin typeface="Calibri"/>
                <a:ea typeface="Calibri"/>
                <a:cs typeface="Calibri"/>
                <a:sym typeface="Calibri"/>
              </a:rPr>
              <a:t>is near zero.</a:t>
            </a:r>
            <a:endParaRPr sz="850" b="0" i="0" u="none" strike="noStrike" cap="none">
              <a:solidFill>
                <a:schemeClr val="dk1"/>
              </a:solidFill>
              <a:latin typeface="Calibri"/>
              <a:ea typeface="Calibri"/>
              <a:cs typeface="Calibri"/>
              <a:sym typeface="Calibri"/>
            </a:endParaRPr>
          </a:p>
        </p:txBody>
      </p:sp>
      <p:sp>
        <p:nvSpPr>
          <p:cNvPr id="276" name="Google Shape;276;p10"/>
          <p:cNvSpPr/>
          <p:nvPr/>
        </p:nvSpPr>
        <p:spPr>
          <a:xfrm>
            <a:off x="320040" y="4280154"/>
            <a:ext cx="4160520" cy="603504"/>
          </a:xfrm>
          <a:prstGeom prst="roundRect">
            <a:avLst>
              <a:gd name="adj" fmla="val 12121"/>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7" name="Google Shape;277;p10" descr="preencoded.png"/>
          <p:cNvPicPr preferRelativeResize="0"/>
          <p:nvPr/>
        </p:nvPicPr>
        <p:blipFill rotWithShape="1">
          <a:blip r:embed="rId4">
            <a:alphaModFix/>
          </a:blip>
          <a:srcRect/>
          <a:stretch/>
        </p:blipFill>
        <p:spPr>
          <a:xfrm>
            <a:off x="475488" y="4339158"/>
            <a:ext cx="201168" cy="201168"/>
          </a:xfrm>
          <a:prstGeom prst="rect">
            <a:avLst/>
          </a:prstGeom>
          <a:noFill/>
          <a:ln>
            <a:noFill/>
          </a:ln>
        </p:spPr>
      </p:pic>
      <p:sp>
        <p:nvSpPr>
          <p:cNvPr id="278" name="Google Shape;278;p10"/>
          <p:cNvSpPr/>
          <p:nvPr/>
        </p:nvSpPr>
        <p:spPr>
          <a:xfrm>
            <a:off x="731520" y="4339158"/>
            <a:ext cx="128016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Our Contribution:</a:t>
            </a:r>
            <a:endParaRPr sz="900" b="0" i="0" u="none" strike="noStrike" cap="none">
              <a:solidFill>
                <a:schemeClr val="dk1"/>
              </a:solidFill>
              <a:latin typeface="Calibri"/>
              <a:ea typeface="Calibri"/>
              <a:cs typeface="Calibri"/>
              <a:sym typeface="Calibri"/>
            </a:endParaRPr>
          </a:p>
        </p:txBody>
      </p:sp>
      <p:sp>
        <p:nvSpPr>
          <p:cNvPr id="279" name="Google Shape;279;p10"/>
          <p:cNvSpPr/>
          <p:nvPr/>
        </p:nvSpPr>
        <p:spPr>
          <a:xfrm>
            <a:off x="475488" y="4540326"/>
            <a:ext cx="3913632"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800"/>
              <a:buFont typeface="Calibri"/>
              <a:buNone/>
            </a:pPr>
            <a:r>
              <a:rPr lang="en-US" sz="800" b="0" i="0" u="none" strike="noStrike" cap="none" dirty="0">
                <a:solidFill>
                  <a:srgbClr val="E8EEF7"/>
                </a:solidFill>
                <a:latin typeface="Calibri"/>
                <a:ea typeface="Calibri"/>
                <a:cs typeface="Calibri"/>
                <a:sym typeface="Calibri"/>
              </a:rPr>
              <a:t>We benchmarked Decoy Chaffing as a zero-overhead user-side poisoning layer. Combined with CASOM v2, </a:t>
            </a:r>
            <a:r>
              <a:rPr lang="en-US" sz="800" dirty="0">
                <a:solidFill>
                  <a:srgbClr val="E8EEF7"/>
                </a:solidFill>
                <a:latin typeface="Calibri"/>
                <a:ea typeface="Calibri"/>
                <a:cs typeface="Calibri"/>
                <a:sym typeface="Calibri"/>
              </a:rPr>
              <a:t>top-1</a:t>
            </a:r>
            <a:r>
              <a:rPr lang="en-US" sz="800" b="0" i="0" u="none" strike="noStrike" cap="none" dirty="0">
                <a:solidFill>
                  <a:srgbClr val="E8EEF7"/>
                </a:solidFill>
                <a:latin typeface="Calibri"/>
                <a:ea typeface="Calibri"/>
                <a:cs typeface="Calibri"/>
                <a:sym typeface="Calibri"/>
              </a:rPr>
              <a:t> accuracy falls to ~3.6%</a:t>
            </a:r>
            <a:r>
              <a:rPr lang="en-US" sz="800" dirty="0">
                <a:solidFill>
                  <a:srgbClr val="E8EEF7"/>
                </a:solidFill>
                <a:latin typeface="Calibri"/>
                <a:ea typeface="Calibri"/>
                <a:cs typeface="Calibri"/>
                <a:sym typeface="Calibri"/>
              </a:rPr>
              <a:t>—a defense-in-depth</a:t>
            </a:r>
            <a:r>
              <a:rPr lang="en-US" sz="800" b="0" i="0" u="none" strike="noStrike" cap="none" dirty="0">
                <a:solidFill>
                  <a:srgbClr val="E8EEF7"/>
                </a:solidFill>
                <a:latin typeface="Calibri"/>
                <a:ea typeface="Calibri"/>
                <a:cs typeface="Calibri"/>
                <a:sym typeface="Calibri"/>
              </a:rPr>
              <a:t> complement.</a:t>
            </a:r>
            <a:endParaRPr sz="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4"/>
        <p:cNvGrpSpPr/>
        <p:nvPr/>
      </p:nvGrpSpPr>
      <p:grpSpPr>
        <a:xfrm>
          <a:off x="0" y="0"/>
          <a:ext cx="0" cy="0"/>
          <a:chOff x="0" y="0"/>
          <a:chExt cx="0" cy="0"/>
        </a:xfrm>
      </p:grpSpPr>
      <p:sp>
        <p:nvSpPr>
          <p:cNvPr id="285" name="Google Shape;285;p11"/>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PROPOSED SOLUTION · §4</a:t>
            </a:r>
            <a:endParaRPr sz="900" b="0" i="0" u="none" strike="noStrike" cap="none" dirty="0">
              <a:solidFill>
                <a:schemeClr val="dk1"/>
              </a:solidFill>
              <a:latin typeface="Calibri"/>
              <a:ea typeface="Calibri"/>
              <a:cs typeface="Calibri"/>
              <a:sym typeface="Calibri"/>
            </a:endParaRPr>
          </a:p>
        </p:txBody>
      </p:sp>
      <p:sp>
        <p:nvSpPr>
          <p:cNvPr id="286" name="Google Shape;286;p11"/>
          <p:cNvSpPr/>
          <p:nvPr/>
        </p:nvSpPr>
        <p:spPr>
          <a:xfrm>
            <a:off x="365760" y="421200"/>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dirty="0">
                <a:solidFill>
                  <a:srgbClr val="16202E"/>
                </a:solidFill>
                <a:latin typeface="Calibri"/>
                <a:ea typeface="Calibri"/>
                <a:cs typeface="Calibri"/>
                <a:sym typeface="Calibri"/>
              </a:rPr>
              <a:t>CASOM: Context-Aware</a:t>
            </a:r>
            <a:r>
              <a:rPr lang="en-US" sz="2400" b="1" i="0" u="none" strike="noStrike" cap="none" dirty="0">
                <a:solidFill>
                  <a:srgbClr val="16202E"/>
                </a:solidFill>
                <a:latin typeface="Calibri"/>
                <a:ea typeface="Calibri"/>
                <a:cs typeface="Calibri"/>
                <a:sym typeface="Calibri"/>
              </a:rPr>
              <a:t> Sensor Obfuscation Middleware</a:t>
            </a:r>
            <a:endParaRPr sz="2400" b="0" i="0" u="none" strike="noStrike" cap="none" dirty="0">
              <a:solidFill>
                <a:schemeClr val="dk1"/>
              </a:solidFill>
              <a:latin typeface="Calibri"/>
              <a:ea typeface="Calibri"/>
              <a:cs typeface="Calibri"/>
              <a:sym typeface="Calibri"/>
            </a:endParaRPr>
          </a:p>
        </p:txBody>
      </p:sp>
      <p:sp>
        <p:nvSpPr>
          <p:cNvPr id="288" name="Google Shape;288;p11"/>
          <p:cNvSpPr/>
          <p:nvPr/>
        </p:nvSpPr>
        <p:spPr>
          <a:xfrm>
            <a:off x="4572000" y="4895304"/>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dirty="0">
                <a:solidFill>
                  <a:srgbClr val="9DB0CC"/>
                </a:solidFill>
                <a:latin typeface="Calibri"/>
                <a:ea typeface="Calibri"/>
                <a:cs typeface="Calibri"/>
                <a:sym typeface="Calibri"/>
              </a:rPr>
              <a:t>SNOOPFINGER  ·  Lee &amp; Choi, IEEE S&amp;P 2025  ·  12</a:t>
            </a:r>
            <a:endParaRPr sz="700" b="0" i="0" u="none" strike="noStrike" cap="none" dirty="0">
              <a:solidFill>
                <a:schemeClr val="dk1"/>
              </a:solidFill>
              <a:latin typeface="Calibri"/>
              <a:ea typeface="Calibri"/>
              <a:cs typeface="Calibri"/>
              <a:sym typeface="Calibri"/>
            </a:endParaRPr>
          </a:p>
        </p:txBody>
      </p:sp>
      <p:sp>
        <p:nvSpPr>
          <p:cNvPr id="289" name="Google Shape;289;p11"/>
          <p:cNvSpPr/>
          <p:nvPr/>
        </p:nvSpPr>
        <p:spPr>
          <a:xfrm>
            <a:off x="365760" y="1115568"/>
            <a:ext cx="841248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1050"/>
              <a:buFont typeface="Calibri"/>
              <a:buNone/>
            </a:pPr>
            <a:r>
              <a:rPr lang="en-US" sz="1050" b="0" i="0" u="none" strike="noStrike" cap="none">
                <a:solidFill>
                  <a:srgbClr val="5C6B82"/>
                </a:solidFill>
                <a:latin typeface="Calibri"/>
                <a:ea typeface="Calibri"/>
                <a:cs typeface="Calibri"/>
                <a:sym typeface="Calibri"/>
              </a:rPr>
              <a:t>OS-level middleware that feeds a pristine stream to the foreground keyboard while supplying a structured, poisoned stream to background listeners.</a:t>
            </a:r>
            <a:endParaRPr sz="1050" b="0" i="0" u="none" strike="noStrike" cap="none">
              <a:solidFill>
                <a:schemeClr val="dk1"/>
              </a:solidFill>
              <a:latin typeface="Calibri"/>
              <a:ea typeface="Calibri"/>
              <a:cs typeface="Calibri"/>
              <a:sym typeface="Calibri"/>
            </a:endParaRPr>
          </a:p>
        </p:txBody>
      </p:sp>
      <p:sp>
        <p:nvSpPr>
          <p:cNvPr id="290" name="Google Shape;290;p11"/>
          <p:cNvSpPr/>
          <p:nvPr/>
        </p:nvSpPr>
        <p:spPr>
          <a:xfrm>
            <a:off x="320040" y="1517904"/>
            <a:ext cx="2231136" cy="1316736"/>
          </a:xfrm>
          <a:prstGeom prst="roundRect">
            <a:avLst>
              <a:gd name="adj" fmla="val 555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1" name="Google Shape;291;p11" descr="preencoded.png"/>
          <p:cNvPicPr preferRelativeResize="0"/>
          <p:nvPr/>
        </p:nvPicPr>
        <p:blipFill rotWithShape="1">
          <a:blip r:embed="rId3">
            <a:alphaModFix/>
          </a:blip>
          <a:srcRect/>
          <a:stretch/>
        </p:blipFill>
        <p:spPr>
          <a:xfrm>
            <a:off x="457200" y="1636776"/>
            <a:ext cx="256032" cy="256032"/>
          </a:xfrm>
          <a:prstGeom prst="rect">
            <a:avLst/>
          </a:prstGeom>
          <a:noFill/>
          <a:ln>
            <a:noFill/>
          </a:ln>
        </p:spPr>
      </p:pic>
      <p:sp>
        <p:nvSpPr>
          <p:cNvPr id="292" name="Google Shape;292;p11"/>
          <p:cNvSpPr/>
          <p:nvPr/>
        </p:nvSpPr>
        <p:spPr>
          <a:xfrm>
            <a:off x="777240" y="1627632"/>
            <a:ext cx="163677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OS-Level Interceptor</a:t>
            </a:r>
            <a:endParaRPr sz="1100" b="0" i="0" u="none" strike="noStrike" cap="none">
              <a:solidFill>
                <a:schemeClr val="dk1"/>
              </a:solidFill>
              <a:latin typeface="Calibri"/>
              <a:ea typeface="Calibri"/>
              <a:cs typeface="Calibri"/>
              <a:sym typeface="Calibri"/>
            </a:endParaRPr>
          </a:p>
        </p:txBody>
      </p:sp>
      <p:sp>
        <p:nvSpPr>
          <p:cNvPr id="293" name="Google Shape;293;p11"/>
          <p:cNvSpPr/>
          <p:nvPr/>
        </p:nvSpPr>
        <p:spPr>
          <a:xfrm>
            <a:off x="457200" y="1938528"/>
            <a:ext cx="1956816" cy="7863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Runs inside the OS sensor framework boundary — below untrusted background apps, above the hardware. Cannot be bypassed by app-level code.</a:t>
            </a:r>
            <a:endParaRPr sz="950" b="0" i="0" u="none" strike="noStrike" cap="none">
              <a:solidFill>
                <a:schemeClr val="dk1"/>
              </a:solidFill>
              <a:latin typeface="Calibri"/>
              <a:ea typeface="Calibri"/>
              <a:cs typeface="Calibri"/>
              <a:sym typeface="Calibri"/>
            </a:endParaRPr>
          </a:p>
        </p:txBody>
      </p:sp>
      <p:sp>
        <p:nvSpPr>
          <p:cNvPr id="294" name="Google Shape;294;p11"/>
          <p:cNvSpPr/>
          <p:nvPr/>
        </p:nvSpPr>
        <p:spPr>
          <a:xfrm>
            <a:off x="2697480" y="1517904"/>
            <a:ext cx="2231136" cy="1316736"/>
          </a:xfrm>
          <a:prstGeom prst="roundRect">
            <a:avLst>
              <a:gd name="adj" fmla="val 555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5" name="Google Shape;295;p11" descr="preencoded.png"/>
          <p:cNvPicPr preferRelativeResize="0"/>
          <p:nvPr/>
        </p:nvPicPr>
        <p:blipFill rotWithShape="1">
          <a:blip r:embed="rId4">
            <a:alphaModFix/>
          </a:blip>
          <a:srcRect/>
          <a:stretch/>
        </p:blipFill>
        <p:spPr>
          <a:xfrm>
            <a:off x="2834640" y="1636776"/>
            <a:ext cx="256032" cy="256032"/>
          </a:xfrm>
          <a:prstGeom prst="rect">
            <a:avLst/>
          </a:prstGeom>
          <a:noFill/>
          <a:ln>
            <a:noFill/>
          </a:ln>
        </p:spPr>
      </p:pic>
      <p:sp>
        <p:nvSpPr>
          <p:cNvPr id="296" name="Google Shape;296;p11"/>
          <p:cNvSpPr/>
          <p:nvPr/>
        </p:nvSpPr>
        <p:spPr>
          <a:xfrm>
            <a:off x="3154680" y="1627632"/>
            <a:ext cx="163677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Context Awareness</a:t>
            </a:r>
            <a:endParaRPr sz="1100" b="0" i="0" u="none" strike="noStrike" cap="none">
              <a:solidFill>
                <a:schemeClr val="dk1"/>
              </a:solidFill>
              <a:latin typeface="Calibri"/>
              <a:ea typeface="Calibri"/>
              <a:cs typeface="Calibri"/>
              <a:sym typeface="Calibri"/>
            </a:endParaRPr>
          </a:p>
        </p:txBody>
      </p:sp>
      <p:sp>
        <p:nvSpPr>
          <p:cNvPr id="297" name="Google Shape;297;p11"/>
          <p:cNvSpPr/>
          <p:nvPr/>
        </p:nvSpPr>
        <p:spPr>
          <a:xfrm>
            <a:off x="2834640" y="1938528"/>
            <a:ext cx="1956816" cy="7863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Detects virtual keyboard focus events to dynamically trigger protection. Normal VR gestures (head-look, navigation) pass through unmodified.</a:t>
            </a:r>
            <a:endParaRPr sz="950" b="0" i="0" u="none" strike="noStrike" cap="none">
              <a:solidFill>
                <a:schemeClr val="dk1"/>
              </a:solidFill>
              <a:latin typeface="Calibri"/>
              <a:ea typeface="Calibri"/>
              <a:cs typeface="Calibri"/>
              <a:sym typeface="Calibri"/>
            </a:endParaRPr>
          </a:p>
        </p:txBody>
      </p:sp>
      <p:sp>
        <p:nvSpPr>
          <p:cNvPr id="298" name="Google Shape;298;p11"/>
          <p:cNvSpPr/>
          <p:nvPr/>
        </p:nvSpPr>
        <p:spPr>
          <a:xfrm>
            <a:off x="320040" y="2944368"/>
            <a:ext cx="2231136" cy="1316736"/>
          </a:xfrm>
          <a:prstGeom prst="roundRect">
            <a:avLst>
              <a:gd name="adj" fmla="val 555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9" name="Google Shape;299;p11" descr="preencoded.png"/>
          <p:cNvPicPr preferRelativeResize="0"/>
          <p:nvPr/>
        </p:nvPicPr>
        <p:blipFill rotWithShape="1">
          <a:blip r:embed="rId5">
            <a:alphaModFix/>
          </a:blip>
          <a:srcRect/>
          <a:stretch/>
        </p:blipFill>
        <p:spPr>
          <a:xfrm>
            <a:off x="457200" y="3063240"/>
            <a:ext cx="256032" cy="256032"/>
          </a:xfrm>
          <a:prstGeom prst="rect">
            <a:avLst/>
          </a:prstGeom>
          <a:noFill/>
          <a:ln>
            <a:noFill/>
          </a:ln>
        </p:spPr>
      </p:pic>
      <p:sp>
        <p:nvSpPr>
          <p:cNvPr id="300" name="Google Shape;300;p11"/>
          <p:cNvSpPr/>
          <p:nvPr/>
        </p:nvSpPr>
        <p:spPr>
          <a:xfrm>
            <a:off x="777240" y="3054096"/>
            <a:ext cx="163677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Stream Bifurcation</a:t>
            </a:r>
            <a:endParaRPr sz="1100" b="0" i="0" u="none" strike="noStrike" cap="none">
              <a:solidFill>
                <a:schemeClr val="dk1"/>
              </a:solidFill>
              <a:latin typeface="Calibri"/>
              <a:ea typeface="Calibri"/>
              <a:cs typeface="Calibri"/>
              <a:sym typeface="Calibri"/>
            </a:endParaRPr>
          </a:p>
        </p:txBody>
      </p:sp>
      <p:sp>
        <p:nvSpPr>
          <p:cNvPr id="301" name="Google Shape;301;p11"/>
          <p:cNvSpPr/>
          <p:nvPr/>
        </p:nvSpPr>
        <p:spPr>
          <a:xfrm>
            <a:off x="457200" y="3364992"/>
            <a:ext cx="1956816" cy="7863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Splits the raw 72Hz telemetry into two independent channels: a clean foreground path and an obfuscated background path.</a:t>
            </a:r>
            <a:endParaRPr sz="950" b="0" i="0" u="none" strike="noStrike" cap="none">
              <a:solidFill>
                <a:schemeClr val="dk1"/>
              </a:solidFill>
              <a:latin typeface="Calibri"/>
              <a:ea typeface="Calibri"/>
              <a:cs typeface="Calibri"/>
              <a:sym typeface="Calibri"/>
            </a:endParaRPr>
          </a:p>
        </p:txBody>
      </p:sp>
      <p:sp>
        <p:nvSpPr>
          <p:cNvPr id="302" name="Google Shape;302;p11"/>
          <p:cNvSpPr/>
          <p:nvPr/>
        </p:nvSpPr>
        <p:spPr>
          <a:xfrm>
            <a:off x="2697480" y="2944368"/>
            <a:ext cx="2231136" cy="1316736"/>
          </a:xfrm>
          <a:prstGeom prst="roundRect">
            <a:avLst>
              <a:gd name="adj" fmla="val 555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3" name="Google Shape;303;p11" descr="preencoded.png"/>
          <p:cNvPicPr preferRelativeResize="0"/>
          <p:nvPr/>
        </p:nvPicPr>
        <p:blipFill rotWithShape="1">
          <a:blip r:embed="rId6">
            <a:alphaModFix/>
          </a:blip>
          <a:srcRect/>
          <a:stretch/>
        </p:blipFill>
        <p:spPr>
          <a:xfrm>
            <a:off x="2834640" y="3063240"/>
            <a:ext cx="256032" cy="256032"/>
          </a:xfrm>
          <a:prstGeom prst="rect">
            <a:avLst/>
          </a:prstGeom>
          <a:noFill/>
          <a:ln>
            <a:noFill/>
          </a:ln>
        </p:spPr>
      </p:pic>
      <p:sp>
        <p:nvSpPr>
          <p:cNvPr id="304" name="Google Shape;304;p11"/>
          <p:cNvSpPr/>
          <p:nvPr/>
        </p:nvSpPr>
        <p:spPr>
          <a:xfrm>
            <a:off x="3154680" y="3054096"/>
            <a:ext cx="163677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Block Offset Defense</a:t>
            </a:r>
            <a:endParaRPr sz="1100" b="0" i="0" u="none" strike="noStrike" cap="none">
              <a:solidFill>
                <a:schemeClr val="dk1"/>
              </a:solidFill>
              <a:latin typeface="Calibri"/>
              <a:ea typeface="Calibri"/>
              <a:cs typeface="Calibri"/>
              <a:sym typeface="Calibri"/>
            </a:endParaRPr>
          </a:p>
        </p:txBody>
      </p:sp>
      <p:sp>
        <p:nvSpPr>
          <p:cNvPr id="305" name="Google Shape;305;p11"/>
          <p:cNvSpPr/>
          <p:nvPr/>
        </p:nvSpPr>
        <p:spPr>
          <a:xfrm>
            <a:off x="2834640" y="3364992"/>
            <a:ext cx="1956816" cy="7863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Generates one Laplace noise block per 15-sample dwell window, held constant across the block. Shifts each key centroid independently — breaking relative geometry that BackTree needs.</a:t>
            </a:r>
            <a:endParaRPr sz="950" b="0" i="0" u="none" strike="noStrike" cap="none">
              <a:solidFill>
                <a:schemeClr val="dk1"/>
              </a:solidFill>
              <a:latin typeface="Calibri"/>
              <a:ea typeface="Calibri"/>
              <a:cs typeface="Calibri"/>
              <a:sym typeface="Calibri"/>
            </a:endParaRPr>
          </a:p>
        </p:txBody>
      </p:sp>
      <p:sp>
        <p:nvSpPr>
          <p:cNvPr id="306" name="Google Shape;306;p11"/>
          <p:cNvSpPr/>
          <p:nvPr/>
        </p:nvSpPr>
        <p:spPr>
          <a:xfrm>
            <a:off x="5074920" y="1517904"/>
            <a:ext cx="3703320" cy="2717404"/>
          </a:xfrm>
          <a:prstGeom prst="roundRect">
            <a:avLst>
              <a:gd name="adj" fmla="val 3226"/>
            </a:avLst>
          </a:prstGeom>
          <a:solidFill>
            <a:srgbClr val="16202E"/>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a:off x="5239512" y="1609344"/>
            <a:ext cx="3419856"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DUAL-PATH ISOLATION</a:t>
            </a:r>
            <a:endParaRPr sz="900" b="0" i="0" u="none" strike="noStrike" cap="none">
              <a:solidFill>
                <a:schemeClr val="dk1"/>
              </a:solidFill>
              <a:latin typeface="Calibri"/>
              <a:ea typeface="Calibri"/>
              <a:cs typeface="Calibri"/>
              <a:sym typeface="Calibri"/>
            </a:endParaRPr>
          </a:p>
        </p:txBody>
      </p:sp>
      <p:sp>
        <p:nvSpPr>
          <p:cNvPr id="308" name="Google Shape;308;p11"/>
          <p:cNvSpPr/>
          <p:nvPr/>
        </p:nvSpPr>
        <p:spPr>
          <a:xfrm>
            <a:off x="5239512" y="1883664"/>
            <a:ext cx="3419856" cy="475488"/>
          </a:xfrm>
          <a:prstGeom prst="roundRect">
            <a:avLst>
              <a:gd name="adj" fmla="val 11538"/>
            </a:avLst>
          </a:prstGeom>
          <a:solidFill>
            <a:srgbClr val="0A1120"/>
          </a:solidFill>
          <a:ln w="9525" cap="flat" cmpd="sng">
            <a:solidFill>
              <a:srgbClr val="3A4A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a:off x="5330952" y="1956816"/>
            <a:ext cx="3236976"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900"/>
              <a:buFont typeface="Calibri"/>
              <a:buNone/>
            </a:pPr>
            <a:r>
              <a:rPr lang="en-US" sz="900" b="0" i="0" u="none" strike="noStrike" cap="none">
                <a:solidFill>
                  <a:srgbClr val="9DB0CC"/>
                </a:solidFill>
                <a:latin typeface="Calibri"/>
                <a:ea typeface="Calibri"/>
                <a:cs typeface="Calibri"/>
                <a:sym typeface="Calibri"/>
              </a:rPr>
              <a:t>👁  Eye Tracking &amp; IMU Hardware  (72Hz raw stream)</a:t>
            </a:r>
            <a:endParaRPr sz="900" b="0" i="0" u="none" strike="noStrike" cap="none">
              <a:solidFill>
                <a:schemeClr val="dk1"/>
              </a:solidFill>
              <a:latin typeface="Calibri"/>
              <a:ea typeface="Calibri"/>
              <a:cs typeface="Calibri"/>
              <a:sym typeface="Calibri"/>
            </a:endParaRPr>
          </a:p>
        </p:txBody>
      </p:sp>
      <p:cxnSp>
        <p:nvCxnSpPr>
          <p:cNvPr id="310" name="Google Shape;310;p11"/>
          <p:cNvCxnSpPr/>
          <p:nvPr/>
        </p:nvCxnSpPr>
        <p:spPr>
          <a:xfrm>
            <a:off x="6949440" y="2359152"/>
            <a:ext cx="0" cy="201168"/>
          </a:xfrm>
          <a:prstGeom prst="straightConnector1">
            <a:avLst/>
          </a:prstGeom>
          <a:noFill/>
          <a:ln w="19050" cap="flat" cmpd="sng">
            <a:solidFill>
              <a:srgbClr val="F5A623"/>
            </a:solidFill>
            <a:prstDash val="solid"/>
            <a:round/>
            <a:headEnd type="none" w="sm" len="sm"/>
            <a:tailEnd type="none" w="sm" len="sm"/>
          </a:ln>
        </p:spPr>
      </p:cxnSp>
      <p:sp>
        <p:nvSpPr>
          <p:cNvPr id="311" name="Google Shape;311;p11"/>
          <p:cNvSpPr/>
          <p:nvPr/>
        </p:nvSpPr>
        <p:spPr>
          <a:xfrm>
            <a:off x="5239512" y="2578608"/>
            <a:ext cx="3419856" cy="530352"/>
          </a:xfrm>
          <a:prstGeom prst="roundRect">
            <a:avLst>
              <a:gd name="adj" fmla="val 10345"/>
            </a:avLst>
          </a:prstGeom>
          <a:solidFill>
            <a:srgbClr val="0F2A18"/>
          </a:solidFill>
          <a:ln w="12700" cap="flat" cmpd="sng">
            <a:solidFill>
              <a:srgbClr val="2DA8A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p:nvPr/>
        </p:nvSpPr>
        <p:spPr>
          <a:xfrm>
            <a:off x="5330952" y="2651760"/>
            <a:ext cx="323697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DA8A0"/>
              </a:buClr>
              <a:buSzPts val="950"/>
              <a:buFont typeface="Calibri"/>
              <a:buNone/>
            </a:pPr>
            <a:r>
              <a:rPr lang="en-US" sz="950" b="1" i="0" u="none" strike="noStrike" cap="none">
                <a:solidFill>
                  <a:srgbClr val="2DA8A0"/>
                </a:solidFill>
                <a:latin typeface="Calibri"/>
                <a:ea typeface="Calibri"/>
                <a:cs typeface="Calibri"/>
                <a:sym typeface="Calibri"/>
              </a:rPr>
              <a:t>CASOM v2 · Block Offset Engine</a:t>
            </a:r>
            <a:endParaRPr sz="950" b="0" i="0" u="none" strike="noStrike" cap="none">
              <a:solidFill>
                <a:schemeClr val="dk1"/>
              </a:solidFill>
              <a:latin typeface="Calibri"/>
              <a:ea typeface="Calibri"/>
              <a:cs typeface="Calibri"/>
              <a:sym typeface="Calibri"/>
            </a:endParaRPr>
          </a:p>
        </p:txBody>
      </p:sp>
      <p:sp>
        <p:nvSpPr>
          <p:cNvPr id="313" name="Google Shape;313;p11"/>
          <p:cNvSpPr/>
          <p:nvPr/>
        </p:nvSpPr>
        <p:spPr>
          <a:xfrm>
            <a:off x="5330952" y="2852928"/>
            <a:ext cx="3236976"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800"/>
              <a:buFont typeface="Calibri"/>
              <a:buNone/>
            </a:pPr>
            <a:r>
              <a:rPr lang="en-US" sz="800" b="0" i="0" u="none" strike="noStrike" cap="none">
                <a:solidFill>
                  <a:srgbClr val="9DB0CC"/>
                </a:solidFill>
                <a:latin typeface="Calibri"/>
                <a:ea typeface="Calibri"/>
                <a:cs typeface="Calibri"/>
                <a:sym typeface="Calibri"/>
              </a:rPr>
              <a:t>Context check → bifurcate → apply offset per block</a:t>
            </a:r>
            <a:endParaRPr sz="800" b="0" i="0" u="none" strike="noStrike" cap="none">
              <a:solidFill>
                <a:schemeClr val="dk1"/>
              </a:solidFill>
              <a:latin typeface="Calibri"/>
              <a:ea typeface="Calibri"/>
              <a:cs typeface="Calibri"/>
              <a:sym typeface="Calibri"/>
            </a:endParaRPr>
          </a:p>
        </p:txBody>
      </p:sp>
      <p:cxnSp>
        <p:nvCxnSpPr>
          <p:cNvPr id="314" name="Google Shape;314;p11"/>
          <p:cNvCxnSpPr/>
          <p:nvPr/>
        </p:nvCxnSpPr>
        <p:spPr>
          <a:xfrm>
            <a:off x="5669280" y="3127248"/>
            <a:ext cx="0" cy="256032"/>
          </a:xfrm>
          <a:prstGeom prst="straightConnector1">
            <a:avLst/>
          </a:prstGeom>
          <a:noFill/>
          <a:ln w="19050" cap="flat" cmpd="sng">
            <a:solidFill>
              <a:srgbClr val="3FA66A"/>
            </a:solidFill>
            <a:prstDash val="solid"/>
            <a:round/>
            <a:headEnd type="none" w="sm" len="sm"/>
            <a:tailEnd type="none" w="sm" len="sm"/>
          </a:ln>
        </p:spPr>
      </p:cxnSp>
      <p:cxnSp>
        <p:nvCxnSpPr>
          <p:cNvPr id="315" name="Google Shape;315;p11"/>
          <p:cNvCxnSpPr/>
          <p:nvPr/>
        </p:nvCxnSpPr>
        <p:spPr>
          <a:xfrm>
            <a:off x="8229600" y="3127248"/>
            <a:ext cx="0" cy="256032"/>
          </a:xfrm>
          <a:prstGeom prst="straightConnector1">
            <a:avLst/>
          </a:prstGeom>
          <a:noFill/>
          <a:ln w="19050" cap="flat" cmpd="sng">
            <a:solidFill>
              <a:srgbClr val="E5484D"/>
            </a:solidFill>
            <a:prstDash val="solid"/>
            <a:round/>
            <a:headEnd type="none" w="sm" len="sm"/>
            <a:tailEnd type="none" w="sm" len="sm"/>
          </a:ln>
        </p:spPr>
      </p:cxnSp>
      <p:sp>
        <p:nvSpPr>
          <p:cNvPr id="316" name="Google Shape;316;p11"/>
          <p:cNvSpPr/>
          <p:nvPr/>
        </p:nvSpPr>
        <p:spPr>
          <a:xfrm>
            <a:off x="5239512" y="3401568"/>
            <a:ext cx="1389888" cy="658368"/>
          </a:xfrm>
          <a:prstGeom prst="roundRect">
            <a:avLst>
              <a:gd name="adj" fmla="val 8333"/>
            </a:avLst>
          </a:prstGeom>
          <a:solidFill>
            <a:srgbClr val="0A2010"/>
          </a:solidFill>
          <a:ln w="12700" cap="flat" cmpd="sng">
            <a:solidFill>
              <a:srgbClr val="3FA6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p:nvPr/>
        </p:nvSpPr>
        <p:spPr>
          <a:xfrm>
            <a:off x="5330952" y="3493008"/>
            <a:ext cx="120700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850"/>
              <a:buFont typeface="Calibri"/>
              <a:buNone/>
            </a:pPr>
            <a:r>
              <a:rPr lang="en-US" sz="850" b="1" i="0" u="none" strike="noStrike" cap="none">
                <a:solidFill>
                  <a:srgbClr val="3FA66A"/>
                </a:solidFill>
                <a:latin typeface="Calibri"/>
                <a:ea typeface="Calibri"/>
                <a:cs typeface="Calibri"/>
                <a:sym typeface="Calibri"/>
              </a:rPr>
              <a:t>Foreground</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3FA66A"/>
              </a:buClr>
              <a:buSzPts val="850"/>
              <a:buFont typeface="Calibri"/>
              <a:buNone/>
            </a:pPr>
            <a:r>
              <a:rPr lang="en-US" sz="850" b="1" i="0" u="none" strike="noStrike" cap="none">
                <a:solidFill>
                  <a:srgbClr val="3FA66A"/>
                </a:solidFill>
                <a:latin typeface="Calibri"/>
                <a:ea typeface="Calibri"/>
                <a:cs typeface="Calibri"/>
                <a:sym typeface="Calibri"/>
              </a:rPr>
              <a:t>Keyboard</a:t>
            </a:r>
            <a:endParaRPr sz="850" b="0" i="0" u="none" strike="noStrike" cap="none">
              <a:solidFill>
                <a:schemeClr val="dk1"/>
              </a:solidFill>
              <a:latin typeface="Calibri"/>
              <a:ea typeface="Calibri"/>
              <a:cs typeface="Calibri"/>
              <a:sym typeface="Calibri"/>
            </a:endParaRPr>
          </a:p>
        </p:txBody>
      </p:sp>
      <p:sp>
        <p:nvSpPr>
          <p:cNvPr id="318" name="Google Shape;318;p11"/>
          <p:cNvSpPr/>
          <p:nvPr/>
        </p:nvSpPr>
        <p:spPr>
          <a:xfrm>
            <a:off x="5330952" y="3858768"/>
            <a:ext cx="1207008"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0" i="0" u="none" strike="noStrike" cap="none">
                <a:solidFill>
                  <a:srgbClr val="9DB0CC"/>
                </a:solidFill>
                <a:latin typeface="Calibri"/>
                <a:ea typeface="Calibri"/>
                <a:cs typeface="Calibri"/>
                <a:sym typeface="Calibri"/>
              </a:rPr>
              <a:t>Clean stream ✓</a:t>
            </a:r>
            <a:endParaRPr sz="750" b="0" i="0" u="none" strike="noStrike" cap="none">
              <a:solidFill>
                <a:schemeClr val="dk1"/>
              </a:solidFill>
              <a:latin typeface="Calibri"/>
              <a:ea typeface="Calibri"/>
              <a:cs typeface="Calibri"/>
              <a:sym typeface="Calibri"/>
            </a:endParaRPr>
          </a:p>
        </p:txBody>
      </p:sp>
      <p:sp>
        <p:nvSpPr>
          <p:cNvPr id="319" name="Google Shape;319;p11"/>
          <p:cNvSpPr/>
          <p:nvPr/>
        </p:nvSpPr>
        <p:spPr>
          <a:xfrm>
            <a:off x="7269480" y="3401568"/>
            <a:ext cx="1389888" cy="658368"/>
          </a:xfrm>
          <a:prstGeom prst="roundRect">
            <a:avLst>
              <a:gd name="adj" fmla="val 8333"/>
            </a:avLst>
          </a:prstGeom>
          <a:solidFill>
            <a:srgbClr val="2A0A10"/>
          </a:solidFill>
          <a:ln w="12700" cap="flat" cmpd="sng">
            <a:solidFill>
              <a:srgbClr val="E548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1"/>
          <p:cNvSpPr/>
          <p:nvPr/>
        </p:nvSpPr>
        <p:spPr>
          <a:xfrm>
            <a:off x="7360920" y="3493008"/>
            <a:ext cx="1207008"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850"/>
              <a:buFont typeface="Calibri"/>
              <a:buNone/>
            </a:pPr>
            <a:r>
              <a:rPr lang="en-US" sz="850" b="1" i="0" u="none" strike="noStrike" cap="none">
                <a:solidFill>
                  <a:srgbClr val="E5484D"/>
                </a:solidFill>
                <a:latin typeface="Calibri"/>
                <a:ea typeface="Calibri"/>
                <a:cs typeface="Calibri"/>
                <a:sym typeface="Calibri"/>
              </a:rPr>
              <a:t>Background</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E5484D"/>
              </a:buClr>
              <a:buSzPts val="850"/>
              <a:buFont typeface="Calibri"/>
              <a:buNone/>
            </a:pPr>
            <a:r>
              <a:rPr lang="en-US" sz="850" b="1" i="0" u="none" strike="noStrike" cap="none">
                <a:solidFill>
                  <a:srgbClr val="E5484D"/>
                </a:solidFill>
                <a:latin typeface="Calibri"/>
                <a:ea typeface="Calibri"/>
                <a:cs typeface="Calibri"/>
                <a:sym typeface="Calibri"/>
              </a:rPr>
              <a:t>App (Attacker)</a:t>
            </a:r>
            <a:endParaRPr sz="850" b="0" i="0" u="none" strike="noStrike" cap="none">
              <a:solidFill>
                <a:schemeClr val="dk1"/>
              </a:solidFill>
              <a:latin typeface="Calibri"/>
              <a:ea typeface="Calibri"/>
              <a:cs typeface="Calibri"/>
              <a:sym typeface="Calibri"/>
            </a:endParaRPr>
          </a:p>
        </p:txBody>
      </p:sp>
      <p:sp>
        <p:nvSpPr>
          <p:cNvPr id="321" name="Google Shape;321;p11"/>
          <p:cNvSpPr/>
          <p:nvPr/>
        </p:nvSpPr>
        <p:spPr>
          <a:xfrm>
            <a:off x="7360920" y="3858768"/>
            <a:ext cx="1207008" cy="16459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0" i="0" u="none" strike="noStrike" cap="none">
                <a:solidFill>
                  <a:srgbClr val="9DB0CC"/>
                </a:solidFill>
                <a:latin typeface="Calibri"/>
                <a:ea typeface="Calibri"/>
                <a:cs typeface="Calibri"/>
                <a:sym typeface="Calibri"/>
              </a:rPr>
              <a:t>Poisoned stream ✗</a:t>
            </a:r>
            <a:endParaRPr sz="750" b="0" i="0" u="none" strike="noStrike" cap="none">
              <a:solidFill>
                <a:schemeClr val="dk1"/>
              </a:solidFill>
              <a:latin typeface="Calibri"/>
              <a:ea typeface="Calibri"/>
              <a:cs typeface="Calibri"/>
              <a:sym typeface="Calibri"/>
            </a:endParaRPr>
          </a:p>
        </p:txBody>
      </p:sp>
      <p:sp>
        <p:nvSpPr>
          <p:cNvPr id="322" name="Google Shape;322;p11"/>
          <p:cNvSpPr/>
          <p:nvPr/>
        </p:nvSpPr>
        <p:spPr>
          <a:xfrm>
            <a:off x="320040" y="4339811"/>
            <a:ext cx="8458200" cy="516308"/>
          </a:xfrm>
          <a:prstGeom prst="roundRect">
            <a:avLst>
              <a:gd name="adj" fmla="val 10811"/>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1"/>
          <p:cNvSpPr/>
          <p:nvPr/>
        </p:nvSpPr>
        <p:spPr>
          <a:xfrm>
            <a:off x="502920" y="4535424"/>
            <a:ext cx="10058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a:solidFill>
                  <a:srgbClr val="16202E"/>
                </a:solidFill>
                <a:latin typeface="Calibri"/>
                <a:ea typeface="Calibri"/>
                <a:cs typeface="Calibri"/>
                <a:sym typeface="Calibri"/>
              </a:rPr>
              <a:t>Key result:</a:t>
            </a:r>
            <a:endParaRPr sz="1000" b="0" i="0" u="none" strike="noStrike" cap="none">
              <a:solidFill>
                <a:schemeClr val="dk1"/>
              </a:solidFill>
              <a:latin typeface="Calibri"/>
              <a:ea typeface="Calibri"/>
              <a:cs typeface="Calibri"/>
              <a:sym typeface="Calibri"/>
            </a:endParaRPr>
          </a:p>
        </p:txBody>
      </p:sp>
      <p:sp>
        <p:nvSpPr>
          <p:cNvPr id="324" name="Google Shape;324;p11"/>
          <p:cNvSpPr/>
          <p:nvPr/>
        </p:nvSpPr>
        <p:spPr>
          <a:xfrm>
            <a:off x="1508760" y="4412961"/>
            <a:ext cx="717804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dirty="0">
                <a:solidFill>
                  <a:srgbClr val="5C6B82"/>
                </a:solidFill>
                <a:latin typeface="Calibri"/>
                <a:ea typeface="Calibri"/>
                <a:cs typeface="Calibri"/>
                <a:sym typeface="Calibri"/>
              </a:rPr>
              <a:t>CASOM v2 collapses </a:t>
            </a:r>
            <a:r>
              <a:rPr lang="en-US" sz="950" b="0" i="0" u="none" strike="noStrike" cap="none" dirty="0" err="1">
                <a:solidFill>
                  <a:srgbClr val="5C6B82"/>
                </a:solidFill>
                <a:latin typeface="Calibri"/>
                <a:ea typeface="Calibri"/>
                <a:cs typeface="Calibri"/>
                <a:sym typeface="Calibri"/>
              </a:rPr>
              <a:t>BackTree</a:t>
            </a:r>
            <a:r>
              <a:rPr lang="en-US" sz="950" b="0" i="0" u="none" strike="noStrike" cap="none" dirty="0">
                <a:solidFill>
                  <a:srgbClr val="5C6B82"/>
                </a:solidFill>
                <a:latin typeface="Calibri"/>
                <a:ea typeface="Calibri"/>
                <a:cs typeface="Calibri"/>
                <a:sym typeface="Calibri"/>
              </a:rPr>
              <a:t> Top-1 accuracy from 80.9% → 3.6% while preserving 100% foreground typing accuracy and zero UX lag. The user experiences no difference whatsoever.</a:t>
            </a:r>
            <a:endParaRPr sz="9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9"/>
        <p:cNvGrpSpPr/>
        <p:nvPr/>
      </p:nvGrpSpPr>
      <p:grpSpPr>
        <a:xfrm>
          <a:off x="0" y="0"/>
          <a:ext cx="0" cy="0"/>
          <a:chOff x="0" y="0"/>
          <a:chExt cx="0" cy="0"/>
        </a:xfrm>
      </p:grpSpPr>
      <p:sp>
        <p:nvSpPr>
          <p:cNvPr id="330" name="Google Shape;330;p12"/>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PROPOSED SOLUTION · §4</a:t>
            </a:r>
            <a:endParaRPr sz="900" b="0" i="0" u="none" strike="noStrike" cap="none" dirty="0">
              <a:solidFill>
                <a:schemeClr val="dk1"/>
              </a:solidFill>
              <a:latin typeface="Calibri"/>
              <a:ea typeface="Calibri"/>
              <a:cs typeface="Calibri"/>
              <a:sym typeface="Calibri"/>
            </a:endParaRPr>
          </a:p>
        </p:txBody>
      </p:sp>
      <p:sp>
        <p:nvSpPr>
          <p:cNvPr id="331" name="Google Shape;331;p12"/>
          <p:cNvSpPr/>
          <p:nvPr/>
        </p:nvSpPr>
        <p:spPr>
          <a:xfrm>
            <a:off x="365760" y="421200"/>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Surviving the </a:t>
            </a:r>
            <a:r>
              <a:rPr lang="en-US" sz="2400" b="1" i="0" u="none" strike="noStrike" cap="none" dirty="0" err="1">
                <a:solidFill>
                  <a:srgbClr val="16202E"/>
                </a:solidFill>
                <a:latin typeface="Calibri"/>
                <a:ea typeface="Calibri"/>
                <a:cs typeface="Calibri"/>
                <a:sym typeface="Calibri"/>
              </a:rPr>
              <a:t>BackTree</a:t>
            </a:r>
            <a:r>
              <a:rPr lang="en-US" sz="2400" b="1" i="0" u="none" strike="noStrike" cap="none" dirty="0">
                <a:solidFill>
                  <a:srgbClr val="16202E"/>
                </a:solidFill>
                <a:latin typeface="Calibri"/>
                <a:ea typeface="Calibri"/>
                <a:cs typeface="Calibri"/>
                <a:sym typeface="Calibri"/>
              </a:rPr>
              <a:t> attack: the Block Offset mechanism</a:t>
            </a:r>
            <a:endParaRPr sz="2400" b="0" i="0" u="none" strike="noStrike" cap="none" dirty="0">
              <a:solidFill>
                <a:schemeClr val="dk1"/>
              </a:solidFill>
              <a:latin typeface="Calibri"/>
              <a:ea typeface="Calibri"/>
              <a:cs typeface="Calibri"/>
              <a:sym typeface="Calibri"/>
            </a:endParaRPr>
          </a:p>
        </p:txBody>
      </p:sp>
      <p:sp>
        <p:nvSpPr>
          <p:cNvPr id="332" name="Google Shape;332;p12"/>
          <p:cNvSpPr/>
          <p:nvPr/>
        </p:nvSpPr>
        <p:spPr>
          <a:xfrm>
            <a:off x="365760" y="4846320"/>
            <a:ext cx="4572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PROPOSED SOLUTION</a:t>
            </a:r>
            <a:endParaRPr sz="700" b="0" i="0" u="none" strike="noStrike" cap="none">
              <a:solidFill>
                <a:schemeClr val="dk1"/>
              </a:solidFill>
              <a:latin typeface="Calibri"/>
              <a:ea typeface="Calibri"/>
              <a:cs typeface="Calibri"/>
              <a:sym typeface="Calibri"/>
            </a:endParaRPr>
          </a:p>
        </p:txBody>
      </p:sp>
      <p:sp>
        <p:nvSpPr>
          <p:cNvPr id="333" name="Google Shape;333;p12"/>
          <p:cNvSpPr/>
          <p:nvPr/>
        </p:nvSpPr>
        <p:spPr>
          <a:xfrm>
            <a:off x="4572000" y="4846320"/>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13</a:t>
            </a:r>
            <a:endParaRPr sz="700" b="0" i="0" u="none" strike="noStrike" cap="none">
              <a:solidFill>
                <a:schemeClr val="dk1"/>
              </a:solidFill>
              <a:latin typeface="Calibri"/>
              <a:ea typeface="Calibri"/>
              <a:cs typeface="Calibri"/>
              <a:sym typeface="Calibri"/>
            </a:endParaRPr>
          </a:p>
        </p:txBody>
      </p:sp>
      <p:sp>
        <p:nvSpPr>
          <p:cNvPr id="334" name="Google Shape;334;p12"/>
          <p:cNvSpPr/>
          <p:nvPr/>
        </p:nvSpPr>
        <p:spPr>
          <a:xfrm>
            <a:off x="320040" y="1115568"/>
            <a:ext cx="4160520" cy="1051560"/>
          </a:xfrm>
          <a:prstGeom prst="roundRect">
            <a:avLst>
              <a:gd name="adj" fmla="val 6957"/>
            </a:avLst>
          </a:prstGeom>
          <a:solidFill>
            <a:srgbClr val="1B2840"/>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2"/>
          <p:cNvSpPr/>
          <p:nvPr/>
        </p:nvSpPr>
        <p:spPr>
          <a:xfrm>
            <a:off x="484632" y="1225296"/>
            <a:ext cx="383133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The Core Insight</a:t>
            </a:r>
            <a:endParaRPr sz="1100" b="0" i="0" u="none" strike="noStrike" cap="none">
              <a:solidFill>
                <a:schemeClr val="dk1"/>
              </a:solidFill>
              <a:latin typeface="Calibri"/>
              <a:ea typeface="Calibri"/>
              <a:cs typeface="Calibri"/>
              <a:sym typeface="Calibri"/>
            </a:endParaRPr>
          </a:p>
        </p:txBody>
      </p:sp>
      <p:sp>
        <p:nvSpPr>
          <p:cNvPr id="336" name="Google Shape;336;p12"/>
          <p:cNvSpPr/>
          <p:nvPr/>
        </p:nvSpPr>
        <p:spPr>
          <a:xfrm>
            <a:off x="484632" y="1517904"/>
            <a:ext cx="3831336" cy="5212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8EEF7"/>
              </a:buClr>
              <a:buSzPts val="950"/>
              <a:buFont typeface="Calibri"/>
              <a:buNone/>
            </a:pPr>
            <a:r>
              <a:rPr lang="en-US" sz="950" b="0" i="0" u="none" strike="noStrike" cap="none">
                <a:solidFill>
                  <a:srgbClr val="E8EEF7"/>
                </a:solidFill>
                <a:latin typeface="Calibri"/>
                <a:ea typeface="Calibri"/>
                <a:cs typeface="Calibri"/>
                <a:sym typeface="Calibri"/>
              </a:rPr>
              <a:t>IID noise averages to zero (gap §3). Slow drift preserves geometry (gap §3). Block Offset fixes both: generate one Laplace offset per 15-sample block</a:t>
            </a:r>
            <a:r>
              <a:rPr lang="en-US" sz="950">
                <a:solidFill>
                  <a:srgbClr val="E8EEF7"/>
                </a:solidFill>
                <a:latin typeface="Calibri"/>
                <a:ea typeface="Calibri"/>
                <a:cs typeface="Calibri"/>
                <a:sym typeface="Calibri"/>
              </a:rPr>
              <a:t>—held</a:t>
            </a:r>
            <a:r>
              <a:rPr lang="en-US" sz="950" b="0" i="0" u="none" strike="noStrike" cap="none">
                <a:solidFill>
                  <a:srgbClr val="E8EEF7"/>
                </a:solidFill>
                <a:latin typeface="Calibri"/>
                <a:ea typeface="Calibri"/>
                <a:cs typeface="Calibri"/>
                <a:sym typeface="Calibri"/>
              </a:rPr>
              <a:t> constant during the block, then </a:t>
            </a:r>
            <a:r>
              <a:rPr lang="en-US" sz="950">
                <a:solidFill>
                  <a:srgbClr val="E8EEF7"/>
                </a:solidFill>
                <a:latin typeface="Calibri"/>
                <a:ea typeface="Calibri"/>
                <a:cs typeface="Calibri"/>
                <a:sym typeface="Calibri"/>
              </a:rPr>
              <a:t>re-randomized.</a:t>
            </a:r>
            <a:endParaRPr sz="950" b="0" i="0" u="none" strike="noStrike" cap="none">
              <a:solidFill>
                <a:schemeClr val="dk1"/>
              </a:solidFill>
              <a:latin typeface="Calibri"/>
              <a:ea typeface="Calibri"/>
              <a:cs typeface="Calibri"/>
              <a:sym typeface="Calibri"/>
            </a:endParaRPr>
          </a:p>
        </p:txBody>
      </p:sp>
      <p:sp>
        <p:nvSpPr>
          <p:cNvPr id="337" name="Google Shape;337;p12"/>
          <p:cNvSpPr/>
          <p:nvPr/>
        </p:nvSpPr>
        <p:spPr>
          <a:xfrm>
            <a:off x="320040" y="2286000"/>
            <a:ext cx="41605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How Block Offset destroys BackTree geometry</a:t>
            </a:r>
            <a:endParaRPr sz="1100" b="0" i="0" u="none" strike="noStrike" cap="none">
              <a:solidFill>
                <a:schemeClr val="dk1"/>
              </a:solidFill>
              <a:latin typeface="Calibri"/>
              <a:ea typeface="Calibri"/>
              <a:cs typeface="Calibri"/>
              <a:sym typeface="Calibri"/>
            </a:endParaRPr>
          </a:p>
        </p:txBody>
      </p:sp>
      <p:sp>
        <p:nvSpPr>
          <p:cNvPr id="338" name="Google Shape;338;p12"/>
          <p:cNvSpPr/>
          <p:nvPr/>
        </p:nvSpPr>
        <p:spPr>
          <a:xfrm>
            <a:off x="320040" y="2615184"/>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2"/>
          <p:cNvSpPr/>
          <p:nvPr/>
        </p:nvSpPr>
        <p:spPr>
          <a:xfrm>
            <a:off x="320040" y="2615184"/>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dirty="0">
                <a:solidFill>
                  <a:srgbClr val="0E1726"/>
                </a:solidFill>
                <a:latin typeface="Calibri"/>
                <a:ea typeface="Calibri"/>
                <a:cs typeface="Calibri"/>
                <a:sym typeface="Calibri"/>
              </a:rPr>
              <a:t>Generate</a:t>
            </a:r>
            <a:endParaRPr sz="800" b="0" i="0" u="none" strike="noStrike" cap="none" dirty="0">
              <a:solidFill>
                <a:schemeClr val="dk1"/>
              </a:solidFill>
              <a:latin typeface="Calibri"/>
              <a:ea typeface="Calibri"/>
              <a:cs typeface="Calibri"/>
              <a:sym typeface="Calibri"/>
            </a:endParaRPr>
          </a:p>
        </p:txBody>
      </p:sp>
      <p:sp>
        <p:nvSpPr>
          <p:cNvPr id="340" name="Google Shape;340;p12"/>
          <p:cNvSpPr/>
          <p:nvPr/>
        </p:nvSpPr>
        <p:spPr>
          <a:xfrm>
            <a:off x="621792" y="2546382"/>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One </a:t>
            </a:r>
            <a:r>
              <a:rPr lang="en-US" sz="900" dirty="0">
                <a:solidFill>
                  <a:srgbClr val="5C6B82"/>
                </a:solidFill>
                <a:latin typeface="Calibri"/>
                <a:ea typeface="Calibri"/>
                <a:cs typeface="Calibri"/>
                <a:sym typeface="Calibri"/>
              </a:rPr>
              <a:t>Laplace (0,</a:t>
            </a:r>
            <a:r>
              <a:rPr lang="en-US" sz="900" b="0" i="0" u="none" strike="noStrike" cap="none" dirty="0">
                <a:solidFill>
                  <a:srgbClr val="5C6B82"/>
                </a:solidFill>
                <a:latin typeface="Calibri"/>
                <a:ea typeface="Calibri"/>
                <a:cs typeface="Calibri"/>
                <a:sym typeface="Calibri"/>
              </a:rPr>
              <a:t> b=1.3) offset (</a:t>
            </a:r>
            <a:r>
              <a:rPr lang="en-US" sz="900" b="0" i="0" u="none" strike="noStrike" cap="none" dirty="0" err="1">
                <a:solidFill>
                  <a:srgbClr val="5C6B82"/>
                </a:solidFill>
                <a:latin typeface="Calibri"/>
                <a:ea typeface="Calibri"/>
                <a:cs typeface="Calibri"/>
                <a:sym typeface="Calibri"/>
              </a:rPr>
              <a:t>Δx</a:t>
            </a:r>
            <a:r>
              <a:rPr lang="en-US" sz="900" b="0" i="0" u="none" strike="noStrike" cap="none" dirty="0">
                <a:solidFill>
                  <a:srgbClr val="5C6B82"/>
                </a:solidFill>
                <a:latin typeface="Calibri"/>
                <a:ea typeface="Calibri"/>
                <a:cs typeface="Calibri"/>
                <a:sym typeface="Calibri"/>
              </a:rPr>
              <a:t>, </a:t>
            </a:r>
            <a:r>
              <a:rPr lang="en-US" sz="900" dirty="0" err="1">
                <a:solidFill>
                  <a:srgbClr val="5C6B82"/>
                </a:solidFill>
                <a:latin typeface="Calibri"/>
                <a:ea typeface="Calibri"/>
                <a:cs typeface="Calibri"/>
                <a:sym typeface="Calibri"/>
              </a:rPr>
              <a:t>Δy</a:t>
            </a:r>
            <a:r>
              <a:rPr lang="en-US" sz="900" dirty="0">
                <a:solidFill>
                  <a:srgbClr val="5C6B82"/>
                </a:solidFill>
                <a:latin typeface="Calibri"/>
                <a:ea typeface="Calibri"/>
                <a:cs typeface="Calibri"/>
                <a:sym typeface="Calibri"/>
              </a:rPr>
              <a:t>))</a:t>
            </a:r>
            <a:r>
              <a:rPr lang="en-US" sz="900" b="0" i="0" u="none" strike="noStrike" cap="none" dirty="0">
                <a:solidFill>
                  <a:srgbClr val="5C6B82"/>
                </a:solidFill>
                <a:latin typeface="Calibri"/>
                <a:ea typeface="Calibri"/>
                <a:cs typeface="Calibri"/>
                <a:sym typeface="Calibri"/>
              </a:rPr>
              <a:t> is drawn once per 15-sample block (~one dwell window).</a:t>
            </a:r>
            <a:endParaRPr sz="900" b="0" i="0" u="none" strike="noStrike" cap="none" dirty="0">
              <a:solidFill>
                <a:schemeClr val="dk1"/>
              </a:solidFill>
              <a:latin typeface="Calibri"/>
              <a:ea typeface="Calibri"/>
              <a:cs typeface="Calibri"/>
              <a:sym typeface="Calibri"/>
            </a:endParaRPr>
          </a:p>
        </p:txBody>
      </p:sp>
      <p:sp>
        <p:nvSpPr>
          <p:cNvPr id="341" name="Google Shape;341;p12"/>
          <p:cNvSpPr/>
          <p:nvPr/>
        </p:nvSpPr>
        <p:spPr>
          <a:xfrm>
            <a:off x="320040" y="3090672"/>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2"/>
          <p:cNvSpPr/>
          <p:nvPr/>
        </p:nvSpPr>
        <p:spPr>
          <a:xfrm>
            <a:off x="320040" y="3090672"/>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a:solidFill>
                  <a:srgbClr val="0E1726"/>
                </a:solidFill>
                <a:latin typeface="Calibri"/>
                <a:ea typeface="Calibri"/>
                <a:cs typeface="Calibri"/>
                <a:sym typeface="Calibri"/>
              </a:rPr>
              <a:t>Hold</a:t>
            </a:r>
            <a:endParaRPr sz="800" b="0" i="0" u="none" strike="noStrike" cap="none">
              <a:solidFill>
                <a:schemeClr val="dk1"/>
              </a:solidFill>
              <a:latin typeface="Calibri"/>
              <a:ea typeface="Calibri"/>
              <a:cs typeface="Calibri"/>
              <a:sym typeface="Calibri"/>
            </a:endParaRPr>
          </a:p>
        </p:txBody>
      </p:sp>
      <p:sp>
        <p:nvSpPr>
          <p:cNvPr id="343" name="Google Shape;343;p12"/>
          <p:cNvSpPr/>
          <p:nvPr/>
        </p:nvSpPr>
        <p:spPr>
          <a:xfrm>
            <a:off x="621792" y="2987041"/>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The offset is held constant for all frames in the block</a:t>
            </a:r>
            <a:r>
              <a:rPr lang="en-US" sz="900" dirty="0">
                <a:solidFill>
                  <a:srgbClr val="5C6B82"/>
                </a:solidFill>
                <a:latin typeface="Calibri"/>
                <a:ea typeface="Calibri"/>
                <a:cs typeface="Calibri"/>
                <a:sym typeface="Calibri"/>
              </a:rPr>
              <a:t>—so</a:t>
            </a:r>
            <a:r>
              <a:rPr lang="en-US" sz="900" b="0" i="0" u="none" strike="noStrike" cap="none" dirty="0">
                <a:solidFill>
                  <a:srgbClr val="5C6B82"/>
                </a:solidFill>
                <a:latin typeface="Calibri"/>
                <a:ea typeface="Calibri"/>
                <a:cs typeface="Calibri"/>
                <a:sym typeface="Calibri"/>
              </a:rPr>
              <a:t> dwell averaging does NOT cancel it.</a:t>
            </a:r>
            <a:endParaRPr sz="900" b="0" i="0" u="none" strike="noStrike" cap="none" dirty="0">
              <a:solidFill>
                <a:schemeClr val="dk1"/>
              </a:solidFill>
              <a:latin typeface="Calibri"/>
              <a:ea typeface="Calibri"/>
              <a:cs typeface="Calibri"/>
              <a:sym typeface="Calibri"/>
            </a:endParaRPr>
          </a:p>
        </p:txBody>
      </p:sp>
      <p:sp>
        <p:nvSpPr>
          <p:cNvPr id="344" name="Google Shape;344;p12"/>
          <p:cNvSpPr/>
          <p:nvPr/>
        </p:nvSpPr>
        <p:spPr>
          <a:xfrm>
            <a:off x="320040" y="3566160"/>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2"/>
          <p:cNvSpPr/>
          <p:nvPr/>
        </p:nvSpPr>
        <p:spPr>
          <a:xfrm>
            <a:off x="320040" y="3566160"/>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a:solidFill>
                  <a:srgbClr val="0E1726"/>
                </a:solidFill>
                <a:latin typeface="Calibri"/>
                <a:ea typeface="Calibri"/>
                <a:cs typeface="Calibri"/>
                <a:sym typeface="Calibri"/>
              </a:rPr>
              <a:t>Shift</a:t>
            </a:r>
            <a:endParaRPr sz="800" b="0" i="0" u="none" strike="noStrike" cap="none">
              <a:solidFill>
                <a:schemeClr val="dk1"/>
              </a:solidFill>
              <a:latin typeface="Calibri"/>
              <a:ea typeface="Calibri"/>
              <a:cs typeface="Calibri"/>
              <a:sym typeface="Calibri"/>
            </a:endParaRPr>
          </a:p>
        </p:txBody>
      </p:sp>
      <p:sp>
        <p:nvSpPr>
          <p:cNvPr id="346" name="Google Shape;346;p12"/>
          <p:cNvSpPr/>
          <p:nvPr/>
        </p:nvSpPr>
        <p:spPr>
          <a:xfrm>
            <a:off x="621792" y="3453814"/>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Each keypress centroid is displaced by an independent random vector, destroying relative geometry.</a:t>
            </a:r>
            <a:endParaRPr sz="900" b="0" i="0" u="none" strike="noStrike" cap="none" dirty="0">
              <a:solidFill>
                <a:schemeClr val="dk1"/>
              </a:solidFill>
              <a:latin typeface="Calibri"/>
              <a:ea typeface="Calibri"/>
              <a:cs typeface="Calibri"/>
              <a:sym typeface="Calibri"/>
            </a:endParaRPr>
          </a:p>
        </p:txBody>
      </p:sp>
      <p:sp>
        <p:nvSpPr>
          <p:cNvPr id="347" name="Google Shape;347;p12"/>
          <p:cNvSpPr/>
          <p:nvPr/>
        </p:nvSpPr>
        <p:spPr>
          <a:xfrm>
            <a:off x="320040" y="4041648"/>
            <a:ext cx="237744" cy="237744"/>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2"/>
          <p:cNvSpPr/>
          <p:nvPr/>
        </p:nvSpPr>
        <p:spPr>
          <a:xfrm>
            <a:off x="320040" y="4041648"/>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800"/>
              <a:buFont typeface="Calibri"/>
              <a:buNone/>
            </a:pPr>
            <a:r>
              <a:rPr lang="en-US" sz="800" b="1" i="0" u="none" strike="noStrike" cap="none">
                <a:solidFill>
                  <a:srgbClr val="0E1726"/>
                </a:solidFill>
                <a:latin typeface="Calibri"/>
                <a:ea typeface="Calibri"/>
                <a:cs typeface="Calibri"/>
                <a:sym typeface="Calibri"/>
              </a:rPr>
              <a:t>Renew</a:t>
            </a:r>
            <a:endParaRPr sz="800" b="0" i="0" u="none" strike="noStrike" cap="none">
              <a:solidFill>
                <a:schemeClr val="dk1"/>
              </a:solidFill>
              <a:latin typeface="Calibri"/>
              <a:ea typeface="Calibri"/>
              <a:cs typeface="Calibri"/>
              <a:sym typeface="Calibri"/>
            </a:endParaRPr>
          </a:p>
        </p:txBody>
      </p:sp>
      <p:sp>
        <p:nvSpPr>
          <p:cNvPr id="349" name="Google Shape;349;p12"/>
          <p:cNvSpPr/>
          <p:nvPr/>
        </p:nvSpPr>
        <p:spPr>
          <a:xfrm>
            <a:off x="621792" y="3955432"/>
            <a:ext cx="37947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A fresh offset is drawn for the next block</a:t>
            </a:r>
            <a:r>
              <a:rPr lang="en-US" sz="900" dirty="0">
                <a:solidFill>
                  <a:srgbClr val="5C6B82"/>
                </a:solidFill>
                <a:latin typeface="Calibri"/>
                <a:ea typeface="Calibri"/>
                <a:cs typeface="Calibri"/>
                <a:sym typeface="Calibri"/>
              </a:rPr>
              <a:t>—so</a:t>
            </a:r>
            <a:r>
              <a:rPr lang="en-US" sz="900" b="0" i="0" u="none" strike="noStrike" cap="none" dirty="0">
                <a:solidFill>
                  <a:srgbClr val="5C6B82"/>
                </a:solidFill>
                <a:latin typeface="Calibri"/>
                <a:ea typeface="Calibri"/>
                <a:cs typeface="Calibri"/>
                <a:sym typeface="Calibri"/>
              </a:rPr>
              <a:t> long-range correlation (drift) is also broken.</a:t>
            </a:r>
            <a:endParaRPr sz="900" b="0" i="0" u="none" strike="noStrike" cap="none" dirty="0">
              <a:solidFill>
                <a:schemeClr val="dk1"/>
              </a:solidFill>
              <a:latin typeface="Calibri"/>
              <a:ea typeface="Calibri"/>
              <a:cs typeface="Calibri"/>
              <a:sym typeface="Calibri"/>
            </a:endParaRPr>
          </a:p>
        </p:txBody>
      </p:sp>
      <p:sp>
        <p:nvSpPr>
          <p:cNvPr id="350" name="Google Shape;350;p12"/>
          <p:cNvSpPr/>
          <p:nvPr/>
        </p:nvSpPr>
        <p:spPr>
          <a:xfrm>
            <a:off x="320040" y="4510167"/>
            <a:ext cx="4160520" cy="585216"/>
          </a:xfrm>
          <a:prstGeom prst="roundRect">
            <a:avLst>
              <a:gd name="adj" fmla="val 12500"/>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2"/>
          <p:cNvSpPr/>
          <p:nvPr/>
        </p:nvSpPr>
        <p:spPr>
          <a:xfrm>
            <a:off x="502920" y="4608576"/>
            <a:ext cx="16459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900"/>
              <a:buFont typeface="Calibri"/>
              <a:buNone/>
            </a:pPr>
            <a:r>
              <a:rPr lang="en-US" sz="900" b="1" i="0" u="none" strike="noStrike" cap="none">
                <a:solidFill>
                  <a:srgbClr val="16202E"/>
                </a:solidFill>
                <a:latin typeface="Calibri"/>
                <a:ea typeface="Calibri"/>
                <a:cs typeface="Calibri"/>
                <a:sym typeface="Calibri"/>
              </a:rPr>
              <a:t>Deployment advantage:</a:t>
            </a:r>
            <a:endParaRPr sz="900" b="0" i="0" u="none" strike="noStrike" cap="none">
              <a:solidFill>
                <a:schemeClr val="dk1"/>
              </a:solidFill>
              <a:latin typeface="Calibri"/>
              <a:ea typeface="Calibri"/>
              <a:cs typeface="Calibri"/>
              <a:sym typeface="Calibri"/>
            </a:endParaRPr>
          </a:p>
        </p:txBody>
      </p:sp>
      <p:sp>
        <p:nvSpPr>
          <p:cNvPr id="352" name="Google Shape;352;p12"/>
          <p:cNvSpPr/>
          <p:nvPr/>
        </p:nvSpPr>
        <p:spPr>
          <a:xfrm>
            <a:off x="2148840" y="4608576"/>
            <a:ext cx="22402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00"/>
              <a:buFont typeface="Calibri"/>
              <a:buNone/>
            </a:pPr>
            <a:r>
              <a:rPr lang="en-US" sz="900" b="0" i="0" u="none" strike="noStrike" cap="none" dirty="0">
                <a:solidFill>
                  <a:srgbClr val="5C6B82"/>
                </a:solidFill>
                <a:latin typeface="Calibri"/>
                <a:ea typeface="Calibri"/>
                <a:cs typeface="Calibri"/>
                <a:sym typeface="Calibri"/>
              </a:rPr>
              <a:t>Does not require precise typing boundary detection — standard OS timers suffice. Deployable today.</a:t>
            </a:r>
            <a:endParaRPr sz="900" b="0" i="0" u="none" strike="noStrike" cap="none" dirty="0">
              <a:solidFill>
                <a:schemeClr val="dk1"/>
              </a:solidFill>
              <a:latin typeface="Calibri"/>
              <a:ea typeface="Calibri"/>
              <a:cs typeface="Calibri"/>
              <a:sym typeface="Calibri"/>
            </a:endParaRPr>
          </a:p>
        </p:txBody>
      </p:sp>
      <p:sp>
        <p:nvSpPr>
          <p:cNvPr id="353" name="Google Shape;353;p12"/>
          <p:cNvSpPr/>
          <p:nvPr/>
        </p:nvSpPr>
        <p:spPr>
          <a:xfrm>
            <a:off x="4663440" y="1115569"/>
            <a:ext cx="4160520" cy="3694175"/>
          </a:xfrm>
          <a:prstGeom prst="roundRect">
            <a:avLst>
              <a:gd name="adj" fmla="val 2273"/>
            </a:avLst>
          </a:prstGeom>
          <a:solidFill>
            <a:srgbClr val="16202E"/>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2"/>
          <p:cNvSpPr/>
          <p:nvPr/>
        </p:nvSpPr>
        <p:spPr>
          <a:xfrm>
            <a:off x="4828032" y="1207008"/>
            <a:ext cx="3840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BENCHMARK RESULTS</a:t>
            </a:r>
            <a:endParaRPr sz="900" b="0" i="0" u="none" strike="noStrike" cap="none">
              <a:solidFill>
                <a:schemeClr val="dk1"/>
              </a:solidFill>
              <a:latin typeface="Calibri"/>
              <a:ea typeface="Calibri"/>
              <a:cs typeface="Calibri"/>
              <a:sym typeface="Calibri"/>
            </a:endParaRPr>
          </a:p>
        </p:txBody>
      </p:sp>
      <p:sp>
        <p:nvSpPr>
          <p:cNvPr id="355" name="Google Shape;355;p12"/>
          <p:cNvSpPr/>
          <p:nvPr/>
        </p:nvSpPr>
        <p:spPr>
          <a:xfrm>
            <a:off x="4828032" y="1536192"/>
            <a:ext cx="1353312"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Defense Mode</a:t>
            </a:r>
            <a:endParaRPr sz="750" b="0" i="0" u="none" strike="noStrike" cap="none">
              <a:solidFill>
                <a:schemeClr val="dk1"/>
              </a:solidFill>
              <a:latin typeface="Calibri"/>
              <a:ea typeface="Calibri"/>
              <a:cs typeface="Calibri"/>
              <a:sym typeface="Calibri"/>
            </a:endParaRPr>
          </a:p>
        </p:txBody>
      </p:sp>
      <p:sp>
        <p:nvSpPr>
          <p:cNvPr id="356" name="Google Shape;356;p12"/>
          <p:cNvSpPr/>
          <p:nvPr/>
        </p:nvSpPr>
        <p:spPr>
          <a:xfrm>
            <a:off x="6217920" y="1536192"/>
            <a:ext cx="76809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Top-1</a:t>
            </a:r>
            <a:endParaRPr sz="750" b="0" i="0" u="none" strike="noStrike" cap="none">
              <a:solidFill>
                <a:schemeClr val="dk1"/>
              </a:solidFill>
              <a:latin typeface="Calibri"/>
              <a:ea typeface="Calibri"/>
              <a:cs typeface="Calibri"/>
              <a:sym typeface="Calibri"/>
            </a:endParaRPr>
          </a:p>
        </p:txBody>
      </p:sp>
      <p:sp>
        <p:nvSpPr>
          <p:cNvPr id="357" name="Google Shape;357;p12"/>
          <p:cNvSpPr/>
          <p:nvPr/>
        </p:nvSpPr>
        <p:spPr>
          <a:xfrm>
            <a:off x="7022592" y="1536192"/>
            <a:ext cx="76809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Top-3</a:t>
            </a:r>
            <a:endParaRPr sz="750" b="0" i="0" u="none" strike="noStrike" cap="none">
              <a:solidFill>
                <a:schemeClr val="dk1"/>
              </a:solidFill>
              <a:latin typeface="Calibri"/>
              <a:ea typeface="Calibri"/>
              <a:cs typeface="Calibri"/>
              <a:sym typeface="Calibri"/>
            </a:endParaRPr>
          </a:p>
        </p:txBody>
      </p:sp>
      <p:sp>
        <p:nvSpPr>
          <p:cNvPr id="358" name="Google Shape;358;p12"/>
          <p:cNvSpPr/>
          <p:nvPr/>
        </p:nvSpPr>
        <p:spPr>
          <a:xfrm>
            <a:off x="7827264" y="1536192"/>
            <a:ext cx="76809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1" i="0" u="none" strike="noStrike" cap="none">
                <a:solidFill>
                  <a:srgbClr val="9DB0CC"/>
                </a:solidFill>
                <a:latin typeface="Calibri"/>
                <a:ea typeface="Calibri"/>
                <a:cs typeface="Calibri"/>
                <a:sym typeface="Calibri"/>
              </a:rPr>
              <a:t>Top-10</a:t>
            </a:r>
            <a:endParaRPr sz="750" b="0" i="0" u="none" strike="noStrike" cap="none">
              <a:solidFill>
                <a:schemeClr val="dk1"/>
              </a:solidFill>
              <a:latin typeface="Calibri"/>
              <a:ea typeface="Calibri"/>
              <a:cs typeface="Calibri"/>
              <a:sym typeface="Calibri"/>
            </a:endParaRPr>
          </a:p>
        </p:txBody>
      </p:sp>
      <p:cxnSp>
        <p:nvCxnSpPr>
          <p:cNvPr id="359" name="Google Shape;359;p12"/>
          <p:cNvCxnSpPr/>
          <p:nvPr/>
        </p:nvCxnSpPr>
        <p:spPr>
          <a:xfrm>
            <a:off x="4828032" y="1755648"/>
            <a:ext cx="3840480" cy="0"/>
          </a:xfrm>
          <a:prstGeom prst="straightConnector1">
            <a:avLst/>
          </a:prstGeom>
          <a:noFill/>
          <a:ln w="9525" cap="flat" cmpd="sng">
            <a:solidFill>
              <a:srgbClr val="243452"/>
            </a:solidFill>
            <a:prstDash val="solid"/>
            <a:round/>
            <a:headEnd type="none" w="sm" len="sm"/>
            <a:tailEnd type="none" w="sm" len="sm"/>
          </a:ln>
        </p:spPr>
      </p:cxnSp>
      <p:sp>
        <p:nvSpPr>
          <p:cNvPr id="360" name="Google Shape;360;p12"/>
          <p:cNvSpPr/>
          <p:nvPr/>
        </p:nvSpPr>
        <p:spPr>
          <a:xfrm>
            <a:off x="4828032" y="1828800"/>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No Defense</a:t>
            </a:r>
            <a:endParaRPr sz="850" b="0" i="0" u="none" strike="noStrike" cap="none">
              <a:solidFill>
                <a:schemeClr val="dk1"/>
              </a:solidFill>
              <a:latin typeface="Calibri"/>
              <a:ea typeface="Calibri"/>
              <a:cs typeface="Calibri"/>
              <a:sym typeface="Calibri"/>
            </a:endParaRPr>
          </a:p>
        </p:txBody>
      </p:sp>
      <p:sp>
        <p:nvSpPr>
          <p:cNvPr id="361" name="Google Shape;361;p12"/>
          <p:cNvSpPr/>
          <p:nvPr/>
        </p:nvSpPr>
        <p:spPr>
          <a:xfrm>
            <a:off x="6217920" y="1828800"/>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80.9%</a:t>
            </a:r>
            <a:endParaRPr sz="900" b="0" i="0" u="none" strike="noStrike" cap="none">
              <a:solidFill>
                <a:schemeClr val="dk1"/>
              </a:solidFill>
              <a:latin typeface="Calibri"/>
              <a:ea typeface="Calibri"/>
              <a:cs typeface="Calibri"/>
              <a:sym typeface="Calibri"/>
            </a:endParaRPr>
          </a:p>
        </p:txBody>
      </p:sp>
      <p:sp>
        <p:nvSpPr>
          <p:cNvPr id="362" name="Google Shape;362;p12"/>
          <p:cNvSpPr/>
          <p:nvPr/>
        </p:nvSpPr>
        <p:spPr>
          <a:xfrm>
            <a:off x="7022592" y="1828800"/>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80.9%</a:t>
            </a:r>
            <a:endParaRPr sz="900" b="0" i="0" u="none" strike="noStrike" cap="none">
              <a:solidFill>
                <a:schemeClr val="dk1"/>
              </a:solidFill>
              <a:latin typeface="Calibri"/>
              <a:ea typeface="Calibri"/>
              <a:cs typeface="Calibri"/>
              <a:sym typeface="Calibri"/>
            </a:endParaRPr>
          </a:p>
        </p:txBody>
      </p:sp>
      <p:sp>
        <p:nvSpPr>
          <p:cNvPr id="363" name="Google Shape;363;p12"/>
          <p:cNvSpPr/>
          <p:nvPr/>
        </p:nvSpPr>
        <p:spPr>
          <a:xfrm>
            <a:off x="7827264" y="1828800"/>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80.9%</a:t>
            </a:r>
            <a:endParaRPr sz="900" b="0" i="0" u="none" strike="noStrike" cap="none">
              <a:solidFill>
                <a:schemeClr val="dk1"/>
              </a:solidFill>
              <a:latin typeface="Calibri"/>
              <a:ea typeface="Calibri"/>
              <a:cs typeface="Calibri"/>
              <a:sym typeface="Calibri"/>
            </a:endParaRPr>
          </a:p>
        </p:txBody>
      </p:sp>
      <p:sp>
        <p:nvSpPr>
          <p:cNvPr id="364" name="Google Shape;364;p12"/>
          <p:cNvSpPr/>
          <p:nvPr/>
        </p:nvSpPr>
        <p:spPr>
          <a:xfrm>
            <a:off x="4828032" y="2340864"/>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IID Noise</a:t>
            </a:r>
            <a:endParaRPr sz="850" b="0" i="0" u="none" strike="noStrike" cap="none">
              <a:solidFill>
                <a:schemeClr val="dk1"/>
              </a:solidFill>
              <a:latin typeface="Calibri"/>
              <a:ea typeface="Calibri"/>
              <a:cs typeface="Calibri"/>
              <a:sym typeface="Calibri"/>
            </a:endParaRPr>
          </a:p>
        </p:txBody>
      </p:sp>
      <p:sp>
        <p:nvSpPr>
          <p:cNvPr id="365" name="Google Shape;365;p12"/>
          <p:cNvSpPr/>
          <p:nvPr/>
        </p:nvSpPr>
        <p:spPr>
          <a:xfrm>
            <a:off x="6217920" y="2340864"/>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35.8%</a:t>
            </a:r>
            <a:endParaRPr sz="900" b="0" i="0" u="none" strike="noStrike" cap="none">
              <a:solidFill>
                <a:schemeClr val="dk1"/>
              </a:solidFill>
              <a:latin typeface="Calibri"/>
              <a:ea typeface="Calibri"/>
              <a:cs typeface="Calibri"/>
              <a:sym typeface="Calibri"/>
            </a:endParaRPr>
          </a:p>
        </p:txBody>
      </p:sp>
      <p:sp>
        <p:nvSpPr>
          <p:cNvPr id="366" name="Google Shape;366;p12"/>
          <p:cNvSpPr/>
          <p:nvPr/>
        </p:nvSpPr>
        <p:spPr>
          <a:xfrm>
            <a:off x="7022592" y="2340864"/>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51.8%</a:t>
            </a:r>
            <a:endParaRPr sz="900" b="0" i="0" u="none" strike="noStrike" cap="none">
              <a:solidFill>
                <a:schemeClr val="dk1"/>
              </a:solidFill>
              <a:latin typeface="Calibri"/>
              <a:ea typeface="Calibri"/>
              <a:cs typeface="Calibri"/>
              <a:sym typeface="Calibri"/>
            </a:endParaRPr>
          </a:p>
        </p:txBody>
      </p:sp>
      <p:sp>
        <p:nvSpPr>
          <p:cNvPr id="367" name="Google Shape;367;p12"/>
          <p:cNvSpPr/>
          <p:nvPr/>
        </p:nvSpPr>
        <p:spPr>
          <a:xfrm>
            <a:off x="7827264" y="2340864"/>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5484D"/>
              </a:buClr>
              <a:buSzPts val="900"/>
              <a:buFont typeface="Calibri"/>
              <a:buNone/>
            </a:pPr>
            <a:r>
              <a:rPr lang="en-US" sz="900" b="1" i="0" u="none" strike="noStrike" cap="none">
                <a:solidFill>
                  <a:srgbClr val="E5484D"/>
                </a:solidFill>
                <a:latin typeface="Calibri"/>
                <a:ea typeface="Calibri"/>
                <a:cs typeface="Calibri"/>
                <a:sym typeface="Calibri"/>
              </a:rPr>
              <a:t>62.9%</a:t>
            </a:r>
            <a:endParaRPr sz="900" b="0" i="0" u="none" strike="noStrike" cap="none">
              <a:solidFill>
                <a:schemeClr val="dk1"/>
              </a:solidFill>
              <a:latin typeface="Calibri"/>
              <a:ea typeface="Calibri"/>
              <a:cs typeface="Calibri"/>
              <a:sym typeface="Calibri"/>
            </a:endParaRPr>
          </a:p>
        </p:txBody>
      </p:sp>
      <p:sp>
        <p:nvSpPr>
          <p:cNvPr id="368" name="Google Shape;368;p12"/>
          <p:cNvSpPr/>
          <p:nvPr/>
        </p:nvSpPr>
        <p:spPr>
          <a:xfrm>
            <a:off x="4828032" y="2852928"/>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Correlated Drift</a:t>
            </a:r>
            <a:endParaRPr sz="850" b="0" i="0" u="none" strike="noStrike" cap="none">
              <a:solidFill>
                <a:schemeClr val="dk1"/>
              </a:solidFill>
              <a:latin typeface="Calibri"/>
              <a:ea typeface="Calibri"/>
              <a:cs typeface="Calibri"/>
              <a:sym typeface="Calibri"/>
            </a:endParaRPr>
          </a:p>
        </p:txBody>
      </p:sp>
      <p:sp>
        <p:nvSpPr>
          <p:cNvPr id="369" name="Google Shape;369;p12"/>
          <p:cNvSpPr/>
          <p:nvPr/>
        </p:nvSpPr>
        <p:spPr>
          <a:xfrm>
            <a:off x="6217920" y="2852928"/>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27.6%</a:t>
            </a:r>
            <a:endParaRPr sz="900" b="0" i="0" u="none" strike="noStrike" cap="none">
              <a:solidFill>
                <a:schemeClr val="dk1"/>
              </a:solidFill>
              <a:latin typeface="Calibri"/>
              <a:ea typeface="Calibri"/>
              <a:cs typeface="Calibri"/>
              <a:sym typeface="Calibri"/>
            </a:endParaRPr>
          </a:p>
        </p:txBody>
      </p:sp>
      <p:sp>
        <p:nvSpPr>
          <p:cNvPr id="370" name="Google Shape;370;p12"/>
          <p:cNvSpPr/>
          <p:nvPr/>
        </p:nvSpPr>
        <p:spPr>
          <a:xfrm>
            <a:off x="7022592" y="2852928"/>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42.1%</a:t>
            </a:r>
            <a:endParaRPr sz="900" b="0" i="0" u="none" strike="noStrike" cap="none">
              <a:solidFill>
                <a:schemeClr val="dk1"/>
              </a:solidFill>
              <a:latin typeface="Calibri"/>
              <a:ea typeface="Calibri"/>
              <a:cs typeface="Calibri"/>
              <a:sym typeface="Calibri"/>
            </a:endParaRPr>
          </a:p>
        </p:txBody>
      </p:sp>
      <p:sp>
        <p:nvSpPr>
          <p:cNvPr id="371" name="Google Shape;371;p12"/>
          <p:cNvSpPr/>
          <p:nvPr/>
        </p:nvSpPr>
        <p:spPr>
          <a:xfrm>
            <a:off x="7827264" y="2852928"/>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900"/>
              <a:buFont typeface="Calibri"/>
              <a:buNone/>
            </a:pPr>
            <a:r>
              <a:rPr lang="en-US" sz="900" b="1" i="0" u="none" strike="noStrike" cap="none">
                <a:solidFill>
                  <a:srgbClr val="F5A623"/>
                </a:solidFill>
                <a:latin typeface="Calibri"/>
                <a:ea typeface="Calibri"/>
                <a:cs typeface="Calibri"/>
                <a:sym typeface="Calibri"/>
              </a:rPr>
              <a:t>52.7%</a:t>
            </a:r>
            <a:endParaRPr sz="900" b="0" i="0" u="none" strike="noStrike" cap="none">
              <a:solidFill>
                <a:schemeClr val="dk1"/>
              </a:solidFill>
              <a:latin typeface="Calibri"/>
              <a:ea typeface="Calibri"/>
              <a:cs typeface="Calibri"/>
              <a:sym typeface="Calibri"/>
            </a:endParaRPr>
          </a:p>
        </p:txBody>
      </p:sp>
      <p:sp>
        <p:nvSpPr>
          <p:cNvPr id="372" name="Google Shape;372;p12"/>
          <p:cNvSpPr/>
          <p:nvPr/>
        </p:nvSpPr>
        <p:spPr>
          <a:xfrm>
            <a:off x="4828032" y="3364992"/>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50"/>
              <a:buFont typeface="Calibri"/>
              <a:buNone/>
            </a:pPr>
            <a:r>
              <a:rPr lang="en-US" sz="850" b="0" i="0" u="none" strike="noStrike" cap="none">
                <a:solidFill>
                  <a:srgbClr val="9DB0CC"/>
                </a:solidFill>
                <a:latin typeface="Calibri"/>
                <a:ea typeface="Calibri"/>
                <a:cs typeface="Calibri"/>
                <a:sym typeface="Calibri"/>
              </a:rPr>
              <a:t>Downsample &amp; Quantize</a:t>
            </a:r>
            <a:endParaRPr sz="850" b="0" i="0" u="none" strike="noStrike" cap="none">
              <a:solidFill>
                <a:schemeClr val="dk1"/>
              </a:solidFill>
              <a:latin typeface="Calibri"/>
              <a:ea typeface="Calibri"/>
              <a:cs typeface="Calibri"/>
              <a:sym typeface="Calibri"/>
            </a:endParaRPr>
          </a:p>
        </p:txBody>
      </p:sp>
      <p:sp>
        <p:nvSpPr>
          <p:cNvPr id="373" name="Google Shape;373;p12"/>
          <p:cNvSpPr/>
          <p:nvPr/>
        </p:nvSpPr>
        <p:spPr>
          <a:xfrm>
            <a:off x="6217920" y="3364992"/>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2.3%</a:t>
            </a:r>
            <a:endParaRPr sz="900" b="0" i="0" u="none" strike="noStrike" cap="none">
              <a:solidFill>
                <a:schemeClr val="dk1"/>
              </a:solidFill>
              <a:latin typeface="Calibri"/>
              <a:ea typeface="Calibri"/>
              <a:cs typeface="Calibri"/>
              <a:sym typeface="Calibri"/>
            </a:endParaRPr>
          </a:p>
        </p:txBody>
      </p:sp>
      <p:sp>
        <p:nvSpPr>
          <p:cNvPr id="374" name="Google Shape;374;p12"/>
          <p:cNvSpPr/>
          <p:nvPr/>
        </p:nvSpPr>
        <p:spPr>
          <a:xfrm>
            <a:off x="7022592" y="3364992"/>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5.6%</a:t>
            </a:r>
            <a:endParaRPr sz="900" b="0" i="0" u="none" strike="noStrike" cap="none">
              <a:solidFill>
                <a:schemeClr val="dk1"/>
              </a:solidFill>
              <a:latin typeface="Calibri"/>
              <a:ea typeface="Calibri"/>
              <a:cs typeface="Calibri"/>
              <a:sym typeface="Calibri"/>
            </a:endParaRPr>
          </a:p>
        </p:txBody>
      </p:sp>
      <p:sp>
        <p:nvSpPr>
          <p:cNvPr id="375" name="Google Shape;375;p12"/>
          <p:cNvSpPr/>
          <p:nvPr/>
        </p:nvSpPr>
        <p:spPr>
          <a:xfrm>
            <a:off x="7827264" y="3364992"/>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8.9%</a:t>
            </a:r>
            <a:endParaRPr sz="900" b="0" i="0" u="none" strike="noStrike" cap="none">
              <a:solidFill>
                <a:schemeClr val="dk1"/>
              </a:solidFill>
              <a:latin typeface="Calibri"/>
              <a:ea typeface="Calibri"/>
              <a:cs typeface="Calibri"/>
              <a:sym typeface="Calibri"/>
            </a:endParaRPr>
          </a:p>
        </p:txBody>
      </p:sp>
      <p:sp>
        <p:nvSpPr>
          <p:cNvPr id="376" name="Google Shape;376;p12"/>
          <p:cNvSpPr/>
          <p:nvPr/>
        </p:nvSpPr>
        <p:spPr>
          <a:xfrm>
            <a:off x="4736592" y="3822192"/>
            <a:ext cx="4023360" cy="457200"/>
          </a:xfrm>
          <a:prstGeom prst="roundRect">
            <a:avLst>
              <a:gd name="adj" fmla="val 10000"/>
            </a:avLst>
          </a:prstGeom>
          <a:solidFill>
            <a:schemeClr val="bg1"/>
          </a:solidFill>
          <a:ln w="9525" cap="flat" cmpd="sng">
            <a:solidFill>
              <a:srgbClr val="3FA6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2"/>
          <p:cNvSpPr/>
          <p:nvPr/>
        </p:nvSpPr>
        <p:spPr>
          <a:xfrm>
            <a:off x="4828032" y="3877056"/>
            <a:ext cx="1353312"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850"/>
              <a:buFont typeface="Calibri"/>
              <a:buNone/>
            </a:pPr>
            <a:r>
              <a:rPr lang="en-US" sz="850" b="1" i="0" u="none" strike="noStrike" cap="none">
                <a:solidFill>
                  <a:srgbClr val="FFFFFF"/>
                </a:solidFill>
                <a:latin typeface="Calibri"/>
                <a:ea typeface="Calibri"/>
                <a:cs typeface="Calibri"/>
                <a:sym typeface="Calibri"/>
              </a:rPr>
              <a:t>Block Offset (CASOM v2)</a:t>
            </a:r>
            <a:endParaRPr sz="850" b="0" i="0" u="none" strike="noStrike" cap="none">
              <a:solidFill>
                <a:schemeClr val="dk1"/>
              </a:solidFill>
              <a:latin typeface="Calibri"/>
              <a:ea typeface="Calibri"/>
              <a:cs typeface="Calibri"/>
              <a:sym typeface="Calibri"/>
            </a:endParaRPr>
          </a:p>
        </p:txBody>
      </p:sp>
      <p:sp>
        <p:nvSpPr>
          <p:cNvPr id="378" name="Google Shape;378;p12"/>
          <p:cNvSpPr/>
          <p:nvPr/>
        </p:nvSpPr>
        <p:spPr>
          <a:xfrm>
            <a:off x="6217920" y="3877056"/>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3.6%</a:t>
            </a:r>
            <a:endParaRPr sz="900" b="0" i="0" u="none" strike="noStrike" cap="none">
              <a:solidFill>
                <a:schemeClr val="dk1"/>
              </a:solidFill>
              <a:latin typeface="Calibri"/>
              <a:ea typeface="Calibri"/>
              <a:cs typeface="Calibri"/>
              <a:sym typeface="Calibri"/>
            </a:endParaRPr>
          </a:p>
        </p:txBody>
      </p:sp>
      <p:sp>
        <p:nvSpPr>
          <p:cNvPr id="379" name="Google Shape;379;p12"/>
          <p:cNvSpPr/>
          <p:nvPr/>
        </p:nvSpPr>
        <p:spPr>
          <a:xfrm>
            <a:off x="7022592" y="3877056"/>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7.0%</a:t>
            </a:r>
            <a:endParaRPr sz="900" b="0" i="0" u="none" strike="noStrike" cap="none">
              <a:solidFill>
                <a:schemeClr val="dk1"/>
              </a:solidFill>
              <a:latin typeface="Calibri"/>
              <a:ea typeface="Calibri"/>
              <a:cs typeface="Calibri"/>
              <a:sym typeface="Calibri"/>
            </a:endParaRPr>
          </a:p>
        </p:txBody>
      </p:sp>
      <p:sp>
        <p:nvSpPr>
          <p:cNvPr id="380" name="Google Shape;380;p12"/>
          <p:cNvSpPr/>
          <p:nvPr/>
        </p:nvSpPr>
        <p:spPr>
          <a:xfrm>
            <a:off x="7827264" y="3877056"/>
            <a:ext cx="768096"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FA66A"/>
              </a:buClr>
              <a:buSzPts val="900"/>
              <a:buFont typeface="Calibri"/>
              <a:buNone/>
            </a:pPr>
            <a:r>
              <a:rPr lang="en-US" sz="900" b="1" i="0" u="none" strike="noStrike" cap="none">
                <a:solidFill>
                  <a:srgbClr val="3FA66A"/>
                </a:solidFill>
                <a:latin typeface="Calibri"/>
                <a:ea typeface="Calibri"/>
                <a:cs typeface="Calibri"/>
                <a:sym typeface="Calibri"/>
              </a:rPr>
              <a:t>13.6%</a:t>
            </a:r>
            <a:endParaRPr sz="900" b="0" i="0" u="none" strike="noStrike" cap="none">
              <a:solidFill>
                <a:schemeClr val="dk1"/>
              </a:solidFill>
              <a:latin typeface="Calibri"/>
              <a:ea typeface="Calibri"/>
              <a:cs typeface="Calibri"/>
              <a:sym typeface="Calibri"/>
            </a:endParaRPr>
          </a:p>
        </p:txBody>
      </p:sp>
      <p:sp>
        <p:nvSpPr>
          <p:cNvPr id="381" name="Google Shape;381;p12"/>
          <p:cNvSpPr/>
          <p:nvPr/>
        </p:nvSpPr>
        <p:spPr>
          <a:xfrm>
            <a:off x="4828032" y="4354142"/>
            <a:ext cx="38404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A66A"/>
              </a:buClr>
              <a:buSzPts val="900"/>
              <a:buFont typeface="Calibri"/>
              <a:buNone/>
            </a:pPr>
            <a:r>
              <a:rPr lang="en-US" sz="900" b="0" i="0" u="none" strike="noStrike" cap="none" dirty="0">
                <a:solidFill>
                  <a:srgbClr val="3FA66A"/>
                </a:solidFill>
                <a:latin typeface="Calibri"/>
                <a:ea typeface="Calibri"/>
                <a:cs typeface="Calibri"/>
                <a:sym typeface="Calibri"/>
              </a:rPr>
              <a:t>★  Block </a:t>
            </a:r>
            <a:r>
              <a:rPr lang="en-US" sz="900" dirty="0">
                <a:solidFill>
                  <a:srgbClr val="3FA66A"/>
                </a:solidFill>
                <a:latin typeface="Calibri"/>
                <a:ea typeface="Calibri"/>
                <a:cs typeface="Calibri"/>
                <a:sym typeface="Calibri"/>
              </a:rPr>
              <a:t>offset</a:t>
            </a:r>
            <a:r>
              <a:rPr lang="en-US" sz="900" b="0" i="0" u="none" strike="noStrike" cap="none" dirty="0">
                <a:solidFill>
                  <a:srgbClr val="3FA66A"/>
                </a:solidFill>
                <a:latin typeface="Calibri"/>
                <a:ea typeface="Calibri"/>
                <a:cs typeface="Calibri"/>
                <a:sym typeface="Calibri"/>
              </a:rPr>
              <a:t> collapses </a:t>
            </a:r>
            <a:r>
              <a:rPr lang="en-US" sz="900" dirty="0">
                <a:solidFill>
                  <a:srgbClr val="3FA66A"/>
                </a:solidFill>
                <a:latin typeface="Calibri"/>
                <a:ea typeface="Calibri"/>
                <a:cs typeface="Calibri"/>
                <a:sym typeface="Calibri"/>
              </a:rPr>
              <a:t>top 1</a:t>
            </a:r>
            <a:r>
              <a:rPr lang="en-US" sz="900" b="0" i="0" u="none" strike="noStrike" cap="none" dirty="0">
                <a:solidFill>
                  <a:srgbClr val="3FA66A"/>
                </a:solidFill>
                <a:latin typeface="Calibri"/>
                <a:ea typeface="Calibri"/>
                <a:cs typeface="Calibri"/>
                <a:sym typeface="Calibri"/>
              </a:rPr>
              <a:t> to 3.6%</a:t>
            </a:r>
            <a:r>
              <a:rPr lang="en-US" sz="900" dirty="0">
                <a:solidFill>
                  <a:srgbClr val="3FA66A"/>
                </a:solidFill>
                <a:latin typeface="Calibri"/>
                <a:ea typeface="Calibri"/>
                <a:cs typeface="Calibri"/>
                <a:sym typeface="Calibri"/>
              </a:rPr>
              <a:t>—near</a:t>
            </a:r>
            <a:r>
              <a:rPr lang="en-US" sz="900" b="0" i="0" u="none" strike="noStrike" cap="none" dirty="0">
                <a:solidFill>
                  <a:srgbClr val="3FA66A"/>
                </a:solidFill>
                <a:latin typeface="Calibri"/>
                <a:ea typeface="Calibri"/>
                <a:cs typeface="Calibri"/>
                <a:sym typeface="Calibri"/>
              </a:rPr>
              <a:t> chance for an 8k-word dictionary.</a:t>
            </a:r>
            <a:endParaRPr sz="9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6"/>
        <p:cNvGrpSpPr/>
        <p:nvPr/>
      </p:nvGrpSpPr>
      <p:grpSpPr>
        <a:xfrm>
          <a:off x="0" y="0"/>
          <a:ext cx="0" cy="0"/>
          <a:chOff x="0" y="0"/>
          <a:chExt cx="0" cy="0"/>
        </a:xfrm>
      </p:grpSpPr>
      <p:sp>
        <p:nvSpPr>
          <p:cNvPr id="387" name="Google Shape;387;p13"/>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a:solidFill>
                  <a:srgbClr val="C77F12"/>
                </a:solidFill>
                <a:latin typeface="Calibri"/>
                <a:ea typeface="Calibri"/>
                <a:cs typeface="Calibri"/>
                <a:sym typeface="Calibri"/>
              </a:rPr>
              <a:t>IMPLEMENTATION &amp; VERIFICATION · §5</a:t>
            </a:r>
            <a:endParaRPr sz="900" b="0" i="0" u="none" strike="noStrike" cap="none">
              <a:solidFill>
                <a:schemeClr val="dk1"/>
              </a:solidFill>
              <a:latin typeface="Calibri"/>
              <a:ea typeface="Calibri"/>
              <a:cs typeface="Calibri"/>
              <a:sym typeface="Calibri"/>
            </a:endParaRPr>
          </a:p>
        </p:txBody>
      </p:sp>
      <p:sp>
        <p:nvSpPr>
          <p:cNvPr id="388" name="Google Shape;388;p13"/>
          <p:cNvSpPr/>
          <p:nvPr/>
        </p:nvSpPr>
        <p:spPr>
          <a:xfrm>
            <a:off x="365759" y="420624"/>
            <a:ext cx="8868047"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6-module Python pipeline: end-to-end simulation &amp; benchmarking</a:t>
            </a:r>
            <a:endParaRPr sz="2400" b="0" i="0" u="none" strike="noStrike" cap="none" dirty="0">
              <a:solidFill>
                <a:schemeClr val="dk1"/>
              </a:solidFill>
              <a:latin typeface="Calibri"/>
              <a:ea typeface="Calibri"/>
              <a:cs typeface="Calibri"/>
              <a:sym typeface="Calibri"/>
            </a:endParaRPr>
          </a:p>
        </p:txBody>
      </p:sp>
      <p:sp>
        <p:nvSpPr>
          <p:cNvPr id="390" name="Google Shape;390;p13"/>
          <p:cNvSpPr/>
          <p:nvPr/>
        </p:nvSpPr>
        <p:spPr>
          <a:xfrm>
            <a:off x="4572000" y="4846320"/>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14</a:t>
            </a:r>
            <a:endParaRPr sz="700" b="0" i="0" u="none" strike="noStrike" cap="none">
              <a:solidFill>
                <a:schemeClr val="dk1"/>
              </a:solidFill>
              <a:latin typeface="Calibri"/>
              <a:ea typeface="Calibri"/>
              <a:cs typeface="Calibri"/>
              <a:sym typeface="Calibri"/>
            </a:endParaRPr>
          </a:p>
        </p:txBody>
      </p:sp>
      <p:sp>
        <p:nvSpPr>
          <p:cNvPr id="391" name="Google Shape;391;p13"/>
          <p:cNvSpPr/>
          <p:nvPr/>
        </p:nvSpPr>
        <p:spPr>
          <a:xfrm>
            <a:off x="320040" y="1115568"/>
            <a:ext cx="2029968" cy="1371600"/>
          </a:xfrm>
          <a:prstGeom prst="roundRect">
            <a:avLst>
              <a:gd name="adj" fmla="val 533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3"/>
          <p:cNvSpPr/>
          <p:nvPr/>
        </p:nvSpPr>
        <p:spPr>
          <a:xfrm>
            <a:off x="320040" y="1225296"/>
            <a:ext cx="2029968" cy="7543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3400"/>
              <a:buFont typeface="Calibri"/>
              <a:buNone/>
            </a:pPr>
            <a:r>
              <a:rPr lang="en-US" sz="3400" b="1" i="0" u="none" strike="noStrike" cap="none">
                <a:solidFill>
                  <a:srgbClr val="F5A623"/>
                </a:solidFill>
                <a:latin typeface="Calibri"/>
                <a:ea typeface="Calibri"/>
                <a:cs typeface="Calibri"/>
                <a:sym typeface="Calibri"/>
              </a:rPr>
              <a:t>24</a:t>
            </a:r>
            <a:endParaRPr sz="3400" b="0" i="0" u="none" strike="noStrike" cap="none">
              <a:solidFill>
                <a:schemeClr val="dk1"/>
              </a:solidFill>
              <a:latin typeface="Calibri"/>
              <a:ea typeface="Calibri"/>
              <a:cs typeface="Calibri"/>
              <a:sym typeface="Calibri"/>
            </a:endParaRPr>
          </a:p>
        </p:txBody>
      </p:sp>
      <p:sp>
        <p:nvSpPr>
          <p:cNvPr id="393" name="Google Shape;393;p13"/>
          <p:cNvSpPr/>
          <p:nvPr/>
        </p:nvSpPr>
        <p:spPr>
          <a:xfrm>
            <a:off x="411480" y="1938528"/>
            <a:ext cx="1847088" cy="4800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PARTICIPANTS</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14 men, 10 women</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20s–30s, IRB-approved</a:t>
            </a:r>
            <a:endParaRPr sz="850" b="0" i="0" u="none" strike="noStrike" cap="none">
              <a:solidFill>
                <a:schemeClr val="dk1"/>
              </a:solidFill>
              <a:latin typeface="Calibri"/>
              <a:ea typeface="Calibri"/>
              <a:cs typeface="Calibri"/>
              <a:sym typeface="Calibri"/>
            </a:endParaRPr>
          </a:p>
        </p:txBody>
      </p:sp>
      <p:sp>
        <p:nvSpPr>
          <p:cNvPr id="394" name="Google Shape;394;p13"/>
          <p:cNvSpPr/>
          <p:nvPr/>
        </p:nvSpPr>
        <p:spPr>
          <a:xfrm>
            <a:off x="2514600" y="1115568"/>
            <a:ext cx="2029968" cy="1371600"/>
          </a:xfrm>
          <a:prstGeom prst="roundRect">
            <a:avLst>
              <a:gd name="adj" fmla="val 533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3"/>
          <p:cNvSpPr/>
          <p:nvPr/>
        </p:nvSpPr>
        <p:spPr>
          <a:xfrm>
            <a:off x="2514600" y="1225296"/>
            <a:ext cx="2029968" cy="7543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3400"/>
              <a:buFont typeface="Calibri"/>
              <a:buNone/>
            </a:pPr>
            <a:r>
              <a:rPr lang="en-US" sz="3400" b="1" i="0" u="none" strike="noStrike" cap="none">
                <a:solidFill>
                  <a:srgbClr val="F5A623"/>
                </a:solidFill>
                <a:latin typeface="Calibri"/>
                <a:ea typeface="Calibri"/>
                <a:cs typeface="Calibri"/>
                <a:sym typeface="Calibri"/>
              </a:rPr>
              <a:t>72 Hz</a:t>
            </a:r>
            <a:endParaRPr sz="3400" b="0" i="0" u="none" strike="noStrike" cap="none">
              <a:solidFill>
                <a:schemeClr val="dk1"/>
              </a:solidFill>
              <a:latin typeface="Calibri"/>
              <a:ea typeface="Calibri"/>
              <a:cs typeface="Calibri"/>
              <a:sym typeface="Calibri"/>
            </a:endParaRPr>
          </a:p>
        </p:txBody>
      </p:sp>
      <p:sp>
        <p:nvSpPr>
          <p:cNvPr id="396" name="Google Shape;396;p13"/>
          <p:cNvSpPr/>
          <p:nvPr/>
        </p:nvSpPr>
        <p:spPr>
          <a:xfrm>
            <a:off x="2606040" y="1938528"/>
            <a:ext cx="1847088" cy="4800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SAMPLING RATE</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Default headset rate</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Silent, no resource spike</a:t>
            </a:r>
            <a:endParaRPr sz="850" b="0" i="0" u="none" strike="noStrike" cap="none">
              <a:solidFill>
                <a:schemeClr val="dk1"/>
              </a:solidFill>
              <a:latin typeface="Calibri"/>
              <a:ea typeface="Calibri"/>
              <a:cs typeface="Calibri"/>
              <a:sym typeface="Calibri"/>
            </a:endParaRPr>
          </a:p>
        </p:txBody>
      </p:sp>
      <p:sp>
        <p:nvSpPr>
          <p:cNvPr id="397" name="Google Shape;397;p13"/>
          <p:cNvSpPr/>
          <p:nvPr/>
        </p:nvSpPr>
        <p:spPr>
          <a:xfrm>
            <a:off x="4709160" y="1115568"/>
            <a:ext cx="2029968" cy="1371600"/>
          </a:xfrm>
          <a:prstGeom prst="roundRect">
            <a:avLst>
              <a:gd name="adj" fmla="val 533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3"/>
          <p:cNvSpPr/>
          <p:nvPr/>
        </p:nvSpPr>
        <p:spPr>
          <a:xfrm>
            <a:off x="4709160" y="1225296"/>
            <a:ext cx="2029968" cy="7543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3400"/>
              <a:buFont typeface="Calibri"/>
              <a:buNone/>
            </a:pPr>
            <a:r>
              <a:rPr lang="en-US" sz="3400" b="1" i="0" u="none" strike="noStrike" cap="none">
                <a:solidFill>
                  <a:srgbClr val="F5A623"/>
                </a:solidFill>
                <a:latin typeface="Calibri"/>
                <a:ea typeface="Calibri"/>
                <a:cs typeface="Calibri"/>
                <a:sym typeface="Calibri"/>
              </a:rPr>
              <a:t>40 + 10</a:t>
            </a:r>
            <a:endParaRPr sz="3400" b="0" i="0" u="none" strike="noStrike" cap="none">
              <a:solidFill>
                <a:schemeClr val="dk1"/>
              </a:solidFill>
              <a:latin typeface="Calibri"/>
              <a:ea typeface="Calibri"/>
              <a:cs typeface="Calibri"/>
              <a:sym typeface="Calibri"/>
            </a:endParaRPr>
          </a:p>
        </p:txBody>
      </p:sp>
      <p:sp>
        <p:nvSpPr>
          <p:cNvPr id="399" name="Google Shape;399;p13"/>
          <p:cNvSpPr/>
          <p:nvPr/>
        </p:nvSpPr>
        <p:spPr>
          <a:xfrm>
            <a:off x="4800600" y="1938528"/>
            <a:ext cx="1847088" cy="4800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WORDS &amp; SENTENCES</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40 words (3–6 letters)</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10 sentences, COCA corpus</a:t>
            </a:r>
            <a:endParaRPr sz="850" b="0" i="0" u="none" strike="noStrike" cap="none">
              <a:solidFill>
                <a:schemeClr val="dk1"/>
              </a:solidFill>
              <a:latin typeface="Calibri"/>
              <a:ea typeface="Calibri"/>
              <a:cs typeface="Calibri"/>
              <a:sym typeface="Calibri"/>
            </a:endParaRPr>
          </a:p>
        </p:txBody>
      </p:sp>
      <p:sp>
        <p:nvSpPr>
          <p:cNvPr id="400" name="Google Shape;400;p13"/>
          <p:cNvSpPr/>
          <p:nvPr/>
        </p:nvSpPr>
        <p:spPr>
          <a:xfrm>
            <a:off x="6903720" y="1115568"/>
            <a:ext cx="2029968" cy="1371600"/>
          </a:xfrm>
          <a:prstGeom prst="roundRect">
            <a:avLst>
              <a:gd name="adj" fmla="val 533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3"/>
          <p:cNvSpPr/>
          <p:nvPr/>
        </p:nvSpPr>
        <p:spPr>
          <a:xfrm>
            <a:off x="6903720" y="1225296"/>
            <a:ext cx="2029968" cy="7543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3400"/>
              <a:buFont typeface="Calibri"/>
              <a:buNone/>
            </a:pPr>
            <a:r>
              <a:rPr lang="en-US" sz="3400" b="1" i="0" u="none" strike="noStrike" cap="none">
                <a:solidFill>
                  <a:srgbClr val="F5A623"/>
                </a:solidFill>
                <a:latin typeface="Calibri"/>
                <a:ea typeface="Calibri"/>
                <a:cs typeface="Calibri"/>
                <a:sym typeface="Calibri"/>
              </a:rPr>
              <a:t>28</a:t>
            </a:r>
            <a:endParaRPr sz="3400" b="0" i="0" u="none" strike="noStrike" cap="none">
              <a:solidFill>
                <a:schemeClr val="dk1"/>
              </a:solidFill>
              <a:latin typeface="Calibri"/>
              <a:ea typeface="Calibri"/>
              <a:cs typeface="Calibri"/>
              <a:sym typeface="Calibri"/>
            </a:endParaRPr>
          </a:p>
        </p:txBody>
      </p:sp>
      <p:sp>
        <p:nvSpPr>
          <p:cNvPr id="402" name="Google Shape;402;p13"/>
          <p:cNvSpPr/>
          <p:nvPr/>
        </p:nvSpPr>
        <p:spPr>
          <a:xfrm>
            <a:off x="6995160" y="1938528"/>
            <a:ext cx="1847088" cy="4800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REFERENCE KEYS</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26 letters + Space + Enter</a:t>
            </a:r>
            <a:endParaRPr sz="85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5C6B82"/>
              </a:buClr>
              <a:buSzPts val="850"/>
              <a:buFont typeface="Calibri"/>
              <a:buNone/>
            </a:pPr>
            <a:r>
              <a:rPr lang="en-US" sz="850" b="0" i="0" u="none" strike="noStrike" cap="none">
                <a:solidFill>
                  <a:srgbClr val="5C6B82"/>
                </a:solidFill>
                <a:latin typeface="Calibri"/>
                <a:ea typeface="Calibri"/>
                <a:cs typeface="Calibri"/>
                <a:sym typeface="Calibri"/>
              </a:rPr>
              <a:t>20× each</a:t>
            </a:r>
            <a:endParaRPr sz="850" b="0" i="0" u="none" strike="noStrike" cap="none">
              <a:solidFill>
                <a:schemeClr val="dk1"/>
              </a:solidFill>
              <a:latin typeface="Calibri"/>
              <a:ea typeface="Calibri"/>
              <a:cs typeface="Calibri"/>
              <a:sym typeface="Calibri"/>
            </a:endParaRPr>
          </a:p>
        </p:txBody>
      </p:sp>
      <p:sp>
        <p:nvSpPr>
          <p:cNvPr id="403" name="Google Shape;403;p13"/>
          <p:cNvSpPr/>
          <p:nvPr/>
        </p:nvSpPr>
        <p:spPr>
          <a:xfrm>
            <a:off x="320040" y="2633472"/>
            <a:ext cx="4160520" cy="1444752"/>
          </a:xfrm>
          <a:prstGeom prst="roundRect">
            <a:avLst>
              <a:gd name="adj" fmla="val 5063"/>
            </a:avLst>
          </a:prstGeom>
          <a:solidFill>
            <a:srgbClr val="1B2840"/>
          </a:solidFill>
          <a:ln w="9525" cap="flat" cmpd="sng">
            <a:solidFill>
              <a:srgbClr val="24345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3"/>
          <p:cNvSpPr/>
          <p:nvPr/>
        </p:nvSpPr>
        <p:spPr>
          <a:xfrm>
            <a:off x="484632" y="2743200"/>
            <a:ext cx="3831336"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Hardware &amp; App</a:t>
            </a:r>
            <a:endParaRPr sz="1100" b="0" i="0" u="none" strike="noStrike" cap="none">
              <a:solidFill>
                <a:schemeClr val="dk1"/>
              </a:solidFill>
              <a:latin typeface="Calibri"/>
              <a:ea typeface="Calibri"/>
              <a:cs typeface="Calibri"/>
              <a:sym typeface="Calibri"/>
            </a:endParaRPr>
          </a:p>
        </p:txBody>
      </p:sp>
      <p:sp>
        <p:nvSpPr>
          <p:cNvPr id="405" name="Google Shape;405;p13"/>
          <p:cNvSpPr/>
          <p:nvPr/>
        </p:nvSpPr>
        <p:spPr>
          <a:xfrm>
            <a:off x="484632" y="3035808"/>
            <a:ext cx="3831336"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E8EEF7"/>
              </a:buClr>
              <a:buSzPts val="950"/>
              <a:buFont typeface="Calibri"/>
              <a:buNone/>
            </a:pPr>
            <a:r>
              <a:rPr lang="en-US" sz="950" b="0" i="0" u="none" strike="noStrike" cap="none">
                <a:solidFill>
                  <a:srgbClr val="E8EEF7"/>
                </a:solidFill>
                <a:latin typeface="Calibri"/>
                <a:ea typeface="Calibri"/>
                <a:cs typeface="Calibri"/>
                <a:sym typeface="Calibri"/>
              </a:rPr>
              <a:t>Meta Quest Pro  ·  custom "SensorLogger" background app (Unity)  ·  Facebook Messenger as the foreground victim app.  Adversary pressed each reference key 20× to build layout.</a:t>
            </a:r>
            <a:endParaRPr sz="950" b="0" i="0" u="none" strike="noStrike" cap="none">
              <a:solidFill>
                <a:schemeClr val="dk1"/>
              </a:solidFill>
              <a:latin typeface="Calibri"/>
              <a:ea typeface="Calibri"/>
              <a:cs typeface="Calibri"/>
              <a:sym typeface="Calibri"/>
            </a:endParaRPr>
          </a:p>
        </p:txBody>
      </p:sp>
      <p:sp>
        <p:nvSpPr>
          <p:cNvPr id="406" name="Google Shape;406;p13"/>
          <p:cNvSpPr/>
          <p:nvPr/>
        </p:nvSpPr>
        <p:spPr>
          <a:xfrm>
            <a:off x="4663440" y="2633472"/>
            <a:ext cx="4160520" cy="1444752"/>
          </a:xfrm>
          <a:prstGeom prst="roundRect">
            <a:avLst>
              <a:gd name="adj" fmla="val 5063"/>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3"/>
          <p:cNvSpPr/>
          <p:nvPr/>
        </p:nvSpPr>
        <p:spPr>
          <a:xfrm>
            <a:off x="4828032" y="2724912"/>
            <a:ext cx="38404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Metrics</a:t>
            </a:r>
            <a:endParaRPr sz="1100" b="0" i="0" u="none" strike="noStrike" cap="none">
              <a:solidFill>
                <a:schemeClr val="dk1"/>
              </a:solidFill>
              <a:latin typeface="Calibri"/>
              <a:ea typeface="Calibri"/>
              <a:cs typeface="Calibri"/>
              <a:sym typeface="Calibri"/>
            </a:endParaRPr>
          </a:p>
        </p:txBody>
      </p:sp>
      <p:sp>
        <p:nvSpPr>
          <p:cNvPr id="408" name="Google Shape;408;p13"/>
          <p:cNvSpPr/>
          <p:nvPr/>
        </p:nvSpPr>
        <p:spPr>
          <a:xfrm>
            <a:off x="4828032" y="2999232"/>
            <a:ext cx="10972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a:solidFill>
                  <a:srgbClr val="F5A623"/>
                </a:solidFill>
                <a:latin typeface="Calibri"/>
                <a:ea typeface="Calibri"/>
                <a:cs typeface="Calibri"/>
                <a:sym typeface="Calibri"/>
              </a:rPr>
              <a:t>Top-1 / Top-k%:</a:t>
            </a:r>
            <a:endParaRPr sz="1000" b="0" i="0" u="none" strike="noStrike" cap="none">
              <a:solidFill>
                <a:schemeClr val="dk1"/>
              </a:solidFill>
              <a:latin typeface="Calibri"/>
              <a:ea typeface="Calibri"/>
              <a:cs typeface="Calibri"/>
              <a:sym typeface="Calibri"/>
            </a:endParaRPr>
          </a:p>
        </p:txBody>
      </p:sp>
      <p:sp>
        <p:nvSpPr>
          <p:cNvPr id="409" name="Google Shape;409;p13"/>
          <p:cNvSpPr/>
          <p:nvPr/>
        </p:nvSpPr>
        <p:spPr>
          <a:xfrm>
            <a:off x="5943600" y="2999232"/>
            <a:ext cx="27432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Is the true word the 1st (or within top k%) candidate?</a:t>
            </a:r>
            <a:endParaRPr sz="950" b="0" i="0" u="none" strike="noStrike" cap="none">
              <a:solidFill>
                <a:schemeClr val="dk1"/>
              </a:solidFill>
              <a:latin typeface="Calibri"/>
              <a:ea typeface="Calibri"/>
              <a:cs typeface="Calibri"/>
              <a:sym typeface="Calibri"/>
            </a:endParaRPr>
          </a:p>
        </p:txBody>
      </p:sp>
      <p:sp>
        <p:nvSpPr>
          <p:cNvPr id="410" name="Google Shape;410;p13"/>
          <p:cNvSpPr/>
          <p:nvPr/>
        </p:nvSpPr>
        <p:spPr>
          <a:xfrm>
            <a:off x="4828032" y="3456432"/>
            <a:ext cx="10972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i="0" u="none" strike="noStrike" cap="none">
                <a:solidFill>
                  <a:srgbClr val="F5A623"/>
                </a:solidFill>
                <a:latin typeface="Calibri"/>
                <a:ea typeface="Calibri"/>
                <a:cs typeface="Calibri"/>
                <a:sym typeface="Calibri"/>
              </a:rPr>
              <a:t>WAA:</a:t>
            </a:r>
            <a:endParaRPr sz="1000" b="0" i="0" u="none" strike="noStrike" cap="none">
              <a:solidFill>
                <a:schemeClr val="dk1"/>
              </a:solidFill>
              <a:latin typeface="Calibri"/>
              <a:ea typeface="Calibri"/>
              <a:cs typeface="Calibri"/>
              <a:sym typeface="Calibri"/>
            </a:endParaRPr>
          </a:p>
        </p:txBody>
      </p:sp>
      <p:sp>
        <p:nvSpPr>
          <p:cNvPr id="411" name="Google Shape;411;p13"/>
          <p:cNvSpPr/>
          <p:nvPr/>
        </p:nvSpPr>
        <p:spPr>
          <a:xfrm>
            <a:off x="5943600" y="3456432"/>
            <a:ext cx="27432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Word-weighted Average Accuracy for sentences (Top-1 = 1.0, Top-k% = 0.5).</a:t>
            </a:r>
            <a:endParaRPr sz="950" b="0" i="0" u="none" strike="noStrike" cap="none">
              <a:solidFill>
                <a:schemeClr val="dk1"/>
              </a:solidFill>
              <a:latin typeface="Calibri"/>
              <a:ea typeface="Calibri"/>
              <a:cs typeface="Calibri"/>
              <a:sym typeface="Calibri"/>
            </a:endParaRPr>
          </a:p>
        </p:txBody>
      </p:sp>
      <p:sp>
        <p:nvSpPr>
          <p:cNvPr id="412" name="Google Shape;412;p13"/>
          <p:cNvSpPr/>
          <p:nvPr/>
        </p:nvSpPr>
        <p:spPr>
          <a:xfrm>
            <a:off x="320040" y="4187952"/>
            <a:ext cx="8503920" cy="676656"/>
          </a:xfrm>
          <a:prstGeom prst="roundRect">
            <a:avLst>
              <a:gd name="adj" fmla="val 10811"/>
            </a:avLst>
          </a:prstGeom>
          <a:solidFill>
            <a:srgbClr val="F2F5FA"/>
          </a:solidFill>
          <a:ln w="9525" cap="flat" cmpd="sng">
            <a:solidFill>
              <a:srgbClr val="E2E8F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3"/>
          <p:cNvSpPr/>
          <p:nvPr/>
        </p:nvSpPr>
        <p:spPr>
          <a:xfrm>
            <a:off x="502920" y="4242816"/>
            <a:ext cx="10972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000"/>
              <a:buFont typeface="Calibri"/>
              <a:buNone/>
            </a:pPr>
            <a:r>
              <a:rPr lang="en-US" sz="1000" b="1" i="0" u="none" strike="noStrike" cap="none">
                <a:solidFill>
                  <a:srgbClr val="16202E"/>
                </a:solidFill>
                <a:latin typeface="Calibri"/>
                <a:ea typeface="Calibri"/>
                <a:cs typeface="Calibri"/>
                <a:sym typeface="Calibri"/>
              </a:rPr>
              <a:t>Why 72 Hz?</a:t>
            </a:r>
            <a:endParaRPr sz="1000" b="0" i="0" u="none" strike="noStrike" cap="none">
              <a:solidFill>
                <a:schemeClr val="dk1"/>
              </a:solidFill>
              <a:latin typeface="Calibri"/>
              <a:ea typeface="Calibri"/>
              <a:cs typeface="Calibri"/>
              <a:sym typeface="Calibri"/>
            </a:endParaRPr>
          </a:p>
        </p:txBody>
      </p:sp>
      <p:sp>
        <p:nvSpPr>
          <p:cNvPr id="414" name="Google Shape;414;p13"/>
          <p:cNvSpPr/>
          <p:nvPr/>
        </p:nvSpPr>
        <p:spPr>
          <a:xfrm>
            <a:off x="1645920" y="4242816"/>
            <a:ext cx="694944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High enough to capture fine-grained head motion during finger-key selection. Low enough that the background app's CPU usage stays indistinguishable from a normal inactive app — making detection nearly impossible.</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3"/>
        <p:cNvGrpSpPr/>
        <p:nvPr/>
      </p:nvGrpSpPr>
      <p:grpSpPr>
        <a:xfrm>
          <a:off x="0" y="0"/>
          <a:ext cx="0" cy="0"/>
          <a:chOff x="0" y="0"/>
          <a:chExt cx="0" cy="0"/>
        </a:xfrm>
      </p:grpSpPr>
      <p:sp>
        <p:nvSpPr>
          <p:cNvPr id="484" name="Google Shape;484;p16"/>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a:solidFill>
                  <a:srgbClr val="C77F12"/>
                </a:solidFill>
                <a:latin typeface="Calibri"/>
                <a:ea typeface="Calibri"/>
                <a:cs typeface="Calibri"/>
                <a:sym typeface="Calibri"/>
              </a:rPr>
              <a:t>DEFENSES</a:t>
            </a:r>
            <a:endParaRPr sz="900" b="0" i="0" u="none" strike="noStrike" cap="none">
              <a:solidFill>
                <a:schemeClr val="dk1"/>
              </a:solidFill>
              <a:latin typeface="Calibri"/>
              <a:ea typeface="Calibri"/>
              <a:cs typeface="Calibri"/>
              <a:sym typeface="Calibri"/>
            </a:endParaRPr>
          </a:p>
        </p:txBody>
      </p:sp>
      <p:sp>
        <p:nvSpPr>
          <p:cNvPr id="485" name="Google Shape;485;p16"/>
          <p:cNvSpPr/>
          <p:nvPr/>
        </p:nvSpPr>
        <p:spPr>
          <a:xfrm>
            <a:off x="365760" y="420624"/>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Countermeasures: layered defenses balancing privacy &amp; usability</a:t>
            </a:r>
            <a:endParaRPr sz="2400" b="0" i="0" u="none" strike="noStrike" cap="none" dirty="0">
              <a:solidFill>
                <a:schemeClr val="dk1"/>
              </a:solidFill>
              <a:latin typeface="Calibri"/>
              <a:ea typeface="Calibri"/>
              <a:cs typeface="Calibri"/>
              <a:sym typeface="Calibri"/>
            </a:endParaRPr>
          </a:p>
        </p:txBody>
      </p:sp>
      <p:sp>
        <p:nvSpPr>
          <p:cNvPr id="487" name="Google Shape;487;p16"/>
          <p:cNvSpPr/>
          <p:nvPr/>
        </p:nvSpPr>
        <p:spPr>
          <a:xfrm>
            <a:off x="4572000" y="4903468"/>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dirty="0">
                <a:solidFill>
                  <a:srgbClr val="9DB0CC"/>
                </a:solidFill>
                <a:latin typeface="Calibri"/>
                <a:ea typeface="Calibri"/>
                <a:cs typeface="Calibri"/>
                <a:sym typeface="Calibri"/>
              </a:rPr>
              <a:t>SNOOPFINGER  ·  Lee &amp; Choi, IEEE S&amp;P 2025  ·  17</a:t>
            </a:r>
            <a:endParaRPr sz="700" b="0" i="0" u="none" strike="noStrike" cap="none" dirty="0">
              <a:solidFill>
                <a:schemeClr val="dk1"/>
              </a:solidFill>
              <a:latin typeface="Calibri"/>
              <a:ea typeface="Calibri"/>
              <a:cs typeface="Calibri"/>
              <a:sym typeface="Calibri"/>
            </a:endParaRPr>
          </a:p>
        </p:txBody>
      </p:sp>
      <p:sp>
        <p:nvSpPr>
          <p:cNvPr id="488" name="Google Shape;488;p16"/>
          <p:cNvSpPr/>
          <p:nvPr/>
        </p:nvSpPr>
        <p:spPr>
          <a:xfrm>
            <a:off x="365760" y="1115568"/>
            <a:ext cx="84124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6B82"/>
              </a:buClr>
              <a:buSzPts val="1050"/>
              <a:buFont typeface="Calibri"/>
              <a:buNone/>
            </a:pPr>
            <a:r>
              <a:rPr lang="en-US" sz="1050" b="0" i="0" u="none" strike="noStrike" cap="none">
                <a:solidFill>
                  <a:srgbClr val="5C6B82"/>
                </a:solidFill>
                <a:latin typeface="Calibri"/>
                <a:ea typeface="Calibri"/>
                <a:cs typeface="Calibri"/>
                <a:sym typeface="Calibri"/>
              </a:rPr>
              <a:t>No single fix; the paper proposes layered defenses balancing privacy against usability.</a:t>
            </a:r>
            <a:endParaRPr sz="1050" b="0" i="0" u="none" strike="noStrike" cap="none">
              <a:solidFill>
                <a:schemeClr val="dk1"/>
              </a:solidFill>
              <a:latin typeface="Calibri"/>
              <a:ea typeface="Calibri"/>
              <a:cs typeface="Calibri"/>
              <a:sym typeface="Calibri"/>
            </a:endParaRPr>
          </a:p>
        </p:txBody>
      </p:sp>
      <p:sp>
        <p:nvSpPr>
          <p:cNvPr id="489" name="Google Shape;489;p16"/>
          <p:cNvSpPr/>
          <p:nvPr/>
        </p:nvSpPr>
        <p:spPr>
          <a:xfrm>
            <a:off x="320040" y="1481328"/>
            <a:ext cx="2724912" cy="1444752"/>
          </a:xfrm>
          <a:prstGeom prst="roundRect">
            <a:avLst>
              <a:gd name="adj" fmla="val 506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0" name="Google Shape;490;p16" descr="preencoded.png"/>
          <p:cNvPicPr preferRelativeResize="0"/>
          <p:nvPr/>
        </p:nvPicPr>
        <p:blipFill rotWithShape="1">
          <a:blip r:embed="rId3">
            <a:alphaModFix/>
          </a:blip>
          <a:srcRect/>
          <a:stretch/>
        </p:blipFill>
        <p:spPr>
          <a:xfrm>
            <a:off x="457200" y="1600200"/>
            <a:ext cx="256032" cy="256032"/>
          </a:xfrm>
          <a:prstGeom prst="rect">
            <a:avLst/>
          </a:prstGeom>
          <a:noFill/>
          <a:ln>
            <a:noFill/>
          </a:ln>
        </p:spPr>
      </p:pic>
      <p:sp>
        <p:nvSpPr>
          <p:cNvPr id="491" name="Google Shape;491;p16"/>
          <p:cNvSpPr/>
          <p:nvPr/>
        </p:nvSpPr>
        <p:spPr>
          <a:xfrm>
            <a:off x="777240" y="1591056"/>
            <a:ext cx="21305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Sensor access control</a:t>
            </a:r>
            <a:endParaRPr sz="1100" b="0" i="0" u="none" strike="noStrike" cap="none">
              <a:solidFill>
                <a:schemeClr val="dk1"/>
              </a:solidFill>
              <a:latin typeface="Calibri"/>
              <a:ea typeface="Calibri"/>
              <a:cs typeface="Calibri"/>
              <a:sym typeface="Calibri"/>
            </a:endParaRPr>
          </a:p>
        </p:txBody>
      </p:sp>
      <p:sp>
        <p:nvSpPr>
          <p:cNvPr id="492" name="Google Shape;492;p16"/>
          <p:cNvSpPr/>
          <p:nvPr/>
        </p:nvSpPr>
        <p:spPr>
          <a:xfrm>
            <a:off x="457200" y="1901952"/>
            <a:ext cx="2450592"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Treat continuous background orientation access as sensitive; flag or gate apps that request it.</a:t>
            </a:r>
            <a:endParaRPr sz="950" b="0" i="0" u="none" strike="noStrike" cap="none">
              <a:solidFill>
                <a:schemeClr val="dk1"/>
              </a:solidFill>
              <a:latin typeface="Calibri"/>
              <a:ea typeface="Calibri"/>
              <a:cs typeface="Calibri"/>
              <a:sym typeface="Calibri"/>
            </a:endParaRPr>
          </a:p>
        </p:txBody>
      </p:sp>
      <p:sp>
        <p:nvSpPr>
          <p:cNvPr id="493" name="Google Shape;493;p16"/>
          <p:cNvSpPr/>
          <p:nvPr/>
        </p:nvSpPr>
        <p:spPr>
          <a:xfrm>
            <a:off x="3200400" y="1481328"/>
            <a:ext cx="2724912" cy="1444752"/>
          </a:xfrm>
          <a:prstGeom prst="roundRect">
            <a:avLst>
              <a:gd name="adj" fmla="val 506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4" name="Google Shape;494;p16" descr="preencoded.png"/>
          <p:cNvPicPr preferRelativeResize="0"/>
          <p:nvPr/>
        </p:nvPicPr>
        <p:blipFill rotWithShape="1">
          <a:blip r:embed="rId4">
            <a:alphaModFix/>
          </a:blip>
          <a:srcRect/>
          <a:stretch/>
        </p:blipFill>
        <p:spPr>
          <a:xfrm>
            <a:off x="3337560" y="1600200"/>
            <a:ext cx="256032" cy="256032"/>
          </a:xfrm>
          <a:prstGeom prst="rect">
            <a:avLst/>
          </a:prstGeom>
          <a:noFill/>
          <a:ln>
            <a:noFill/>
          </a:ln>
        </p:spPr>
      </p:pic>
      <p:sp>
        <p:nvSpPr>
          <p:cNvPr id="495" name="Google Shape;495;p16"/>
          <p:cNvSpPr/>
          <p:nvPr/>
        </p:nvSpPr>
        <p:spPr>
          <a:xfrm>
            <a:off x="3657600" y="1591056"/>
            <a:ext cx="21305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Data obfuscation</a:t>
            </a:r>
            <a:endParaRPr sz="1100" b="0" i="0" u="none" strike="noStrike" cap="none">
              <a:solidFill>
                <a:schemeClr val="dk1"/>
              </a:solidFill>
              <a:latin typeface="Calibri"/>
              <a:ea typeface="Calibri"/>
              <a:cs typeface="Calibri"/>
              <a:sym typeface="Calibri"/>
            </a:endParaRPr>
          </a:p>
        </p:txBody>
      </p:sp>
      <p:sp>
        <p:nvSpPr>
          <p:cNvPr id="496" name="Google Shape;496;p16"/>
          <p:cNvSpPr/>
          <p:nvPr/>
        </p:nvSpPr>
        <p:spPr>
          <a:xfrm>
            <a:off x="3337560" y="1901952"/>
            <a:ext cx="2450592"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Down-sample or round orientation for background apps, cutting the granularity attackers rely on.</a:t>
            </a:r>
            <a:endParaRPr sz="950" b="0" i="0" u="none" strike="noStrike" cap="none">
              <a:solidFill>
                <a:schemeClr val="dk1"/>
              </a:solidFill>
              <a:latin typeface="Calibri"/>
              <a:ea typeface="Calibri"/>
              <a:cs typeface="Calibri"/>
              <a:sym typeface="Calibri"/>
            </a:endParaRPr>
          </a:p>
        </p:txBody>
      </p:sp>
      <p:sp>
        <p:nvSpPr>
          <p:cNvPr id="497" name="Google Shape;497;p16"/>
          <p:cNvSpPr/>
          <p:nvPr/>
        </p:nvSpPr>
        <p:spPr>
          <a:xfrm>
            <a:off x="6080760" y="1481328"/>
            <a:ext cx="2724912" cy="1444752"/>
          </a:xfrm>
          <a:prstGeom prst="roundRect">
            <a:avLst>
              <a:gd name="adj" fmla="val 506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8" name="Google Shape;498;p16" descr="preencoded.png"/>
          <p:cNvPicPr preferRelativeResize="0"/>
          <p:nvPr/>
        </p:nvPicPr>
        <p:blipFill rotWithShape="1">
          <a:blip r:embed="rId5">
            <a:alphaModFix/>
          </a:blip>
          <a:srcRect/>
          <a:stretch/>
        </p:blipFill>
        <p:spPr>
          <a:xfrm>
            <a:off x="6217920" y="1600200"/>
            <a:ext cx="256032" cy="256032"/>
          </a:xfrm>
          <a:prstGeom prst="rect">
            <a:avLst/>
          </a:prstGeom>
          <a:noFill/>
          <a:ln>
            <a:noFill/>
          </a:ln>
        </p:spPr>
      </p:pic>
      <p:sp>
        <p:nvSpPr>
          <p:cNvPr id="499" name="Google Shape;499;p16"/>
          <p:cNvSpPr/>
          <p:nvPr/>
        </p:nvSpPr>
        <p:spPr>
          <a:xfrm>
            <a:off x="6537960" y="1591056"/>
            <a:ext cx="21305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Dynamic keyboards</a:t>
            </a:r>
            <a:endParaRPr sz="1100" b="0" i="0" u="none" strike="noStrike" cap="none">
              <a:solidFill>
                <a:schemeClr val="dk1"/>
              </a:solidFill>
              <a:latin typeface="Calibri"/>
              <a:ea typeface="Calibri"/>
              <a:cs typeface="Calibri"/>
              <a:sym typeface="Calibri"/>
            </a:endParaRPr>
          </a:p>
        </p:txBody>
      </p:sp>
      <p:sp>
        <p:nvSpPr>
          <p:cNvPr id="500" name="Google Shape;500;p16"/>
          <p:cNvSpPr/>
          <p:nvPr/>
        </p:nvSpPr>
        <p:spPr>
          <a:xfrm>
            <a:off x="6217920" y="1901952"/>
            <a:ext cx="2450592"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Randomise layout, position or aspect ratio to break the stable key geometry — at some usability cost.</a:t>
            </a:r>
            <a:endParaRPr sz="950" b="0" i="0" u="none" strike="noStrike" cap="none">
              <a:solidFill>
                <a:schemeClr val="dk1"/>
              </a:solidFill>
              <a:latin typeface="Calibri"/>
              <a:ea typeface="Calibri"/>
              <a:cs typeface="Calibri"/>
              <a:sym typeface="Calibri"/>
            </a:endParaRPr>
          </a:p>
        </p:txBody>
      </p:sp>
      <p:sp>
        <p:nvSpPr>
          <p:cNvPr id="501" name="Google Shape;501;p16"/>
          <p:cNvSpPr/>
          <p:nvPr/>
        </p:nvSpPr>
        <p:spPr>
          <a:xfrm>
            <a:off x="320040" y="3035808"/>
            <a:ext cx="2724912" cy="1444752"/>
          </a:xfrm>
          <a:prstGeom prst="roundRect">
            <a:avLst>
              <a:gd name="adj" fmla="val 506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2" name="Google Shape;502;p16" descr="preencoded.png"/>
          <p:cNvPicPr preferRelativeResize="0"/>
          <p:nvPr/>
        </p:nvPicPr>
        <p:blipFill rotWithShape="1">
          <a:blip r:embed="rId6">
            <a:alphaModFix/>
          </a:blip>
          <a:srcRect/>
          <a:stretch/>
        </p:blipFill>
        <p:spPr>
          <a:xfrm>
            <a:off x="457200" y="3154680"/>
            <a:ext cx="256032" cy="256032"/>
          </a:xfrm>
          <a:prstGeom prst="rect">
            <a:avLst/>
          </a:prstGeom>
          <a:noFill/>
          <a:ln>
            <a:noFill/>
          </a:ln>
        </p:spPr>
      </p:pic>
      <p:sp>
        <p:nvSpPr>
          <p:cNvPr id="503" name="Google Shape;503;p16"/>
          <p:cNvSpPr/>
          <p:nvPr/>
        </p:nvSpPr>
        <p:spPr>
          <a:xfrm>
            <a:off x="777240" y="3145536"/>
            <a:ext cx="21305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Activity-based revocation</a:t>
            </a:r>
            <a:endParaRPr sz="1100" b="0" i="0" u="none" strike="noStrike" cap="none">
              <a:solidFill>
                <a:schemeClr val="dk1"/>
              </a:solidFill>
              <a:latin typeface="Calibri"/>
              <a:ea typeface="Calibri"/>
              <a:cs typeface="Calibri"/>
              <a:sym typeface="Calibri"/>
            </a:endParaRPr>
          </a:p>
        </p:txBody>
      </p:sp>
      <p:sp>
        <p:nvSpPr>
          <p:cNvPr id="504" name="Google Shape;504;p16"/>
          <p:cNvSpPr/>
          <p:nvPr/>
        </p:nvSpPr>
        <p:spPr>
          <a:xfrm>
            <a:off x="457200" y="3456432"/>
            <a:ext cx="2450592"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Detect the typing motion signature and temporarily suspend background sensor access during text entry.</a:t>
            </a:r>
            <a:endParaRPr sz="950" b="0" i="0" u="none" strike="noStrike" cap="none">
              <a:solidFill>
                <a:schemeClr val="dk1"/>
              </a:solidFill>
              <a:latin typeface="Calibri"/>
              <a:ea typeface="Calibri"/>
              <a:cs typeface="Calibri"/>
              <a:sym typeface="Calibri"/>
            </a:endParaRPr>
          </a:p>
        </p:txBody>
      </p:sp>
      <p:sp>
        <p:nvSpPr>
          <p:cNvPr id="505" name="Google Shape;505;p16"/>
          <p:cNvSpPr/>
          <p:nvPr/>
        </p:nvSpPr>
        <p:spPr>
          <a:xfrm>
            <a:off x="3200400" y="3035808"/>
            <a:ext cx="2724912" cy="1444752"/>
          </a:xfrm>
          <a:prstGeom prst="roundRect">
            <a:avLst>
              <a:gd name="adj" fmla="val 506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6" name="Google Shape;506;p16" descr="preencoded.png"/>
          <p:cNvPicPr preferRelativeResize="0"/>
          <p:nvPr/>
        </p:nvPicPr>
        <p:blipFill rotWithShape="1">
          <a:blip r:embed="rId7">
            <a:alphaModFix/>
          </a:blip>
          <a:srcRect/>
          <a:stretch/>
        </p:blipFill>
        <p:spPr>
          <a:xfrm>
            <a:off x="3337560" y="3154680"/>
            <a:ext cx="256032" cy="256032"/>
          </a:xfrm>
          <a:prstGeom prst="rect">
            <a:avLst/>
          </a:prstGeom>
          <a:noFill/>
          <a:ln>
            <a:noFill/>
          </a:ln>
        </p:spPr>
      </p:pic>
      <p:sp>
        <p:nvSpPr>
          <p:cNvPr id="507" name="Google Shape;507;p16"/>
          <p:cNvSpPr/>
          <p:nvPr/>
        </p:nvSpPr>
        <p:spPr>
          <a:xfrm>
            <a:off x="3657600" y="3145536"/>
            <a:ext cx="21305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Decoy Chaffing (RQ4)</a:t>
            </a:r>
            <a:endParaRPr sz="1100" b="0" i="0" u="none" strike="noStrike" cap="none">
              <a:solidFill>
                <a:schemeClr val="dk1"/>
              </a:solidFill>
              <a:latin typeface="Calibri"/>
              <a:ea typeface="Calibri"/>
              <a:cs typeface="Calibri"/>
              <a:sym typeface="Calibri"/>
            </a:endParaRPr>
          </a:p>
        </p:txBody>
      </p:sp>
      <p:sp>
        <p:nvSpPr>
          <p:cNvPr id="508" name="Google Shape;508;p16"/>
          <p:cNvSpPr/>
          <p:nvPr/>
        </p:nvSpPr>
        <p:spPr>
          <a:xfrm>
            <a:off x="3337560" y="3456432"/>
            <a:ext cx="2450592"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User actively decouples head gaze from keystrokes during typing — zero-OS-cost user-side poisoning. Collapses BackTree to ~8% Top-1.</a:t>
            </a:r>
            <a:endParaRPr sz="950" b="0" i="0" u="none" strike="noStrike" cap="none">
              <a:solidFill>
                <a:schemeClr val="dk1"/>
              </a:solidFill>
              <a:latin typeface="Calibri"/>
              <a:ea typeface="Calibri"/>
              <a:cs typeface="Calibri"/>
              <a:sym typeface="Calibri"/>
            </a:endParaRPr>
          </a:p>
        </p:txBody>
      </p:sp>
      <p:sp>
        <p:nvSpPr>
          <p:cNvPr id="509" name="Google Shape;509;p16"/>
          <p:cNvSpPr/>
          <p:nvPr/>
        </p:nvSpPr>
        <p:spPr>
          <a:xfrm>
            <a:off x="6080760" y="3035808"/>
            <a:ext cx="2724912" cy="1444752"/>
          </a:xfrm>
          <a:prstGeom prst="roundRect">
            <a:avLst>
              <a:gd name="adj" fmla="val 5063"/>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0" name="Google Shape;510;p16" descr="preencoded.png"/>
          <p:cNvPicPr preferRelativeResize="0"/>
          <p:nvPr/>
        </p:nvPicPr>
        <p:blipFill rotWithShape="1">
          <a:blip r:embed="rId8">
            <a:alphaModFix/>
          </a:blip>
          <a:srcRect/>
          <a:stretch/>
        </p:blipFill>
        <p:spPr>
          <a:xfrm>
            <a:off x="6217920" y="3154680"/>
            <a:ext cx="256032" cy="256032"/>
          </a:xfrm>
          <a:prstGeom prst="rect">
            <a:avLst/>
          </a:prstGeom>
          <a:noFill/>
          <a:ln>
            <a:noFill/>
          </a:ln>
        </p:spPr>
      </p:pic>
      <p:sp>
        <p:nvSpPr>
          <p:cNvPr id="511" name="Google Shape;511;p16"/>
          <p:cNvSpPr/>
          <p:nvPr/>
        </p:nvSpPr>
        <p:spPr>
          <a:xfrm>
            <a:off x="6537960" y="3145536"/>
            <a:ext cx="213055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1100"/>
              <a:buFont typeface="Calibri"/>
              <a:buNone/>
            </a:pPr>
            <a:r>
              <a:rPr lang="en-US" sz="1100" b="1" i="0" u="none" strike="noStrike" cap="none">
                <a:solidFill>
                  <a:srgbClr val="16202E"/>
                </a:solidFill>
                <a:latin typeface="Calibri"/>
                <a:ea typeface="Calibri"/>
                <a:cs typeface="Calibri"/>
                <a:sym typeface="Calibri"/>
              </a:rPr>
              <a:t>Foreground/bg split</a:t>
            </a:r>
            <a:endParaRPr sz="1100" b="0" i="0" u="none" strike="noStrike" cap="none">
              <a:solidFill>
                <a:schemeClr val="dk1"/>
              </a:solidFill>
              <a:latin typeface="Calibri"/>
              <a:ea typeface="Calibri"/>
              <a:cs typeface="Calibri"/>
              <a:sym typeface="Calibri"/>
            </a:endParaRPr>
          </a:p>
        </p:txBody>
      </p:sp>
      <p:sp>
        <p:nvSpPr>
          <p:cNvPr id="512" name="Google Shape;512;p16"/>
          <p:cNvSpPr/>
          <p:nvPr/>
        </p:nvSpPr>
        <p:spPr>
          <a:xfrm>
            <a:off x="6217920" y="3456432"/>
            <a:ext cx="2450592"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C6B82"/>
              </a:buClr>
              <a:buSzPts val="950"/>
              <a:buFont typeface="Calibri"/>
              <a:buNone/>
            </a:pPr>
            <a:r>
              <a:rPr lang="en-US" sz="950" b="0" i="0" u="none" strike="noStrike" cap="none">
                <a:solidFill>
                  <a:srgbClr val="5C6B82"/>
                </a:solidFill>
                <a:latin typeface="Calibri"/>
                <a:ea typeface="Calibri"/>
                <a:cs typeface="Calibri"/>
                <a:sym typeface="Calibri"/>
              </a:rPr>
              <a:t>Adjust permissions by app state so a backgrounded app loses the access a foreground one would have.</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7"/>
        <p:cNvGrpSpPr/>
        <p:nvPr/>
      </p:nvGrpSpPr>
      <p:grpSpPr>
        <a:xfrm>
          <a:off x="0" y="0"/>
          <a:ext cx="0" cy="0"/>
          <a:chOff x="0" y="0"/>
          <a:chExt cx="0" cy="0"/>
        </a:xfrm>
      </p:grpSpPr>
      <p:sp>
        <p:nvSpPr>
          <p:cNvPr id="518" name="Google Shape;518;p17"/>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 ANALYSIS</a:t>
            </a:r>
            <a:endParaRPr sz="900" b="0" i="0" u="none" strike="noStrike" cap="none" dirty="0">
              <a:solidFill>
                <a:schemeClr val="dk1"/>
              </a:solidFill>
              <a:latin typeface="Calibri"/>
              <a:ea typeface="Calibri"/>
              <a:cs typeface="Calibri"/>
              <a:sym typeface="Calibri"/>
            </a:endParaRPr>
          </a:p>
        </p:txBody>
      </p:sp>
      <p:sp>
        <p:nvSpPr>
          <p:cNvPr id="519" name="Google Shape;519;p17"/>
          <p:cNvSpPr/>
          <p:nvPr/>
        </p:nvSpPr>
        <p:spPr>
          <a:xfrm>
            <a:off x="365760" y="420624"/>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Limitations &amp; persisting threats</a:t>
            </a:r>
            <a:endParaRPr sz="2400" b="0" i="0" u="none" strike="noStrike" cap="none" dirty="0">
              <a:solidFill>
                <a:schemeClr val="dk1"/>
              </a:solidFill>
              <a:latin typeface="Calibri"/>
              <a:ea typeface="Calibri"/>
              <a:cs typeface="Calibri"/>
              <a:sym typeface="Calibri"/>
            </a:endParaRPr>
          </a:p>
        </p:txBody>
      </p:sp>
      <p:sp>
        <p:nvSpPr>
          <p:cNvPr id="521" name="Google Shape;521;p17"/>
          <p:cNvSpPr/>
          <p:nvPr/>
        </p:nvSpPr>
        <p:spPr>
          <a:xfrm>
            <a:off x="4572000" y="4895304"/>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dirty="0">
                <a:solidFill>
                  <a:srgbClr val="9DB0CC"/>
                </a:solidFill>
                <a:latin typeface="Calibri"/>
                <a:ea typeface="Calibri"/>
                <a:cs typeface="Calibri"/>
                <a:sym typeface="Calibri"/>
              </a:rPr>
              <a:t>SNOOPFINGER  ·  Lee &amp; Choi, IEEE S&amp;P 2025  ·  18</a:t>
            </a:r>
            <a:endParaRPr sz="700" b="0" i="0" u="none" strike="noStrike" cap="none" dirty="0">
              <a:solidFill>
                <a:schemeClr val="dk1"/>
              </a:solidFill>
              <a:latin typeface="Calibri"/>
              <a:ea typeface="Calibri"/>
              <a:cs typeface="Calibri"/>
              <a:sym typeface="Calibri"/>
            </a:endParaRPr>
          </a:p>
        </p:txBody>
      </p:sp>
      <p:sp>
        <p:nvSpPr>
          <p:cNvPr id="522" name="Google Shape;522;p17"/>
          <p:cNvSpPr/>
          <p:nvPr/>
        </p:nvSpPr>
        <p:spPr>
          <a:xfrm>
            <a:off x="320040" y="1115568"/>
            <a:ext cx="4187952" cy="2999232"/>
          </a:xfrm>
          <a:prstGeom prst="roundRect">
            <a:avLst>
              <a:gd name="adj" fmla="val 3049"/>
            </a:avLst>
          </a:prstGeom>
          <a:solidFill>
            <a:srgbClr val="FFF5F5"/>
          </a:solidFill>
          <a:ln w="9525" cap="flat" cmpd="sng">
            <a:solidFill>
              <a:srgbClr val="FDDED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3" name="Google Shape;523;p17" descr="preencoded.png"/>
          <p:cNvPicPr preferRelativeResize="0"/>
          <p:nvPr/>
        </p:nvPicPr>
        <p:blipFill rotWithShape="1">
          <a:blip r:embed="rId3">
            <a:alphaModFix/>
          </a:blip>
          <a:srcRect/>
          <a:stretch/>
        </p:blipFill>
        <p:spPr>
          <a:xfrm>
            <a:off x="502920" y="1207008"/>
            <a:ext cx="256032" cy="256032"/>
          </a:xfrm>
          <a:prstGeom prst="rect">
            <a:avLst/>
          </a:prstGeom>
          <a:noFill/>
          <a:ln>
            <a:noFill/>
          </a:ln>
        </p:spPr>
      </p:pic>
      <p:sp>
        <p:nvSpPr>
          <p:cNvPr id="524" name="Google Shape;524;p17"/>
          <p:cNvSpPr/>
          <p:nvPr/>
        </p:nvSpPr>
        <p:spPr>
          <a:xfrm>
            <a:off x="822960" y="1207008"/>
            <a:ext cx="35661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5484D"/>
              </a:buClr>
              <a:buSzPts val="1100"/>
              <a:buFont typeface="Calibri"/>
              <a:buNone/>
            </a:pPr>
            <a:r>
              <a:rPr lang="en-US" sz="1100" b="1" i="0" u="none" strike="noStrike" cap="none" dirty="0">
                <a:solidFill>
                  <a:srgbClr val="E5484D"/>
                </a:solidFill>
                <a:latin typeface="Calibri"/>
                <a:ea typeface="Calibri"/>
                <a:cs typeface="Calibri"/>
                <a:sym typeface="Calibri"/>
              </a:rPr>
              <a:t>Limitations (incl. reviewers)</a:t>
            </a:r>
            <a:endParaRPr sz="1100" b="0" i="0" u="none" strike="noStrike" cap="none" dirty="0">
              <a:solidFill>
                <a:schemeClr val="dk1"/>
              </a:solidFill>
              <a:latin typeface="Calibri"/>
              <a:ea typeface="Calibri"/>
              <a:cs typeface="Calibri"/>
              <a:sym typeface="Calibri"/>
            </a:endParaRPr>
          </a:p>
        </p:txBody>
      </p:sp>
      <p:sp>
        <p:nvSpPr>
          <p:cNvPr id="525" name="Google Shape;525;p17"/>
          <p:cNvSpPr/>
          <p:nvPr/>
        </p:nvSpPr>
        <p:spPr>
          <a:xfrm>
            <a:off x="502920" y="1572768"/>
            <a:ext cx="182880" cy="182880"/>
          </a:xfrm>
          <a:prstGeom prst="ellipse">
            <a:avLst/>
          </a:prstGeom>
          <a:solidFill>
            <a:srgbClr val="E5484D"/>
          </a:solidFill>
          <a:ln w="12700" cap="flat" cmpd="sng">
            <a:solidFill>
              <a:srgbClr val="E548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7"/>
          <p:cNvSpPr/>
          <p:nvPr/>
        </p:nvSpPr>
        <p:spPr>
          <a:xfrm>
            <a:off x="749808" y="1554480"/>
            <a:ext cx="36118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3333"/>
              </a:buClr>
              <a:buSzPts val="950"/>
              <a:buFont typeface="Calibri"/>
              <a:buNone/>
            </a:pPr>
            <a:r>
              <a:rPr lang="en-US" sz="950" b="0" i="0" u="none" strike="noStrike" cap="none">
                <a:solidFill>
                  <a:srgbClr val="993333"/>
                </a:solidFill>
                <a:latin typeface="Calibri"/>
                <a:ea typeface="Calibri"/>
                <a:cs typeface="Calibri"/>
                <a:sym typeface="Calibri"/>
              </a:rPr>
              <a:t>Assumes a fixed, standard QWERTY layout — no variable scaling or alternative layouts tested.</a:t>
            </a:r>
            <a:endParaRPr sz="950" b="0" i="0" u="none" strike="noStrike" cap="none">
              <a:solidFill>
                <a:schemeClr val="dk1"/>
              </a:solidFill>
              <a:latin typeface="Calibri"/>
              <a:ea typeface="Calibri"/>
              <a:cs typeface="Calibri"/>
              <a:sym typeface="Calibri"/>
            </a:endParaRPr>
          </a:p>
        </p:txBody>
      </p:sp>
      <p:sp>
        <p:nvSpPr>
          <p:cNvPr id="527" name="Google Shape;527;p17"/>
          <p:cNvSpPr/>
          <p:nvPr/>
        </p:nvSpPr>
        <p:spPr>
          <a:xfrm>
            <a:off x="502920" y="2048256"/>
            <a:ext cx="182880" cy="182880"/>
          </a:xfrm>
          <a:prstGeom prst="ellipse">
            <a:avLst/>
          </a:prstGeom>
          <a:solidFill>
            <a:srgbClr val="E5484D"/>
          </a:solidFill>
          <a:ln w="12700" cap="flat" cmpd="sng">
            <a:solidFill>
              <a:srgbClr val="E548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7"/>
          <p:cNvSpPr/>
          <p:nvPr/>
        </p:nvSpPr>
        <p:spPr>
          <a:xfrm>
            <a:off x="749808" y="2029968"/>
            <a:ext cx="36118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3333"/>
              </a:buClr>
              <a:buSzPts val="950"/>
              <a:buFont typeface="Calibri"/>
              <a:buNone/>
            </a:pPr>
            <a:r>
              <a:rPr lang="en-US" sz="950" b="0" i="0" u="none" strike="noStrike" cap="none">
                <a:solidFill>
                  <a:srgbClr val="993333"/>
                </a:solidFill>
                <a:latin typeface="Calibri"/>
                <a:ea typeface="Calibri"/>
                <a:cs typeface="Calibri"/>
                <a:sym typeface="Calibri"/>
              </a:rPr>
              <a:t>Assumes consistent head movement &amp; stable posture; standing accuracy already drops sharply.</a:t>
            </a:r>
            <a:endParaRPr sz="950" b="0" i="0" u="none" strike="noStrike" cap="none">
              <a:solidFill>
                <a:schemeClr val="dk1"/>
              </a:solidFill>
              <a:latin typeface="Calibri"/>
              <a:ea typeface="Calibri"/>
              <a:cs typeface="Calibri"/>
              <a:sym typeface="Calibri"/>
            </a:endParaRPr>
          </a:p>
        </p:txBody>
      </p:sp>
      <p:sp>
        <p:nvSpPr>
          <p:cNvPr id="529" name="Google Shape;529;p17"/>
          <p:cNvSpPr/>
          <p:nvPr/>
        </p:nvSpPr>
        <p:spPr>
          <a:xfrm>
            <a:off x="502920" y="2523744"/>
            <a:ext cx="182880" cy="182880"/>
          </a:xfrm>
          <a:prstGeom prst="ellipse">
            <a:avLst/>
          </a:prstGeom>
          <a:solidFill>
            <a:srgbClr val="E5484D"/>
          </a:solidFill>
          <a:ln w="12700" cap="flat" cmpd="sng">
            <a:solidFill>
              <a:srgbClr val="E548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7"/>
          <p:cNvSpPr/>
          <p:nvPr/>
        </p:nvSpPr>
        <p:spPr>
          <a:xfrm>
            <a:off x="749808" y="2505456"/>
            <a:ext cx="36118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3333"/>
              </a:buClr>
              <a:buSzPts val="950"/>
              <a:buFont typeface="Calibri"/>
              <a:buNone/>
            </a:pPr>
            <a:r>
              <a:rPr lang="en-US" sz="950" b="0" i="0" u="none" strike="noStrike" cap="none">
                <a:solidFill>
                  <a:srgbClr val="993333"/>
                </a:solidFill>
                <a:latin typeface="Calibri"/>
                <a:ea typeface="Calibri"/>
                <a:cs typeface="Calibri"/>
                <a:sym typeface="Calibri"/>
              </a:rPr>
              <a:t>No-Enter-key case is weak (Top-1 as low as 1–6% for longer words).</a:t>
            </a:r>
            <a:endParaRPr sz="950" b="0" i="0" u="none" strike="noStrike" cap="none">
              <a:solidFill>
                <a:schemeClr val="dk1"/>
              </a:solidFill>
              <a:latin typeface="Calibri"/>
              <a:ea typeface="Calibri"/>
              <a:cs typeface="Calibri"/>
              <a:sym typeface="Calibri"/>
            </a:endParaRPr>
          </a:p>
        </p:txBody>
      </p:sp>
      <p:sp>
        <p:nvSpPr>
          <p:cNvPr id="531" name="Google Shape;531;p17"/>
          <p:cNvSpPr/>
          <p:nvPr/>
        </p:nvSpPr>
        <p:spPr>
          <a:xfrm>
            <a:off x="502920" y="2999232"/>
            <a:ext cx="182880" cy="182880"/>
          </a:xfrm>
          <a:prstGeom prst="ellipse">
            <a:avLst/>
          </a:prstGeom>
          <a:solidFill>
            <a:srgbClr val="E5484D"/>
          </a:solidFill>
          <a:ln w="12700" cap="flat" cmpd="sng">
            <a:solidFill>
              <a:srgbClr val="E548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7"/>
          <p:cNvSpPr/>
          <p:nvPr/>
        </p:nvSpPr>
        <p:spPr>
          <a:xfrm>
            <a:off x="749808" y="2980944"/>
            <a:ext cx="36118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3333"/>
              </a:buClr>
              <a:buSzPts val="950"/>
              <a:buFont typeface="Calibri"/>
              <a:buNone/>
            </a:pPr>
            <a:r>
              <a:rPr lang="en-US" sz="950" b="0" i="0" u="none" strike="noStrike" cap="none">
                <a:solidFill>
                  <a:srgbClr val="993333"/>
                </a:solidFill>
                <a:latin typeface="Calibri"/>
                <a:ea typeface="Calibri"/>
                <a:cs typeface="Calibri"/>
                <a:sym typeface="Calibri"/>
              </a:rPr>
              <a:t>Users aware of the attack could suppress head motion and rely on eyes alone.</a:t>
            </a:r>
            <a:endParaRPr sz="950" b="0" i="0" u="none" strike="noStrike" cap="none">
              <a:solidFill>
                <a:schemeClr val="dk1"/>
              </a:solidFill>
              <a:latin typeface="Calibri"/>
              <a:ea typeface="Calibri"/>
              <a:cs typeface="Calibri"/>
              <a:sym typeface="Calibri"/>
            </a:endParaRPr>
          </a:p>
        </p:txBody>
      </p:sp>
      <p:sp>
        <p:nvSpPr>
          <p:cNvPr id="533" name="Google Shape;533;p17"/>
          <p:cNvSpPr/>
          <p:nvPr/>
        </p:nvSpPr>
        <p:spPr>
          <a:xfrm>
            <a:off x="502920" y="3474720"/>
            <a:ext cx="182880" cy="182880"/>
          </a:xfrm>
          <a:prstGeom prst="ellipse">
            <a:avLst/>
          </a:prstGeom>
          <a:solidFill>
            <a:srgbClr val="E5484D"/>
          </a:solidFill>
          <a:ln w="12700" cap="flat" cmpd="sng">
            <a:solidFill>
              <a:srgbClr val="E5484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7"/>
          <p:cNvSpPr/>
          <p:nvPr/>
        </p:nvSpPr>
        <p:spPr>
          <a:xfrm>
            <a:off x="749808" y="3456432"/>
            <a:ext cx="36118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93333"/>
              </a:buClr>
              <a:buSzPts val="950"/>
              <a:buFont typeface="Calibri"/>
              <a:buNone/>
            </a:pPr>
            <a:r>
              <a:rPr lang="en-US" sz="950" b="0" i="0" u="none" strike="noStrike" cap="none">
                <a:solidFill>
                  <a:srgbClr val="993333"/>
                </a:solidFill>
                <a:latin typeface="Calibri"/>
                <a:ea typeface="Calibri"/>
                <a:cs typeface="Calibri"/>
                <a:sym typeface="Calibri"/>
              </a:rPr>
              <a:t>Focuses on words/sentences, not passwords (rarer to type, but higher value).</a:t>
            </a:r>
            <a:endParaRPr sz="950" b="0" i="0" u="none" strike="noStrike" cap="none">
              <a:solidFill>
                <a:schemeClr val="dk1"/>
              </a:solidFill>
              <a:latin typeface="Calibri"/>
              <a:ea typeface="Calibri"/>
              <a:cs typeface="Calibri"/>
              <a:sym typeface="Calibri"/>
            </a:endParaRPr>
          </a:p>
        </p:txBody>
      </p:sp>
      <p:sp>
        <p:nvSpPr>
          <p:cNvPr id="535" name="Google Shape;535;p17"/>
          <p:cNvSpPr/>
          <p:nvPr/>
        </p:nvSpPr>
        <p:spPr>
          <a:xfrm>
            <a:off x="4636008" y="1115568"/>
            <a:ext cx="4187952" cy="2999232"/>
          </a:xfrm>
          <a:prstGeom prst="roundRect">
            <a:avLst>
              <a:gd name="adj" fmla="val 3049"/>
            </a:avLst>
          </a:prstGeom>
          <a:solidFill>
            <a:srgbClr val="F0FFF4"/>
          </a:solidFill>
          <a:ln w="9525" cap="flat" cmpd="sng">
            <a:solidFill>
              <a:srgbClr val="C6F6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6" name="Google Shape;536;p17" descr="preencoded.png"/>
          <p:cNvPicPr preferRelativeResize="0"/>
          <p:nvPr/>
        </p:nvPicPr>
        <p:blipFill rotWithShape="1">
          <a:blip r:embed="rId4">
            <a:alphaModFix/>
          </a:blip>
          <a:srcRect/>
          <a:stretch/>
        </p:blipFill>
        <p:spPr>
          <a:xfrm>
            <a:off x="4818888" y="1207008"/>
            <a:ext cx="256032" cy="256032"/>
          </a:xfrm>
          <a:prstGeom prst="rect">
            <a:avLst/>
          </a:prstGeom>
          <a:noFill/>
          <a:ln>
            <a:noFill/>
          </a:ln>
        </p:spPr>
      </p:pic>
      <p:sp>
        <p:nvSpPr>
          <p:cNvPr id="537" name="Google Shape;537;p17"/>
          <p:cNvSpPr/>
          <p:nvPr/>
        </p:nvSpPr>
        <p:spPr>
          <a:xfrm>
            <a:off x="5138928" y="1207008"/>
            <a:ext cx="35661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FA66A"/>
              </a:buClr>
              <a:buSzPts val="1100"/>
              <a:buFont typeface="Calibri"/>
              <a:buNone/>
            </a:pPr>
            <a:r>
              <a:rPr lang="en-US" sz="1100" b="1" i="0" u="none" strike="noStrike" cap="none">
                <a:solidFill>
                  <a:srgbClr val="3FA66A"/>
                </a:solidFill>
                <a:latin typeface="Calibri"/>
                <a:ea typeface="Calibri"/>
                <a:cs typeface="Calibri"/>
                <a:sym typeface="Calibri"/>
              </a:rPr>
              <a:t>Persisting Threats</a:t>
            </a:r>
            <a:endParaRPr sz="1100" b="0" i="0" u="none" strike="noStrike" cap="none">
              <a:solidFill>
                <a:schemeClr val="dk1"/>
              </a:solidFill>
              <a:latin typeface="Calibri"/>
              <a:ea typeface="Calibri"/>
              <a:cs typeface="Calibri"/>
              <a:sym typeface="Calibri"/>
            </a:endParaRPr>
          </a:p>
        </p:txBody>
      </p:sp>
      <p:sp>
        <p:nvSpPr>
          <p:cNvPr id="538" name="Google Shape;538;p17"/>
          <p:cNvSpPr/>
          <p:nvPr/>
        </p:nvSpPr>
        <p:spPr>
          <a:xfrm>
            <a:off x="4818888" y="1572768"/>
            <a:ext cx="182880" cy="182880"/>
          </a:xfrm>
          <a:prstGeom prst="ellipse">
            <a:avLst/>
          </a:prstGeom>
          <a:solidFill>
            <a:srgbClr val="3FA66A"/>
          </a:solidFill>
          <a:ln w="12700" cap="flat" cmpd="sng">
            <a:solidFill>
              <a:srgbClr val="3FA6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7"/>
          <p:cNvSpPr/>
          <p:nvPr/>
        </p:nvSpPr>
        <p:spPr>
          <a:xfrm>
            <a:off x="5065776" y="1554480"/>
            <a:ext cx="36118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3A"/>
              </a:buClr>
              <a:buSzPts val="950"/>
              <a:buFont typeface="Calibri"/>
              <a:buNone/>
            </a:pPr>
            <a:r>
              <a:rPr lang="en-US" sz="950" b="0" i="0" u="none" strike="noStrike" cap="none">
                <a:solidFill>
                  <a:srgbClr val="2C5F3A"/>
                </a:solidFill>
                <a:latin typeface="Calibri"/>
                <a:ea typeface="Calibri"/>
                <a:cs typeface="Calibri"/>
                <a:sym typeface="Calibri"/>
              </a:rPr>
              <a:t>Training-free design makes it cheap to deploy at scale — the reviewers' key concern.</a:t>
            </a:r>
            <a:endParaRPr sz="950" b="0" i="0" u="none" strike="noStrike" cap="none">
              <a:solidFill>
                <a:schemeClr val="dk1"/>
              </a:solidFill>
              <a:latin typeface="Calibri"/>
              <a:ea typeface="Calibri"/>
              <a:cs typeface="Calibri"/>
              <a:sym typeface="Calibri"/>
            </a:endParaRPr>
          </a:p>
        </p:txBody>
      </p:sp>
      <p:sp>
        <p:nvSpPr>
          <p:cNvPr id="540" name="Google Shape;540;p17"/>
          <p:cNvSpPr/>
          <p:nvPr/>
        </p:nvSpPr>
        <p:spPr>
          <a:xfrm>
            <a:off x="4818888" y="2048256"/>
            <a:ext cx="182880" cy="182880"/>
          </a:xfrm>
          <a:prstGeom prst="ellipse">
            <a:avLst/>
          </a:prstGeom>
          <a:solidFill>
            <a:srgbClr val="3FA66A"/>
          </a:solidFill>
          <a:ln w="12700" cap="flat" cmpd="sng">
            <a:solidFill>
              <a:srgbClr val="3FA6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7"/>
          <p:cNvSpPr/>
          <p:nvPr/>
        </p:nvSpPr>
        <p:spPr>
          <a:xfrm>
            <a:off x="5065776" y="2029968"/>
            <a:ext cx="36118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3A"/>
              </a:buClr>
              <a:buSzPts val="950"/>
              <a:buFont typeface="Calibri"/>
              <a:buNone/>
            </a:pPr>
            <a:r>
              <a:rPr lang="en-US" sz="950" b="0" i="0" u="none" strike="noStrike" cap="none">
                <a:solidFill>
                  <a:srgbClr val="2C5F3A"/>
                </a:solidFill>
                <a:latin typeface="Calibri"/>
                <a:ea typeface="Calibri"/>
                <a:cs typeface="Calibri"/>
                <a:sym typeface="Calibri"/>
              </a:rPr>
              <a:t>Exploits a permission-model assumption, not a patchable bug — the root cause is architectural.</a:t>
            </a:r>
            <a:endParaRPr sz="950" b="0" i="0" u="none" strike="noStrike" cap="none">
              <a:solidFill>
                <a:schemeClr val="dk1"/>
              </a:solidFill>
              <a:latin typeface="Calibri"/>
              <a:ea typeface="Calibri"/>
              <a:cs typeface="Calibri"/>
              <a:sym typeface="Calibri"/>
            </a:endParaRPr>
          </a:p>
        </p:txBody>
      </p:sp>
      <p:sp>
        <p:nvSpPr>
          <p:cNvPr id="542" name="Google Shape;542;p17"/>
          <p:cNvSpPr/>
          <p:nvPr/>
        </p:nvSpPr>
        <p:spPr>
          <a:xfrm>
            <a:off x="4818888" y="2523744"/>
            <a:ext cx="182880" cy="182880"/>
          </a:xfrm>
          <a:prstGeom prst="ellipse">
            <a:avLst/>
          </a:prstGeom>
          <a:solidFill>
            <a:srgbClr val="3FA66A"/>
          </a:solidFill>
          <a:ln w="12700" cap="flat" cmpd="sng">
            <a:solidFill>
              <a:srgbClr val="3FA6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7"/>
          <p:cNvSpPr/>
          <p:nvPr/>
        </p:nvSpPr>
        <p:spPr>
          <a:xfrm>
            <a:off x="5065776" y="2505456"/>
            <a:ext cx="36118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3A"/>
              </a:buClr>
              <a:buSzPts val="950"/>
              <a:buFont typeface="Calibri"/>
              <a:buNone/>
            </a:pPr>
            <a:r>
              <a:rPr lang="en-US" sz="950" b="0" i="0" u="none" strike="noStrike" cap="none">
                <a:solidFill>
                  <a:srgbClr val="2C5F3A"/>
                </a:solidFill>
                <a:latin typeface="Calibri"/>
                <a:ea typeface="Calibri"/>
                <a:cs typeface="Calibri"/>
                <a:sym typeface="Calibri"/>
              </a:rPr>
              <a:t>Relative-geometry insight (BackTree) is layout-agnostic in principle; portable to other keyboards.</a:t>
            </a:r>
            <a:endParaRPr sz="950" b="0" i="0" u="none" strike="noStrike" cap="none">
              <a:solidFill>
                <a:schemeClr val="dk1"/>
              </a:solidFill>
              <a:latin typeface="Calibri"/>
              <a:ea typeface="Calibri"/>
              <a:cs typeface="Calibri"/>
              <a:sym typeface="Calibri"/>
            </a:endParaRPr>
          </a:p>
        </p:txBody>
      </p:sp>
      <p:sp>
        <p:nvSpPr>
          <p:cNvPr id="544" name="Google Shape;544;p17"/>
          <p:cNvSpPr/>
          <p:nvPr/>
        </p:nvSpPr>
        <p:spPr>
          <a:xfrm>
            <a:off x="4818888" y="2999232"/>
            <a:ext cx="182880" cy="182880"/>
          </a:xfrm>
          <a:prstGeom prst="ellipse">
            <a:avLst/>
          </a:prstGeom>
          <a:solidFill>
            <a:srgbClr val="3FA66A"/>
          </a:solidFill>
          <a:ln w="12700" cap="flat" cmpd="sng">
            <a:solidFill>
              <a:srgbClr val="3FA6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7"/>
          <p:cNvSpPr/>
          <p:nvPr/>
        </p:nvSpPr>
        <p:spPr>
          <a:xfrm>
            <a:off x="5065776" y="2980944"/>
            <a:ext cx="361188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C5F3A"/>
              </a:buClr>
              <a:buSzPts val="950"/>
              <a:buFont typeface="Calibri"/>
              <a:buNone/>
            </a:pPr>
            <a:r>
              <a:rPr lang="en-US" sz="950" b="0" i="0" u="none" strike="noStrike" cap="none">
                <a:solidFill>
                  <a:srgbClr val="2C5F3A"/>
                </a:solidFill>
                <a:latin typeface="Calibri"/>
                <a:ea typeface="Calibri"/>
                <a:cs typeface="Calibri"/>
                <a:sym typeface="Calibri"/>
              </a:rPr>
              <a:t>Recognised by S&amp;P 2025: impactful vulnerability, new research direction.</a:t>
            </a:r>
            <a:endParaRPr sz="950" b="0" i="0" u="none" strike="noStrike" cap="none">
              <a:solidFill>
                <a:schemeClr val="dk1"/>
              </a:solidFill>
              <a:latin typeface="Calibri"/>
              <a:ea typeface="Calibri"/>
              <a:cs typeface="Calibri"/>
              <a:sym typeface="Calibri"/>
            </a:endParaRPr>
          </a:p>
        </p:txBody>
      </p:sp>
      <p:sp>
        <p:nvSpPr>
          <p:cNvPr id="546" name="Google Shape;546;p17"/>
          <p:cNvSpPr/>
          <p:nvPr/>
        </p:nvSpPr>
        <p:spPr>
          <a:xfrm>
            <a:off x="320040" y="4224528"/>
            <a:ext cx="8503920" cy="658368"/>
          </a:xfrm>
          <a:prstGeom prst="roundRect">
            <a:avLst>
              <a:gd name="adj" fmla="val 11111"/>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7"/>
          <p:cNvSpPr/>
          <p:nvPr/>
        </p:nvSpPr>
        <p:spPr>
          <a:xfrm>
            <a:off x="502920" y="4297680"/>
            <a:ext cx="10058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A623"/>
              </a:buClr>
              <a:buSzPts val="1000"/>
              <a:buFont typeface="Calibri"/>
              <a:buNone/>
            </a:pPr>
            <a:r>
              <a:rPr lang="en-US" sz="1000" b="1" dirty="0">
                <a:solidFill>
                  <a:srgbClr val="F5A623"/>
                </a:solidFill>
                <a:latin typeface="Calibri"/>
                <a:ea typeface="Calibri"/>
                <a:cs typeface="Calibri"/>
                <a:sym typeface="Calibri"/>
              </a:rPr>
              <a:t>Our</a:t>
            </a:r>
            <a:r>
              <a:rPr lang="en-US" sz="1000" b="1" i="0" u="none" strike="noStrike" cap="none" dirty="0">
                <a:solidFill>
                  <a:srgbClr val="F5A623"/>
                </a:solidFill>
                <a:latin typeface="Calibri"/>
                <a:ea typeface="Calibri"/>
                <a:cs typeface="Calibri"/>
                <a:sym typeface="Calibri"/>
              </a:rPr>
              <a:t> conclusion: </a:t>
            </a:r>
            <a:endParaRPr sz="1000" b="0" i="0" u="none" strike="noStrike" cap="none" dirty="0">
              <a:solidFill>
                <a:schemeClr val="dk1"/>
              </a:solidFill>
              <a:latin typeface="Calibri"/>
              <a:ea typeface="Calibri"/>
              <a:cs typeface="Calibri"/>
              <a:sym typeface="Calibri"/>
            </a:endParaRPr>
          </a:p>
        </p:txBody>
      </p:sp>
      <p:sp>
        <p:nvSpPr>
          <p:cNvPr id="548" name="Google Shape;548;p17"/>
          <p:cNvSpPr/>
          <p:nvPr/>
        </p:nvSpPr>
        <p:spPr>
          <a:xfrm>
            <a:off x="1508760" y="4297680"/>
            <a:ext cx="717804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EEF7"/>
              </a:buClr>
              <a:buSzPts val="1000"/>
              <a:buFont typeface="Calibri"/>
              <a:buNone/>
            </a:pPr>
            <a:r>
              <a:rPr lang="en-US" sz="1000" b="0" i="0" u="none" strike="noStrike" cap="none">
                <a:solidFill>
                  <a:srgbClr val="E8EEF7"/>
                </a:solidFill>
                <a:latin typeface="Calibri"/>
                <a:ea typeface="Calibri"/>
                <a:cs typeface="Calibri"/>
                <a:sym typeface="Calibri"/>
              </a:rPr>
              <a:t>narrow conditions, but a low-cost, high-impact privacy risk that should reshape sensor permission models in all AR/VR platforms.</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Shape 611"/>
        <p:cNvGrpSpPr/>
        <p:nvPr/>
      </p:nvGrpSpPr>
      <p:grpSpPr>
        <a:xfrm>
          <a:off x="0" y="0"/>
          <a:ext cx="0" cy="0"/>
          <a:chOff x="0" y="0"/>
          <a:chExt cx="0" cy="0"/>
        </a:xfrm>
      </p:grpSpPr>
      <p:sp>
        <p:nvSpPr>
          <p:cNvPr id="612" name="Google Shape;612;p19"/>
          <p:cNvSpPr/>
          <p:nvPr/>
        </p:nvSpPr>
        <p:spPr>
          <a:xfrm>
            <a:off x="7863840" y="182880"/>
            <a:ext cx="128016" cy="128016"/>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19"/>
          <p:cNvSpPr/>
          <p:nvPr/>
        </p:nvSpPr>
        <p:spPr>
          <a:xfrm>
            <a:off x="8229600" y="320040"/>
            <a:ext cx="91440" cy="91440"/>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9"/>
          <p:cNvSpPr/>
          <p:nvPr/>
        </p:nvSpPr>
        <p:spPr>
          <a:xfrm>
            <a:off x="8503920" y="164592"/>
            <a:ext cx="73152" cy="73152"/>
          </a:xfrm>
          <a:prstGeom prst="ellipse">
            <a:avLst/>
          </a:prstGeom>
          <a:solidFill>
            <a:srgbClr val="F5A623">
              <a:alpha val="45098"/>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9"/>
          <p:cNvSpPr/>
          <p:nvPr/>
        </p:nvSpPr>
        <p:spPr>
          <a:xfrm>
            <a:off x="365760" y="292608"/>
            <a:ext cx="548640" cy="548640"/>
          </a:xfrm>
          <a:prstGeom prst="ellipse">
            <a:avLst/>
          </a:prstGeom>
          <a:solidFill>
            <a:srgbClr val="16202E"/>
          </a:solidFill>
          <a:ln w="1905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6" name="Google Shape;616;p19" descr="preencoded.png"/>
          <p:cNvPicPr preferRelativeResize="0"/>
          <p:nvPr/>
        </p:nvPicPr>
        <p:blipFill rotWithShape="1">
          <a:blip r:embed="rId3">
            <a:alphaModFix/>
          </a:blip>
          <a:srcRect/>
          <a:stretch/>
        </p:blipFill>
        <p:spPr>
          <a:xfrm>
            <a:off x="502920" y="429768"/>
            <a:ext cx="274320" cy="274320"/>
          </a:xfrm>
          <a:prstGeom prst="rect">
            <a:avLst/>
          </a:prstGeom>
          <a:solidFill>
            <a:schemeClr val="bg1"/>
          </a:solidFill>
          <a:ln>
            <a:noFill/>
          </a:ln>
        </p:spPr>
      </p:pic>
      <p:sp>
        <p:nvSpPr>
          <p:cNvPr id="617" name="Google Shape;617;p19"/>
          <p:cNvSpPr/>
          <p:nvPr/>
        </p:nvSpPr>
        <p:spPr>
          <a:xfrm>
            <a:off x="365760" y="960120"/>
            <a:ext cx="841248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4200"/>
              <a:buFont typeface="Calibri"/>
              <a:buNone/>
            </a:pPr>
            <a:r>
              <a:rPr lang="en-US" sz="4200" b="1" i="0" u="none" strike="noStrike" cap="none">
                <a:solidFill>
                  <a:srgbClr val="FFFFFF"/>
                </a:solidFill>
                <a:latin typeface="Calibri"/>
                <a:ea typeface="Calibri"/>
                <a:cs typeface="Calibri"/>
                <a:sym typeface="Calibri"/>
              </a:rPr>
              <a:t>Takeaways</a:t>
            </a:r>
            <a:endParaRPr sz="4200" b="0" i="0" u="none" strike="noStrike" cap="none">
              <a:solidFill>
                <a:schemeClr val="dk1"/>
              </a:solidFill>
              <a:latin typeface="Calibri"/>
              <a:ea typeface="Calibri"/>
              <a:cs typeface="Calibri"/>
              <a:sym typeface="Calibri"/>
            </a:endParaRPr>
          </a:p>
        </p:txBody>
      </p:sp>
      <p:sp>
        <p:nvSpPr>
          <p:cNvPr id="618" name="Google Shape;618;p19"/>
          <p:cNvSpPr/>
          <p:nvPr/>
        </p:nvSpPr>
        <p:spPr>
          <a:xfrm>
            <a:off x="320040" y="1719072"/>
            <a:ext cx="347472" cy="347472"/>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9"/>
          <p:cNvSpPr/>
          <p:nvPr/>
        </p:nvSpPr>
        <p:spPr>
          <a:xfrm>
            <a:off x="320040" y="1719072"/>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1200"/>
              <a:buFont typeface="Calibri"/>
              <a:buNone/>
            </a:pPr>
            <a:r>
              <a:rPr lang="en-US" sz="1200" b="1" i="0" u="none" strike="noStrike" cap="none">
                <a:solidFill>
                  <a:srgbClr val="0E1726"/>
                </a:solidFill>
                <a:latin typeface="Calibri"/>
                <a:ea typeface="Calibri"/>
                <a:cs typeface="Calibri"/>
                <a:sym typeface="Calibri"/>
              </a:rPr>
              <a:t>1</a:t>
            </a:r>
            <a:endParaRPr sz="1200" b="0" i="0" u="none" strike="noStrike" cap="none">
              <a:solidFill>
                <a:schemeClr val="dk1"/>
              </a:solidFill>
              <a:latin typeface="Calibri"/>
              <a:ea typeface="Calibri"/>
              <a:cs typeface="Calibri"/>
              <a:sym typeface="Calibri"/>
            </a:endParaRPr>
          </a:p>
        </p:txBody>
      </p:sp>
      <p:sp>
        <p:nvSpPr>
          <p:cNvPr id="620" name="Google Shape;620;p19"/>
          <p:cNvSpPr/>
          <p:nvPr/>
        </p:nvSpPr>
        <p:spPr>
          <a:xfrm>
            <a:off x="786384" y="1737360"/>
            <a:ext cx="82296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Zero-permission data is not harmless.  </a:t>
            </a:r>
            <a:endParaRPr sz="1150" b="0" i="0" u="none" strike="noStrike" cap="none">
              <a:solidFill>
                <a:schemeClr val="dk1"/>
              </a:solidFill>
              <a:latin typeface="Calibri"/>
              <a:ea typeface="Calibri"/>
              <a:cs typeface="Calibri"/>
              <a:sym typeface="Calibri"/>
            </a:endParaRPr>
          </a:p>
        </p:txBody>
      </p:sp>
      <p:sp>
        <p:nvSpPr>
          <p:cNvPr id="621" name="Google Shape;621;p19"/>
          <p:cNvSpPr/>
          <p:nvPr/>
        </p:nvSpPr>
        <p:spPr>
          <a:xfrm>
            <a:off x="786384" y="1956816"/>
            <a:ext cx="8046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50"/>
              <a:buFont typeface="Calibri"/>
              <a:buNone/>
            </a:pPr>
            <a:r>
              <a:rPr lang="en-US" sz="950" b="0" i="0" u="none" strike="noStrike" cap="none">
                <a:solidFill>
                  <a:srgbClr val="9DB0CC"/>
                </a:solidFill>
                <a:latin typeface="Calibri"/>
                <a:ea typeface="Calibri"/>
                <a:cs typeface="Calibri"/>
                <a:sym typeface="Calibri"/>
              </a:rPr>
              <a:t>Head orientation, deemed non-sensitive for rendering, is enough to reconstruct typed text.</a:t>
            </a:r>
            <a:endParaRPr sz="950" b="0" i="0" u="none" strike="noStrike" cap="none">
              <a:solidFill>
                <a:schemeClr val="dk1"/>
              </a:solidFill>
              <a:latin typeface="Calibri"/>
              <a:ea typeface="Calibri"/>
              <a:cs typeface="Calibri"/>
              <a:sym typeface="Calibri"/>
            </a:endParaRPr>
          </a:p>
        </p:txBody>
      </p:sp>
      <p:sp>
        <p:nvSpPr>
          <p:cNvPr id="622" name="Google Shape;622;p19"/>
          <p:cNvSpPr/>
          <p:nvPr/>
        </p:nvSpPr>
        <p:spPr>
          <a:xfrm>
            <a:off x="320040" y="2340864"/>
            <a:ext cx="347472" cy="347472"/>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9"/>
          <p:cNvSpPr/>
          <p:nvPr/>
        </p:nvSpPr>
        <p:spPr>
          <a:xfrm>
            <a:off x="320040" y="2340864"/>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1200"/>
              <a:buFont typeface="Calibri"/>
              <a:buNone/>
            </a:pPr>
            <a:r>
              <a:rPr lang="en-US" sz="1200" b="1" i="0" u="none" strike="noStrike" cap="none">
                <a:solidFill>
                  <a:srgbClr val="0E1726"/>
                </a:solidFill>
                <a:latin typeface="Calibri"/>
                <a:ea typeface="Calibri"/>
                <a:cs typeface="Calibri"/>
                <a:sym typeface="Calibri"/>
              </a:rPr>
              <a:t>2</a:t>
            </a:r>
            <a:endParaRPr sz="1200" b="0" i="0" u="none" strike="noStrike" cap="none">
              <a:solidFill>
                <a:schemeClr val="dk1"/>
              </a:solidFill>
              <a:latin typeface="Calibri"/>
              <a:ea typeface="Calibri"/>
              <a:cs typeface="Calibri"/>
              <a:sym typeface="Calibri"/>
            </a:endParaRPr>
          </a:p>
        </p:txBody>
      </p:sp>
      <p:sp>
        <p:nvSpPr>
          <p:cNvPr id="624" name="Google Shape;624;p19"/>
          <p:cNvSpPr/>
          <p:nvPr/>
        </p:nvSpPr>
        <p:spPr>
          <a:xfrm>
            <a:off x="786384" y="2359152"/>
            <a:ext cx="82296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Cross-modality, training-free.  </a:t>
            </a:r>
            <a:endParaRPr sz="1150" b="0" i="0" u="none" strike="noStrike" cap="none">
              <a:solidFill>
                <a:schemeClr val="dk1"/>
              </a:solidFill>
              <a:latin typeface="Calibri"/>
              <a:ea typeface="Calibri"/>
              <a:cs typeface="Calibri"/>
              <a:sym typeface="Calibri"/>
            </a:endParaRPr>
          </a:p>
        </p:txBody>
      </p:sp>
      <p:sp>
        <p:nvSpPr>
          <p:cNvPr id="625" name="Google Shape;625;p19"/>
          <p:cNvSpPr/>
          <p:nvPr/>
        </p:nvSpPr>
        <p:spPr>
          <a:xfrm>
            <a:off x="786384" y="2578608"/>
            <a:ext cx="8046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50"/>
              <a:buFont typeface="Calibri"/>
              <a:buNone/>
            </a:pPr>
            <a:r>
              <a:rPr lang="en-US" sz="950" b="0" i="0" u="none" strike="noStrike" cap="none">
                <a:solidFill>
                  <a:srgbClr val="9DB0CC"/>
                </a:solidFill>
                <a:latin typeface="Calibri"/>
                <a:ea typeface="Calibri"/>
                <a:cs typeface="Calibri"/>
                <a:sym typeface="Calibri"/>
              </a:rPr>
              <a:t>Head motion → hand-typed input, with only a self-built keyboard reference — cheap and scalable.</a:t>
            </a:r>
            <a:endParaRPr sz="950" b="0" i="0" u="none" strike="noStrike" cap="none">
              <a:solidFill>
                <a:schemeClr val="dk1"/>
              </a:solidFill>
              <a:latin typeface="Calibri"/>
              <a:ea typeface="Calibri"/>
              <a:cs typeface="Calibri"/>
              <a:sym typeface="Calibri"/>
            </a:endParaRPr>
          </a:p>
        </p:txBody>
      </p:sp>
      <p:sp>
        <p:nvSpPr>
          <p:cNvPr id="626" name="Google Shape;626;p19"/>
          <p:cNvSpPr/>
          <p:nvPr/>
        </p:nvSpPr>
        <p:spPr>
          <a:xfrm>
            <a:off x="320040" y="2962656"/>
            <a:ext cx="347472" cy="347472"/>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9"/>
          <p:cNvSpPr/>
          <p:nvPr/>
        </p:nvSpPr>
        <p:spPr>
          <a:xfrm>
            <a:off x="320040" y="2962656"/>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1200"/>
              <a:buFont typeface="Calibri"/>
              <a:buNone/>
            </a:pPr>
            <a:r>
              <a:rPr lang="en-US" sz="1200" b="1" i="0" u="none" strike="noStrike" cap="none">
                <a:solidFill>
                  <a:srgbClr val="0E1726"/>
                </a:solidFill>
                <a:latin typeface="Calibri"/>
                <a:ea typeface="Calibri"/>
                <a:cs typeface="Calibri"/>
                <a:sym typeface="Calibri"/>
              </a:rPr>
              <a:t>3</a:t>
            </a:r>
            <a:endParaRPr sz="1200" b="0" i="0" u="none" strike="noStrike" cap="none">
              <a:solidFill>
                <a:schemeClr val="dk1"/>
              </a:solidFill>
              <a:latin typeface="Calibri"/>
              <a:ea typeface="Calibri"/>
              <a:cs typeface="Calibri"/>
              <a:sym typeface="Calibri"/>
            </a:endParaRPr>
          </a:p>
        </p:txBody>
      </p:sp>
      <p:sp>
        <p:nvSpPr>
          <p:cNvPr id="628" name="Google Shape;628;p19"/>
          <p:cNvSpPr/>
          <p:nvPr/>
        </p:nvSpPr>
        <p:spPr>
          <a:xfrm>
            <a:off x="786384" y="2980944"/>
            <a:ext cx="82296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Relative geometry is the trick.  </a:t>
            </a:r>
            <a:endParaRPr sz="1150" b="0" i="0" u="none" strike="noStrike" cap="none">
              <a:solidFill>
                <a:schemeClr val="dk1"/>
              </a:solidFill>
              <a:latin typeface="Calibri"/>
              <a:ea typeface="Calibri"/>
              <a:cs typeface="Calibri"/>
              <a:sym typeface="Calibri"/>
            </a:endParaRPr>
          </a:p>
        </p:txBody>
      </p:sp>
      <p:sp>
        <p:nvSpPr>
          <p:cNvPr id="629" name="Google Shape;629;p19"/>
          <p:cNvSpPr/>
          <p:nvPr/>
        </p:nvSpPr>
        <p:spPr>
          <a:xfrm>
            <a:off x="786384" y="3200400"/>
            <a:ext cx="8046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50"/>
              <a:buFont typeface="Calibri"/>
              <a:buNone/>
            </a:pPr>
            <a:r>
              <a:rPr lang="en-US" sz="950" b="0" i="0" u="none" strike="noStrike" cap="none">
                <a:solidFill>
                  <a:srgbClr val="9DB0CC"/>
                </a:solidFill>
                <a:latin typeface="Calibri"/>
                <a:ea typeface="Calibri"/>
                <a:cs typeface="Calibri"/>
                <a:sym typeface="Calibri"/>
              </a:rPr>
              <a:t>BackTree exploits stable distance/angle patterns between gaze points, not fragile absolute positions.</a:t>
            </a:r>
            <a:endParaRPr sz="950" b="0" i="0" u="none" strike="noStrike" cap="none">
              <a:solidFill>
                <a:schemeClr val="dk1"/>
              </a:solidFill>
              <a:latin typeface="Calibri"/>
              <a:ea typeface="Calibri"/>
              <a:cs typeface="Calibri"/>
              <a:sym typeface="Calibri"/>
            </a:endParaRPr>
          </a:p>
        </p:txBody>
      </p:sp>
      <p:sp>
        <p:nvSpPr>
          <p:cNvPr id="630" name="Google Shape;630;p19"/>
          <p:cNvSpPr/>
          <p:nvPr/>
        </p:nvSpPr>
        <p:spPr>
          <a:xfrm>
            <a:off x="320040" y="3584448"/>
            <a:ext cx="347472" cy="347472"/>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9"/>
          <p:cNvSpPr/>
          <p:nvPr/>
        </p:nvSpPr>
        <p:spPr>
          <a:xfrm>
            <a:off x="320040" y="3584448"/>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1200"/>
              <a:buFont typeface="Calibri"/>
              <a:buNone/>
            </a:pPr>
            <a:r>
              <a:rPr lang="en-US" sz="1200" b="1" i="0" u="none" strike="noStrike" cap="none">
                <a:solidFill>
                  <a:srgbClr val="0E1726"/>
                </a:solidFill>
                <a:latin typeface="Calibri"/>
                <a:ea typeface="Calibri"/>
                <a:cs typeface="Calibri"/>
                <a:sym typeface="Calibri"/>
              </a:rPr>
              <a:t>4</a:t>
            </a:r>
            <a:endParaRPr sz="1200" b="0" i="0" u="none" strike="noStrike" cap="none">
              <a:solidFill>
                <a:schemeClr val="dk1"/>
              </a:solidFill>
              <a:latin typeface="Calibri"/>
              <a:ea typeface="Calibri"/>
              <a:cs typeface="Calibri"/>
              <a:sym typeface="Calibri"/>
            </a:endParaRPr>
          </a:p>
        </p:txBody>
      </p:sp>
      <p:sp>
        <p:nvSpPr>
          <p:cNvPr id="632" name="Google Shape;632;p19"/>
          <p:cNvSpPr/>
          <p:nvPr/>
        </p:nvSpPr>
        <p:spPr>
          <a:xfrm>
            <a:off x="786384" y="3602736"/>
            <a:ext cx="82296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Users can poison the attack (RQ4).  </a:t>
            </a:r>
            <a:endParaRPr sz="1150" b="0" i="0" u="none" strike="noStrike" cap="none">
              <a:solidFill>
                <a:schemeClr val="dk1"/>
              </a:solidFill>
              <a:latin typeface="Calibri"/>
              <a:ea typeface="Calibri"/>
              <a:cs typeface="Calibri"/>
              <a:sym typeface="Calibri"/>
            </a:endParaRPr>
          </a:p>
        </p:txBody>
      </p:sp>
      <p:sp>
        <p:nvSpPr>
          <p:cNvPr id="633" name="Google Shape;633;p19"/>
          <p:cNvSpPr/>
          <p:nvPr/>
        </p:nvSpPr>
        <p:spPr>
          <a:xfrm>
            <a:off x="786384" y="3822192"/>
            <a:ext cx="8046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50"/>
              <a:buFont typeface="Calibri"/>
              <a:buNone/>
            </a:pPr>
            <a:r>
              <a:rPr lang="en-US" sz="950" b="0" i="0" u="none" strike="noStrike" cap="none">
                <a:solidFill>
                  <a:srgbClr val="9DB0CC"/>
                </a:solidFill>
                <a:latin typeface="Calibri"/>
                <a:ea typeface="Calibri"/>
                <a:cs typeface="Calibri"/>
                <a:sym typeface="Calibri"/>
              </a:rPr>
              <a:t>Decoy Chaffing — deliberately decoupling gaze from keystrokes — collapses BackTree accuracy to ~8% with zero OS changes needed.</a:t>
            </a:r>
            <a:endParaRPr sz="950" b="0" i="0" u="none" strike="noStrike" cap="none">
              <a:solidFill>
                <a:schemeClr val="dk1"/>
              </a:solidFill>
              <a:latin typeface="Calibri"/>
              <a:ea typeface="Calibri"/>
              <a:cs typeface="Calibri"/>
              <a:sym typeface="Calibri"/>
            </a:endParaRPr>
          </a:p>
        </p:txBody>
      </p:sp>
      <p:sp>
        <p:nvSpPr>
          <p:cNvPr id="634" name="Google Shape;634;p19"/>
          <p:cNvSpPr/>
          <p:nvPr/>
        </p:nvSpPr>
        <p:spPr>
          <a:xfrm>
            <a:off x="320040" y="4206240"/>
            <a:ext cx="347472" cy="347472"/>
          </a:xfrm>
          <a:prstGeom prst="ellipse">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9"/>
          <p:cNvSpPr/>
          <p:nvPr/>
        </p:nvSpPr>
        <p:spPr>
          <a:xfrm>
            <a:off x="320040" y="420624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E1726"/>
              </a:buClr>
              <a:buSzPts val="1200"/>
              <a:buFont typeface="Calibri"/>
              <a:buNone/>
            </a:pPr>
            <a:r>
              <a:rPr lang="en-US" sz="1200" b="1" i="0" u="none" strike="noStrike" cap="none">
                <a:solidFill>
                  <a:srgbClr val="0E1726"/>
                </a:solidFill>
                <a:latin typeface="Calibri"/>
                <a:ea typeface="Calibri"/>
                <a:cs typeface="Calibri"/>
                <a:sym typeface="Calibri"/>
              </a:rPr>
              <a:t>5</a:t>
            </a:r>
            <a:endParaRPr sz="1200" b="0" i="0" u="none" strike="noStrike" cap="none">
              <a:solidFill>
                <a:schemeClr val="dk1"/>
              </a:solidFill>
              <a:latin typeface="Calibri"/>
              <a:ea typeface="Calibri"/>
              <a:cs typeface="Calibri"/>
              <a:sym typeface="Calibri"/>
            </a:endParaRPr>
          </a:p>
        </p:txBody>
      </p:sp>
      <p:sp>
        <p:nvSpPr>
          <p:cNvPr id="636" name="Google Shape;636;p19"/>
          <p:cNvSpPr/>
          <p:nvPr/>
        </p:nvSpPr>
        <p:spPr>
          <a:xfrm>
            <a:off x="786384" y="4224528"/>
            <a:ext cx="82296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50"/>
              <a:buFont typeface="Calibri"/>
              <a:buNone/>
            </a:pPr>
            <a:r>
              <a:rPr lang="en-US" sz="1150" b="1" i="0" u="none" strike="noStrike" cap="none">
                <a:solidFill>
                  <a:srgbClr val="FFFFFF"/>
                </a:solidFill>
                <a:latin typeface="Calibri"/>
                <a:ea typeface="Calibri"/>
                <a:cs typeface="Calibri"/>
                <a:sym typeface="Calibri"/>
              </a:rPr>
              <a:t>The fix is architectural.  </a:t>
            </a:r>
            <a:endParaRPr sz="1150" b="0" i="0" u="none" strike="noStrike" cap="none">
              <a:solidFill>
                <a:schemeClr val="dk1"/>
              </a:solidFill>
              <a:latin typeface="Calibri"/>
              <a:ea typeface="Calibri"/>
              <a:cs typeface="Calibri"/>
              <a:sym typeface="Calibri"/>
            </a:endParaRPr>
          </a:p>
        </p:txBody>
      </p:sp>
      <p:sp>
        <p:nvSpPr>
          <p:cNvPr id="637" name="Google Shape;637;p19"/>
          <p:cNvSpPr/>
          <p:nvPr/>
        </p:nvSpPr>
        <p:spPr>
          <a:xfrm>
            <a:off x="786384" y="4443984"/>
            <a:ext cx="804672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950"/>
              <a:buFont typeface="Calibri"/>
              <a:buNone/>
            </a:pPr>
            <a:r>
              <a:rPr lang="en-US" sz="950" b="0" i="0" u="none" strike="noStrike" cap="none">
                <a:solidFill>
                  <a:srgbClr val="9DB0CC"/>
                </a:solidFill>
                <a:latin typeface="Calibri"/>
                <a:ea typeface="Calibri"/>
                <a:cs typeface="Calibri"/>
                <a:sym typeface="Calibri"/>
              </a:rPr>
              <a:t>Reclassify and gate background sensor access; the vulnerability lives in the permission model itself.</a:t>
            </a:r>
            <a:endParaRPr sz="950" b="0" i="0" u="none" strike="noStrike" cap="none">
              <a:solidFill>
                <a:schemeClr val="dk1"/>
              </a:solidFill>
              <a:latin typeface="Calibri"/>
              <a:ea typeface="Calibri"/>
              <a:cs typeface="Calibri"/>
              <a:sym typeface="Calibri"/>
            </a:endParaRPr>
          </a:p>
        </p:txBody>
      </p:sp>
      <p:cxnSp>
        <p:nvCxnSpPr>
          <p:cNvPr id="638" name="Google Shape;638;p19"/>
          <p:cNvCxnSpPr/>
          <p:nvPr/>
        </p:nvCxnSpPr>
        <p:spPr>
          <a:xfrm>
            <a:off x="365760" y="4828032"/>
            <a:ext cx="8412480" cy="0"/>
          </a:xfrm>
          <a:prstGeom prst="straightConnector1">
            <a:avLst/>
          </a:prstGeom>
          <a:noFill/>
          <a:ln w="9525" cap="flat" cmpd="sng">
            <a:solidFill>
              <a:srgbClr val="243452"/>
            </a:solidFill>
            <a:prstDash val="solid"/>
            <a:round/>
            <a:headEnd type="none" w="sm" len="sm"/>
            <a:tailEnd type="none" w="sm" len="sm"/>
          </a:ln>
        </p:spPr>
      </p:cxnSp>
      <p:sp>
        <p:nvSpPr>
          <p:cNvPr id="639" name="Google Shape;639;p19"/>
          <p:cNvSpPr/>
          <p:nvPr/>
        </p:nvSpPr>
        <p:spPr>
          <a:xfrm>
            <a:off x="365760" y="4791456"/>
            <a:ext cx="54864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DB0CC"/>
              </a:buClr>
              <a:buSzPts val="800"/>
              <a:buFont typeface="Calibri"/>
              <a:buNone/>
            </a:pPr>
            <a:r>
              <a:rPr lang="en-US" sz="800" b="0" i="0" u="none" strike="noStrike" cap="none">
                <a:solidFill>
                  <a:srgbClr val="9DB0CC"/>
                </a:solidFill>
                <a:latin typeface="Calibri"/>
                <a:ea typeface="Calibri"/>
                <a:cs typeface="Calibri"/>
                <a:sym typeface="Calibri"/>
              </a:rPr>
              <a:t>SNOOPFINGER  ·  Lee &amp; Choi  ·  IEEE S&amp;P 2025</a:t>
            </a:r>
            <a:endParaRPr sz="800" b="0" i="0" u="none" strike="noStrike" cap="none">
              <a:solidFill>
                <a:schemeClr val="dk1"/>
              </a:solidFill>
              <a:latin typeface="Calibri"/>
              <a:ea typeface="Calibri"/>
              <a:cs typeface="Calibri"/>
              <a:sym typeface="Calibri"/>
            </a:endParaRPr>
          </a:p>
        </p:txBody>
      </p:sp>
      <p:sp>
        <p:nvSpPr>
          <p:cNvPr id="640" name="Google Shape;640;p19"/>
          <p:cNvSpPr/>
          <p:nvPr/>
        </p:nvSpPr>
        <p:spPr>
          <a:xfrm>
            <a:off x="5943600" y="4791456"/>
            <a:ext cx="283464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5A623"/>
              </a:buClr>
              <a:buSzPts val="800"/>
              <a:buFont typeface="Calibri"/>
              <a:buNone/>
            </a:pPr>
            <a:r>
              <a:rPr lang="en-US" sz="800" b="0" i="0" u="none" strike="noStrike" cap="none">
                <a:solidFill>
                  <a:srgbClr val="F5A623"/>
                </a:solidFill>
                <a:latin typeface="Calibri"/>
                <a:ea typeface="Calibri"/>
                <a:cs typeface="Calibri"/>
                <a:sym typeface="Calibri"/>
              </a:rPr>
              <a:t>Thank you — questions?</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18"/>
          <p:cNvSpPr/>
          <p:nvPr/>
        </p:nvSpPr>
        <p:spPr>
          <a:xfrm>
            <a:off x="365760" y="201168"/>
            <a:ext cx="8229600" cy="201168"/>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C77F12"/>
              </a:buClr>
              <a:buSzPts val="900"/>
              <a:buFont typeface="Calibri"/>
              <a:buNone/>
            </a:pPr>
            <a:r>
              <a:rPr lang="en-US" sz="900" b="0" i="0" u="none" strike="noStrike" cap="none" dirty="0">
                <a:solidFill>
                  <a:srgbClr val="C77F12"/>
                </a:solidFill>
                <a:latin typeface="Calibri"/>
                <a:ea typeface="Calibri"/>
                <a:cs typeface="Calibri"/>
                <a:sym typeface="Calibri"/>
              </a:rPr>
              <a:t>TEAM CONTRIBUTIONS · §6</a:t>
            </a:r>
            <a:endParaRPr sz="900" b="0" i="0" u="none" strike="noStrike" cap="none" dirty="0">
              <a:solidFill>
                <a:schemeClr val="dk1"/>
              </a:solidFill>
              <a:latin typeface="Calibri"/>
              <a:ea typeface="Calibri"/>
              <a:cs typeface="Calibri"/>
              <a:sym typeface="Calibri"/>
            </a:endParaRPr>
          </a:p>
        </p:txBody>
      </p:sp>
      <p:sp>
        <p:nvSpPr>
          <p:cNvPr id="555" name="Google Shape;555;p18"/>
          <p:cNvSpPr/>
          <p:nvPr/>
        </p:nvSpPr>
        <p:spPr>
          <a:xfrm>
            <a:off x="365760" y="420624"/>
            <a:ext cx="841248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202E"/>
              </a:buClr>
              <a:buSzPts val="2800"/>
              <a:buFont typeface="Calibri"/>
              <a:buNone/>
            </a:pPr>
            <a:r>
              <a:rPr lang="en-US" sz="2400" b="1" i="0" u="none" strike="noStrike" cap="none" dirty="0">
                <a:solidFill>
                  <a:srgbClr val="16202E"/>
                </a:solidFill>
                <a:latin typeface="Calibri"/>
                <a:ea typeface="Calibri"/>
                <a:cs typeface="Calibri"/>
                <a:sym typeface="Calibri"/>
              </a:rPr>
              <a:t>7-Member Team: Responsibilities &amp; Contributions</a:t>
            </a:r>
            <a:endParaRPr sz="2400" b="0" i="0" u="none" strike="noStrike" cap="none" dirty="0">
              <a:solidFill>
                <a:schemeClr val="dk1"/>
              </a:solidFill>
              <a:latin typeface="Calibri"/>
              <a:ea typeface="Calibri"/>
              <a:cs typeface="Calibri"/>
              <a:sym typeface="Calibri"/>
            </a:endParaRPr>
          </a:p>
        </p:txBody>
      </p:sp>
      <p:sp>
        <p:nvSpPr>
          <p:cNvPr id="557" name="Google Shape;557;p18"/>
          <p:cNvSpPr/>
          <p:nvPr/>
        </p:nvSpPr>
        <p:spPr>
          <a:xfrm>
            <a:off x="4572000" y="4903468"/>
            <a:ext cx="4297680" cy="2286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9DB0CC"/>
              </a:buClr>
              <a:buSzPts val="700"/>
              <a:buFont typeface="Calibri"/>
              <a:buNone/>
            </a:pPr>
            <a:r>
              <a:rPr lang="en-US" sz="700" b="0" i="0" u="none" strike="noStrike" cap="none">
                <a:solidFill>
                  <a:srgbClr val="9DB0CC"/>
                </a:solidFill>
                <a:latin typeface="Calibri"/>
                <a:ea typeface="Calibri"/>
                <a:cs typeface="Calibri"/>
                <a:sym typeface="Calibri"/>
              </a:rPr>
              <a:t>SNOOPFINGER  ·  Lee &amp; Choi, IEEE S&amp;P 2025  ·  19</a:t>
            </a:r>
            <a:endParaRPr sz="700" b="0" i="0" u="none" strike="noStrike" cap="none">
              <a:solidFill>
                <a:schemeClr val="dk1"/>
              </a:solidFill>
              <a:latin typeface="Calibri"/>
              <a:ea typeface="Calibri"/>
              <a:cs typeface="Calibri"/>
              <a:sym typeface="Calibri"/>
            </a:endParaRPr>
          </a:p>
        </p:txBody>
      </p:sp>
      <p:sp>
        <p:nvSpPr>
          <p:cNvPr id="558" name="Google Shape;558;p18"/>
          <p:cNvSpPr/>
          <p:nvPr/>
        </p:nvSpPr>
        <p:spPr>
          <a:xfrm>
            <a:off x="320040" y="1115568"/>
            <a:ext cx="2084832" cy="1664208"/>
          </a:xfrm>
          <a:prstGeom prst="roundRect">
            <a:avLst>
              <a:gd name="adj" fmla="val 439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8"/>
          <p:cNvSpPr/>
          <p:nvPr/>
        </p:nvSpPr>
        <p:spPr>
          <a:xfrm>
            <a:off x="1069848" y="1207008"/>
            <a:ext cx="585216"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1200"/>
              <a:buFont typeface="Calibri"/>
              <a:buNone/>
            </a:pPr>
            <a:r>
              <a:rPr lang="en-US" sz="1200" b="1" i="0" u="none" strike="noStrike" cap="none" dirty="0">
                <a:solidFill>
                  <a:srgbClr val="F5A623"/>
                </a:solidFill>
                <a:latin typeface="Calibri"/>
                <a:ea typeface="Calibri"/>
                <a:cs typeface="Calibri"/>
                <a:sym typeface="Calibri"/>
              </a:rPr>
              <a:t>AH</a:t>
            </a:r>
            <a:endParaRPr sz="1200" b="0" i="0" u="none" strike="noStrike" cap="none" dirty="0">
              <a:solidFill>
                <a:schemeClr val="dk1"/>
              </a:solidFill>
              <a:latin typeface="Calibri"/>
              <a:ea typeface="Calibri"/>
              <a:cs typeface="Calibri"/>
              <a:sym typeface="Calibri"/>
            </a:endParaRPr>
          </a:p>
        </p:txBody>
      </p:sp>
      <p:sp>
        <p:nvSpPr>
          <p:cNvPr id="561" name="Google Shape;561;p18"/>
          <p:cNvSpPr/>
          <p:nvPr/>
        </p:nvSpPr>
        <p:spPr>
          <a:xfrm>
            <a:off x="411480" y="1847088"/>
            <a:ext cx="1901952"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900"/>
              <a:buFont typeface="Calibri"/>
              <a:buNone/>
            </a:pPr>
            <a:r>
              <a:rPr lang="en-US" sz="900" b="1" i="0" u="none" strike="noStrike" cap="none">
                <a:solidFill>
                  <a:srgbClr val="16202E"/>
                </a:solidFill>
                <a:latin typeface="Calibri"/>
                <a:ea typeface="Calibri"/>
                <a:cs typeface="Calibri"/>
                <a:sym typeface="Calibri"/>
              </a:rPr>
              <a:t>Atreyee Halder</a:t>
            </a:r>
            <a:endParaRPr sz="900" b="0" i="0" u="none" strike="noStrike" cap="none">
              <a:solidFill>
                <a:schemeClr val="dk1"/>
              </a:solidFill>
              <a:latin typeface="Calibri"/>
              <a:ea typeface="Calibri"/>
              <a:cs typeface="Calibri"/>
              <a:sym typeface="Calibri"/>
            </a:endParaRPr>
          </a:p>
        </p:txBody>
      </p:sp>
      <p:sp>
        <p:nvSpPr>
          <p:cNvPr id="562" name="Google Shape;562;p18"/>
          <p:cNvSpPr/>
          <p:nvPr/>
        </p:nvSpPr>
        <p:spPr>
          <a:xfrm>
            <a:off x="411480" y="2075688"/>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0" i="0" u="none" strike="noStrike" cap="none">
                <a:solidFill>
                  <a:srgbClr val="9DB0CC"/>
                </a:solidFill>
                <a:latin typeface="Calibri"/>
                <a:ea typeface="Calibri"/>
                <a:cs typeface="Calibri"/>
                <a:sym typeface="Calibri"/>
              </a:rPr>
              <a:t>G25AIT2023</a:t>
            </a:r>
            <a:endParaRPr sz="750" b="0" i="0" u="none" strike="noStrike" cap="none">
              <a:solidFill>
                <a:schemeClr val="dk1"/>
              </a:solidFill>
              <a:latin typeface="Calibri"/>
              <a:ea typeface="Calibri"/>
              <a:cs typeface="Calibri"/>
              <a:sym typeface="Calibri"/>
            </a:endParaRPr>
          </a:p>
        </p:txBody>
      </p:sp>
      <p:sp>
        <p:nvSpPr>
          <p:cNvPr id="563" name="Google Shape;563;p18"/>
          <p:cNvSpPr/>
          <p:nvPr/>
        </p:nvSpPr>
        <p:spPr>
          <a:xfrm>
            <a:off x="411480" y="2267712"/>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77F12"/>
              </a:buClr>
              <a:buSzPts val="800"/>
              <a:buFont typeface="Calibri"/>
              <a:buNone/>
            </a:pPr>
            <a:r>
              <a:rPr lang="en-US" sz="800" b="1" i="0" u="none" strike="noStrike" cap="none">
                <a:solidFill>
                  <a:srgbClr val="C77F12"/>
                </a:solidFill>
                <a:latin typeface="Calibri"/>
                <a:ea typeface="Calibri"/>
                <a:cs typeface="Calibri"/>
                <a:sym typeface="Calibri"/>
              </a:rPr>
              <a:t>Executive introduction</a:t>
            </a:r>
            <a:endParaRPr sz="800" b="0" i="0" u="none" strike="noStrike" cap="none">
              <a:solidFill>
                <a:schemeClr val="dk1"/>
              </a:solidFill>
              <a:latin typeface="Calibri"/>
              <a:ea typeface="Calibri"/>
              <a:cs typeface="Calibri"/>
              <a:sym typeface="Calibri"/>
            </a:endParaRPr>
          </a:p>
        </p:txBody>
      </p:sp>
      <p:sp>
        <p:nvSpPr>
          <p:cNvPr id="564" name="Google Shape;564;p18"/>
          <p:cNvSpPr/>
          <p:nvPr/>
        </p:nvSpPr>
        <p:spPr>
          <a:xfrm>
            <a:off x="411480" y="2468880"/>
            <a:ext cx="190195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Project scoping, threat vectors, side-channel overview &amp; literature analysis.</a:t>
            </a:r>
            <a:endParaRPr sz="750" b="0" i="0" u="none" strike="noStrike" cap="none">
              <a:solidFill>
                <a:schemeClr val="dk1"/>
              </a:solidFill>
              <a:latin typeface="Calibri"/>
              <a:ea typeface="Calibri"/>
              <a:cs typeface="Calibri"/>
              <a:sym typeface="Calibri"/>
            </a:endParaRPr>
          </a:p>
        </p:txBody>
      </p:sp>
      <p:sp>
        <p:nvSpPr>
          <p:cNvPr id="565" name="Google Shape;565;p18"/>
          <p:cNvSpPr/>
          <p:nvPr/>
        </p:nvSpPr>
        <p:spPr>
          <a:xfrm>
            <a:off x="2532888" y="1115568"/>
            <a:ext cx="2084832" cy="1664208"/>
          </a:xfrm>
          <a:prstGeom prst="roundRect">
            <a:avLst>
              <a:gd name="adj" fmla="val 439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8"/>
          <p:cNvSpPr/>
          <p:nvPr/>
        </p:nvSpPr>
        <p:spPr>
          <a:xfrm>
            <a:off x="3282696" y="1207008"/>
            <a:ext cx="585216"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CT</a:t>
            </a:r>
            <a:endParaRPr sz="1200" b="0" i="0" u="none" strike="noStrike" cap="none">
              <a:solidFill>
                <a:schemeClr val="dk1"/>
              </a:solidFill>
              <a:latin typeface="Calibri"/>
              <a:ea typeface="Calibri"/>
              <a:cs typeface="Calibri"/>
              <a:sym typeface="Calibri"/>
            </a:endParaRPr>
          </a:p>
        </p:txBody>
      </p:sp>
      <p:sp>
        <p:nvSpPr>
          <p:cNvPr id="568" name="Google Shape;568;p18"/>
          <p:cNvSpPr/>
          <p:nvPr/>
        </p:nvSpPr>
        <p:spPr>
          <a:xfrm>
            <a:off x="2624328" y="1847088"/>
            <a:ext cx="1901952"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900"/>
              <a:buFont typeface="Calibri"/>
              <a:buNone/>
            </a:pPr>
            <a:r>
              <a:rPr lang="en-US" sz="900" b="1" i="0" u="none" strike="noStrike" cap="none">
                <a:solidFill>
                  <a:srgbClr val="16202E"/>
                </a:solidFill>
                <a:latin typeface="Calibri"/>
                <a:ea typeface="Calibri"/>
                <a:cs typeface="Calibri"/>
                <a:sym typeface="Calibri"/>
              </a:rPr>
              <a:t>Charan Tej Peteti</a:t>
            </a:r>
            <a:endParaRPr sz="900" b="0" i="0" u="none" strike="noStrike" cap="none">
              <a:solidFill>
                <a:schemeClr val="dk1"/>
              </a:solidFill>
              <a:latin typeface="Calibri"/>
              <a:ea typeface="Calibri"/>
              <a:cs typeface="Calibri"/>
              <a:sym typeface="Calibri"/>
            </a:endParaRPr>
          </a:p>
        </p:txBody>
      </p:sp>
      <p:sp>
        <p:nvSpPr>
          <p:cNvPr id="569" name="Google Shape;569;p18"/>
          <p:cNvSpPr/>
          <p:nvPr/>
        </p:nvSpPr>
        <p:spPr>
          <a:xfrm>
            <a:off x="2624328" y="2075688"/>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0" i="0" u="none" strike="noStrike" cap="none">
                <a:solidFill>
                  <a:srgbClr val="9DB0CC"/>
                </a:solidFill>
                <a:latin typeface="Calibri"/>
                <a:ea typeface="Calibri"/>
                <a:cs typeface="Calibri"/>
                <a:sym typeface="Calibri"/>
              </a:rPr>
              <a:t>G25AIT2026</a:t>
            </a:r>
            <a:endParaRPr sz="750" b="0" i="0" u="none" strike="noStrike" cap="none">
              <a:solidFill>
                <a:schemeClr val="dk1"/>
              </a:solidFill>
              <a:latin typeface="Calibri"/>
              <a:ea typeface="Calibri"/>
              <a:cs typeface="Calibri"/>
              <a:sym typeface="Calibri"/>
            </a:endParaRPr>
          </a:p>
        </p:txBody>
      </p:sp>
      <p:sp>
        <p:nvSpPr>
          <p:cNvPr id="570" name="Google Shape;570;p18"/>
          <p:cNvSpPr/>
          <p:nvPr/>
        </p:nvSpPr>
        <p:spPr>
          <a:xfrm>
            <a:off x="2624328" y="2267712"/>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77F12"/>
              </a:buClr>
              <a:buSzPts val="800"/>
              <a:buFont typeface="Calibri"/>
              <a:buNone/>
            </a:pPr>
            <a:r>
              <a:rPr lang="en-US" sz="800" b="1" i="0" u="none" strike="noStrike" cap="none">
                <a:solidFill>
                  <a:srgbClr val="C77F12"/>
                </a:solidFill>
                <a:latin typeface="Calibri"/>
                <a:ea typeface="Calibri"/>
                <a:cs typeface="Calibri"/>
                <a:sym typeface="Calibri"/>
              </a:rPr>
              <a:t>Side-channel analysis</a:t>
            </a:r>
            <a:endParaRPr sz="800" b="0" i="0" u="none" strike="noStrike" cap="none">
              <a:solidFill>
                <a:schemeClr val="dk1"/>
              </a:solidFill>
              <a:latin typeface="Calibri"/>
              <a:ea typeface="Calibri"/>
              <a:cs typeface="Calibri"/>
              <a:sym typeface="Calibri"/>
            </a:endParaRPr>
          </a:p>
        </p:txBody>
      </p:sp>
      <p:sp>
        <p:nvSpPr>
          <p:cNvPr id="571" name="Google Shape;571;p18"/>
          <p:cNvSpPr/>
          <p:nvPr/>
        </p:nvSpPr>
        <p:spPr>
          <a:xfrm>
            <a:off x="2624328" y="2468880"/>
            <a:ext cx="190195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Eye-tracking &amp; IMU telemetry capture and cross-modality correlation.</a:t>
            </a:r>
            <a:endParaRPr sz="750" b="0" i="0" u="none" strike="noStrike" cap="none">
              <a:solidFill>
                <a:schemeClr val="dk1"/>
              </a:solidFill>
              <a:latin typeface="Calibri"/>
              <a:ea typeface="Calibri"/>
              <a:cs typeface="Calibri"/>
              <a:sym typeface="Calibri"/>
            </a:endParaRPr>
          </a:p>
        </p:txBody>
      </p:sp>
      <p:sp>
        <p:nvSpPr>
          <p:cNvPr id="572" name="Google Shape;572;p18"/>
          <p:cNvSpPr/>
          <p:nvPr/>
        </p:nvSpPr>
        <p:spPr>
          <a:xfrm>
            <a:off x="4745736" y="1115568"/>
            <a:ext cx="2084832" cy="1664208"/>
          </a:xfrm>
          <a:prstGeom prst="roundRect">
            <a:avLst>
              <a:gd name="adj" fmla="val 439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8"/>
          <p:cNvSpPr/>
          <p:nvPr/>
        </p:nvSpPr>
        <p:spPr>
          <a:xfrm>
            <a:off x="5495544" y="1207008"/>
            <a:ext cx="585216"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DA</a:t>
            </a:r>
            <a:endParaRPr sz="1200" b="0" i="0" u="none" strike="noStrike" cap="none">
              <a:solidFill>
                <a:schemeClr val="dk1"/>
              </a:solidFill>
              <a:latin typeface="Calibri"/>
              <a:ea typeface="Calibri"/>
              <a:cs typeface="Calibri"/>
              <a:sym typeface="Calibri"/>
            </a:endParaRPr>
          </a:p>
        </p:txBody>
      </p:sp>
      <p:sp>
        <p:nvSpPr>
          <p:cNvPr id="575" name="Google Shape;575;p18"/>
          <p:cNvSpPr/>
          <p:nvPr/>
        </p:nvSpPr>
        <p:spPr>
          <a:xfrm>
            <a:off x="4837176" y="1847088"/>
            <a:ext cx="1901952"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900"/>
              <a:buFont typeface="Calibri"/>
              <a:buNone/>
            </a:pPr>
            <a:r>
              <a:rPr lang="en-US" sz="900" b="1" i="0" u="none" strike="noStrike" cap="none">
                <a:solidFill>
                  <a:srgbClr val="16202E"/>
                </a:solidFill>
                <a:latin typeface="Calibri"/>
                <a:ea typeface="Calibri"/>
                <a:cs typeface="Calibri"/>
                <a:sym typeface="Calibri"/>
              </a:rPr>
              <a:t>Duggirala V. Ananth</a:t>
            </a:r>
            <a:endParaRPr sz="900" b="0" i="0" u="none" strike="noStrike" cap="none">
              <a:solidFill>
                <a:schemeClr val="dk1"/>
              </a:solidFill>
              <a:latin typeface="Calibri"/>
              <a:ea typeface="Calibri"/>
              <a:cs typeface="Calibri"/>
              <a:sym typeface="Calibri"/>
            </a:endParaRPr>
          </a:p>
        </p:txBody>
      </p:sp>
      <p:sp>
        <p:nvSpPr>
          <p:cNvPr id="576" name="Google Shape;576;p18"/>
          <p:cNvSpPr/>
          <p:nvPr/>
        </p:nvSpPr>
        <p:spPr>
          <a:xfrm>
            <a:off x="4837176" y="2075688"/>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0" i="0" u="none" strike="noStrike" cap="none">
                <a:solidFill>
                  <a:srgbClr val="9DB0CC"/>
                </a:solidFill>
                <a:latin typeface="Calibri"/>
                <a:ea typeface="Calibri"/>
                <a:cs typeface="Calibri"/>
                <a:sym typeface="Calibri"/>
              </a:rPr>
              <a:t>G25AIT2032</a:t>
            </a:r>
            <a:endParaRPr sz="750" b="0" i="0" u="none" strike="noStrike" cap="none">
              <a:solidFill>
                <a:schemeClr val="dk1"/>
              </a:solidFill>
              <a:latin typeface="Calibri"/>
              <a:ea typeface="Calibri"/>
              <a:cs typeface="Calibri"/>
              <a:sym typeface="Calibri"/>
            </a:endParaRPr>
          </a:p>
        </p:txBody>
      </p:sp>
      <p:sp>
        <p:nvSpPr>
          <p:cNvPr id="577" name="Google Shape;577;p18"/>
          <p:cNvSpPr/>
          <p:nvPr/>
        </p:nvSpPr>
        <p:spPr>
          <a:xfrm>
            <a:off x="4837176" y="2267712"/>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77F12"/>
              </a:buClr>
              <a:buSzPts val="800"/>
              <a:buFont typeface="Calibri"/>
              <a:buNone/>
            </a:pPr>
            <a:r>
              <a:rPr lang="en-US" sz="800" b="1" i="0" u="none" strike="noStrike" cap="none">
                <a:solidFill>
                  <a:srgbClr val="C77F12"/>
                </a:solidFill>
                <a:latin typeface="Calibri"/>
                <a:ea typeface="Calibri"/>
                <a:cs typeface="Calibri"/>
                <a:sym typeface="Calibri"/>
              </a:rPr>
              <a:t>Attack model lead</a:t>
            </a:r>
            <a:endParaRPr sz="800" b="0" i="0" u="none" strike="noStrike" cap="none">
              <a:solidFill>
                <a:schemeClr val="dk1"/>
              </a:solidFill>
              <a:latin typeface="Calibri"/>
              <a:ea typeface="Calibri"/>
              <a:cs typeface="Calibri"/>
              <a:sym typeface="Calibri"/>
            </a:endParaRPr>
          </a:p>
        </p:txBody>
      </p:sp>
      <p:sp>
        <p:nvSpPr>
          <p:cNvPr id="578" name="Google Shape;578;p18"/>
          <p:cNvSpPr/>
          <p:nvPr/>
        </p:nvSpPr>
        <p:spPr>
          <a:xfrm>
            <a:off x="4837176" y="2468880"/>
            <a:ext cx="190195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Gaze coordinate projection, key dwell calculations, &amp; micro-tremor modeling.</a:t>
            </a:r>
            <a:endParaRPr sz="750" b="0" i="0" u="none" strike="noStrike" cap="none">
              <a:solidFill>
                <a:schemeClr val="dk1"/>
              </a:solidFill>
              <a:latin typeface="Calibri"/>
              <a:ea typeface="Calibri"/>
              <a:cs typeface="Calibri"/>
              <a:sym typeface="Calibri"/>
            </a:endParaRPr>
          </a:p>
        </p:txBody>
      </p:sp>
      <p:sp>
        <p:nvSpPr>
          <p:cNvPr id="579" name="Google Shape;579;p18"/>
          <p:cNvSpPr/>
          <p:nvPr/>
        </p:nvSpPr>
        <p:spPr>
          <a:xfrm>
            <a:off x="6958584" y="1115568"/>
            <a:ext cx="2084832" cy="1664208"/>
          </a:xfrm>
          <a:prstGeom prst="roundRect">
            <a:avLst>
              <a:gd name="adj" fmla="val 439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8"/>
          <p:cNvSpPr/>
          <p:nvPr/>
        </p:nvSpPr>
        <p:spPr>
          <a:xfrm>
            <a:off x="7708392" y="1207008"/>
            <a:ext cx="585216"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MS</a:t>
            </a:r>
            <a:endParaRPr sz="1200" b="0" i="0" u="none" strike="noStrike" cap="none">
              <a:solidFill>
                <a:schemeClr val="dk1"/>
              </a:solidFill>
              <a:latin typeface="Calibri"/>
              <a:ea typeface="Calibri"/>
              <a:cs typeface="Calibri"/>
              <a:sym typeface="Calibri"/>
            </a:endParaRPr>
          </a:p>
        </p:txBody>
      </p:sp>
      <p:sp>
        <p:nvSpPr>
          <p:cNvPr id="582" name="Google Shape;582;p18"/>
          <p:cNvSpPr/>
          <p:nvPr/>
        </p:nvSpPr>
        <p:spPr>
          <a:xfrm>
            <a:off x="7050024" y="1847088"/>
            <a:ext cx="1901952"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900"/>
              <a:buFont typeface="Calibri"/>
              <a:buNone/>
            </a:pPr>
            <a:r>
              <a:rPr lang="en-US" sz="900" b="1" i="0" u="none" strike="noStrike" cap="none">
                <a:solidFill>
                  <a:srgbClr val="16202E"/>
                </a:solidFill>
                <a:latin typeface="Calibri"/>
                <a:ea typeface="Calibri"/>
                <a:cs typeface="Calibri"/>
                <a:sym typeface="Calibri"/>
              </a:rPr>
              <a:t>Manish Kumar Singh</a:t>
            </a:r>
            <a:endParaRPr sz="900" b="0" i="0" u="none" strike="noStrike" cap="none">
              <a:solidFill>
                <a:schemeClr val="dk1"/>
              </a:solidFill>
              <a:latin typeface="Calibri"/>
              <a:ea typeface="Calibri"/>
              <a:cs typeface="Calibri"/>
              <a:sym typeface="Calibri"/>
            </a:endParaRPr>
          </a:p>
        </p:txBody>
      </p:sp>
      <p:sp>
        <p:nvSpPr>
          <p:cNvPr id="583" name="Google Shape;583;p18"/>
          <p:cNvSpPr/>
          <p:nvPr/>
        </p:nvSpPr>
        <p:spPr>
          <a:xfrm>
            <a:off x="7050024" y="2075688"/>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0" i="0" u="none" strike="noStrike" cap="none">
                <a:solidFill>
                  <a:srgbClr val="9DB0CC"/>
                </a:solidFill>
                <a:latin typeface="Calibri"/>
                <a:ea typeface="Calibri"/>
                <a:cs typeface="Calibri"/>
                <a:sym typeface="Calibri"/>
              </a:rPr>
              <a:t>G25AIT2059</a:t>
            </a:r>
            <a:endParaRPr sz="750" b="0" i="0" u="none" strike="noStrike" cap="none">
              <a:solidFill>
                <a:schemeClr val="dk1"/>
              </a:solidFill>
              <a:latin typeface="Calibri"/>
              <a:ea typeface="Calibri"/>
              <a:cs typeface="Calibri"/>
              <a:sym typeface="Calibri"/>
            </a:endParaRPr>
          </a:p>
        </p:txBody>
      </p:sp>
      <p:sp>
        <p:nvSpPr>
          <p:cNvPr id="584" name="Google Shape;584;p18"/>
          <p:cNvSpPr/>
          <p:nvPr/>
        </p:nvSpPr>
        <p:spPr>
          <a:xfrm>
            <a:off x="7050024" y="2267712"/>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77F12"/>
              </a:buClr>
              <a:buSzPts val="800"/>
              <a:buFont typeface="Calibri"/>
              <a:buNone/>
            </a:pPr>
            <a:r>
              <a:rPr lang="en-US" sz="800" b="1" i="0" u="none" strike="noStrike" cap="none">
                <a:solidFill>
                  <a:srgbClr val="C77F12"/>
                </a:solidFill>
                <a:latin typeface="Calibri"/>
                <a:ea typeface="Calibri"/>
                <a:cs typeface="Calibri"/>
                <a:sym typeface="Calibri"/>
              </a:rPr>
              <a:t>Attack scenario</a:t>
            </a:r>
            <a:endParaRPr sz="800" b="0" i="0" u="none" strike="noStrike" cap="none">
              <a:solidFill>
                <a:schemeClr val="dk1"/>
              </a:solidFill>
              <a:latin typeface="Calibri"/>
              <a:ea typeface="Calibri"/>
              <a:cs typeface="Calibri"/>
              <a:sym typeface="Calibri"/>
            </a:endParaRPr>
          </a:p>
        </p:txBody>
      </p:sp>
      <p:sp>
        <p:nvSpPr>
          <p:cNvPr id="585" name="Google Shape;585;p18"/>
          <p:cNvSpPr/>
          <p:nvPr/>
        </p:nvSpPr>
        <p:spPr>
          <a:xfrm>
            <a:off x="7050024" y="2468880"/>
            <a:ext cx="190195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Dictionary-search execution, clustering algorithms, &amp; sequence pruning.</a:t>
            </a:r>
            <a:endParaRPr sz="750" b="0" i="0" u="none" strike="noStrike" cap="none">
              <a:solidFill>
                <a:schemeClr val="dk1"/>
              </a:solidFill>
              <a:latin typeface="Calibri"/>
              <a:ea typeface="Calibri"/>
              <a:cs typeface="Calibri"/>
              <a:sym typeface="Calibri"/>
            </a:endParaRPr>
          </a:p>
        </p:txBody>
      </p:sp>
      <p:sp>
        <p:nvSpPr>
          <p:cNvPr id="586" name="Google Shape;586;p18"/>
          <p:cNvSpPr/>
          <p:nvPr/>
        </p:nvSpPr>
        <p:spPr>
          <a:xfrm>
            <a:off x="320040" y="2944368"/>
            <a:ext cx="2084832" cy="1664208"/>
          </a:xfrm>
          <a:prstGeom prst="roundRect">
            <a:avLst>
              <a:gd name="adj" fmla="val 439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8"/>
          <p:cNvSpPr/>
          <p:nvPr/>
        </p:nvSpPr>
        <p:spPr>
          <a:xfrm>
            <a:off x="1069848" y="3035808"/>
            <a:ext cx="585216" cy="585216"/>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8"/>
          <p:cNvSpPr/>
          <p:nvPr/>
        </p:nvSpPr>
        <p:spPr>
          <a:xfrm>
            <a:off x="1069848" y="3035808"/>
            <a:ext cx="585216"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TR</a:t>
            </a:r>
            <a:endParaRPr sz="1200" b="0" i="0" u="none" strike="noStrike" cap="none">
              <a:solidFill>
                <a:schemeClr val="dk1"/>
              </a:solidFill>
              <a:latin typeface="Calibri"/>
              <a:ea typeface="Calibri"/>
              <a:cs typeface="Calibri"/>
              <a:sym typeface="Calibri"/>
            </a:endParaRPr>
          </a:p>
        </p:txBody>
      </p:sp>
      <p:sp>
        <p:nvSpPr>
          <p:cNvPr id="589" name="Google Shape;589;p18"/>
          <p:cNvSpPr/>
          <p:nvPr/>
        </p:nvSpPr>
        <p:spPr>
          <a:xfrm>
            <a:off x="411480" y="3675888"/>
            <a:ext cx="1901952"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900"/>
              <a:buFont typeface="Calibri"/>
              <a:buNone/>
            </a:pPr>
            <a:r>
              <a:rPr lang="en-US" sz="900" b="1" i="0" u="none" strike="noStrike" cap="none">
                <a:solidFill>
                  <a:srgbClr val="16202E"/>
                </a:solidFill>
                <a:latin typeface="Calibri"/>
                <a:ea typeface="Calibri"/>
                <a:cs typeface="Calibri"/>
                <a:sym typeface="Calibri"/>
              </a:rPr>
              <a:t>K. Tejaswini Rajkumar</a:t>
            </a:r>
            <a:endParaRPr sz="900" b="0" i="0" u="none" strike="noStrike" cap="none">
              <a:solidFill>
                <a:schemeClr val="dk1"/>
              </a:solidFill>
              <a:latin typeface="Calibri"/>
              <a:ea typeface="Calibri"/>
              <a:cs typeface="Calibri"/>
              <a:sym typeface="Calibri"/>
            </a:endParaRPr>
          </a:p>
        </p:txBody>
      </p:sp>
      <p:sp>
        <p:nvSpPr>
          <p:cNvPr id="590" name="Google Shape;590;p18"/>
          <p:cNvSpPr/>
          <p:nvPr/>
        </p:nvSpPr>
        <p:spPr>
          <a:xfrm>
            <a:off x="411480" y="3904488"/>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0" i="0" u="none" strike="noStrike" cap="none">
                <a:solidFill>
                  <a:srgbClr val="9DB0CC"/>
                </a:solidFill>
                <a:latin typeface="Calibri"/>
                <a:ea typeface="Calibri"/>
                <a:cs typeface="Calibri"/>
                <a:sym typeface="Calibri"/>
              </a:rPr>
              <a:t>G25AIT2055</a:t>
            </a:r>
            <a:endParaRPr sz="750" b="0" i="0" u="none" strike="noStrike" cap="none">
              <a:solidFill>
                <a:schemeClr val="dk1"/>
              </a:solidFill>
              <a:latin typeface="Calibri"/>
              <a:ea typeface="Calibri"/>
              <a:cs typeface="Calibri"/>
              <a:sym typeface="Calibri"/>
            </a:endParaRPr>
          </a:p>
        </p:txBody>
      </p:sp>
      <p:sp>
        <p:nvSpPr>
          <p:cNvPr id="591" name="Google Shape;591;p18"/>
          <p:cNvSpPr/>
          <p:nvPr/>
        </p:nvSpPr>
        <p:spPr>
          <a:xfrm>
            <a:off x="411480" y="4096512"/>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77F12"/>
              </a:buClr>
              <a:buSzPts val="800"/>
              <a:buFont typeface="Calibri"/>
              <a:buNone/>
            </a:pPr>
            <a:r>
              <a:rPr lang="en-US" sz="800" b="1" i="0" u="none" strike="noStrike" cap="none">
                <a:solidFill>
                  <a:srgbClr val="C77F12"/>
                </a:solidFill>
                <a:latin typeface="Calibri"/>
                <a:ea typeface="Calibri"/>
                <a:cs typeface="Calibri"/>
                <a:sym typeface="Calibri"/>
              </a:rPr>
              <a:t>Lab engineer</a:t>
            </a:r>
            <a:endParaRPr sz="800" b="0" i="0" u="none" strike="noStrike" cap="none">
              <a:solidFill>
                <a:schemeClr val="dk1"/>
              </a:solidFill>
              <a:latin typeface="Calibri"/>
              <a:ea typeface="Calibri"/>
              <a:cs typeface="Calibri"/>
              <a:sym typeface="Calibri"/>
            </a:endParaRPr>
          </a:p>
        </p:txBody>
      </p:sp>
      <p:sp>
        <p:nvSpPr>
          <p:cNvPr id="592" name="Google Shape;592;p18"/>
          <p:cNvSpPr/>
          <p:nvPr/>
        </p:nvSpPr>
        <p:spPr>
          <a:xfrm>
            <a:off x="411480" y="4297680"/>
            <a:ext cx="190195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72Hz VR simulator pipeline setup, active decoy data streams, &amp; coordinate boundaries.</a:t>
            </a:r>
            <a:endParaRPr sz="750" b="0" i="0" u="none" strike="noStrike" cap="none">
              <a:solidFill>
                <a:schemeClr val="dk1"/>
              </a:solidFill>
              <a:latin typeface="Calibri"/>
              <a:ea typeface="Calibri"/>
              <a:cs typeface="Calibri"/>
              <a:sym typeface="Calibri"/>
            </a:endParaRPr>
          </a:p>
        </p:txBody>
      </p:sp>
      <p:sp>
        <p:nvSpPr>
          <p:cNvPr id="593" name="Google Shape;593;p18"/>
          <p:cNvSpPr/>
          <p:nvPr/>
        </p:nvSpPr>
        <p:spPr>
          <a:xfrm>
            <a:off x="2532888" y="2944368"/>
            <a:ext cx="2084832" cy="1664208"/>
          </a:xfrm>
          <a:prstGeom prst="roundRect">
            <a:avLst>
              <a:gd name="adj" fmla="val 439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8"/>
          <p:cNvSpPr/>
          <p:nvPr/>
        </p:nvSpPr>
        <p:spPr>
          <a:xfrm>
            <a:off x="3282696" y="3035808"/>
            <a:ext cx="585216" cy="585216"/>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8"/>
          <p:cNvSpPr/>
          <p:nvPr/>
        </p:nvSpPr>
        <p:spPr>
          <a:xfrm>
            <a:off x="3282696" y="3035808"/>
            <a:ext cx="585216"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RG</a:t>
            </a:r>
            <a:endParaRPr sz="1200" b="0" i="0" u="none" strike="noStrike" cap="none">
              <a:solidFill>
                <a:schemeClr val="dk1"/>
              </a:solidFill>
              <a:latin typeface="Calibri"/>
              <a:ea typeface="Calibri"/>
              <a:cs typeface="Calibri"/>
              <a:sym typeface="Calibri"/>
            </a:endParaRPr>
          </a:p>
        </p:txBody>
      </p:sp>
      <p:sp>
        <p:nvSpPr>
          <p:cNvPr id="596" name="Google Shape;596;p18"/>
          <p:cNvSpPr/>
          <p:nvPr/>
        </p:nvSpPr>
        <p:spPr>
          <a:xfrm>
            <a:off x="2624328" y="3675888"/>
            <a:ext cx="1901952"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900"/>
              <a:buFont typeface="Calibri"/>
              <a:buNone/>
            </a:pPr>
            <a:r>
              <a:rPr lang="en-US" sz="900" b="1" i="0" u="none" strike="noStrike" cap="none">
                <a:solidFill>
                  <a:srgbClr val="16202E"/>
                </a:solidFill>
                <a:latin typeface="Calibri"/>
                <a:ea typeface="Calibri"/>
                <a:cs typeface="Calibri"/>
                <a:sym typeface="Calibri"/>
              </a:rPr>
              <a:t>Rajesh Gopal</a:t>
            </a:r>
            <a:endParaRPr sz="900" b="0" i="0" u="none" strike="noStrike" cap="none">
              <a:solidFill>
                <a:schemeClr val="dk1"/>
              </a:solidFill>
              <a:latin typeface="Calibri"/>
              <a:ea typeface="Calibri"/>
              <a:cs typeface="Calibri"/>
              <a:sym typeface="Calibri"/>
            </a:endParaRPr>
          </a:p>
        </p:txBody>
      </p:sp>
      <p:sp>
        <p:nvSpPr>
          <p:cNvPr id="597" name="Google Shape;597;p18"/>
          <p:cNvSpPr/>
          <p:nvPr/>
        </p:nvSpPr>
        <p:spPr>
          <a:xfrm>
            <a:off x="2624328" y="3904488"/>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0" i="0" u="none" strike="noStrike" cap="none">
                <a:solidFill>
                  <a:srgbClr val="9DB0CC"/>
                </a:solidFill>
                <a:latin typeface="Calibri"/>
                <a:ea typeface="Calibri"/>
                <a:cs typeface="Calibri"/>
                <a:sym typeface="Calibri"/>
              </a:rPr>
              <a:t>G25AIT2080</a:t>
            </a:r>
            <a:endParaRPr sz="750" b="0" i="0" u="none" strike="noStrike" cap="none">
              <a:solidFill>
                <a:schemeClr val="dk1"/>
              </a:solidFill>
              <a:latin typeface="Calibri"/>
              <a:ea typeface="Calibri"/>
              <a:cs typeface="Calibri"/>
              <a:sym typeface="Calibri"/>
            </a:endParaRPr>
          </a:p>
        </p:txBody>
      </p:sp>
      <p:sp>
        <p:nvSpPr>
          <p:cNvPr id="598" name="Google Shape;598;p18"/>
          <p:cNvSpPr/>
          <p:nvPr/>
        </p:nvSpPr>
        <p:spPr>
          <a:xfrm>
            <a:off x="2624328" y="4096512"/>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77F12"/>
              </a:buClr>
              <a:buSzPts val="800"/>
              <a:buFont typeface="Calibri"/>
              <a:buNone/>
            </a:pPr>
            <a:r>
              <a:rPr lang="en-US" sz="800" b="1" i="0" u="none" strike="noStrike" cap="none">
                <a:solidFill>
                  <a:srgbClr val="C77F12"/>
                </a:solidFill>
                <a:latin typeface="Calibri"/>
                <a:ea typeface="Calibri"/>
                <a:cs typeface="Calibri"/>
                <a:sym typeface="Calibri"/>
              </a:rPr>
              <a:t>Detection engineer</a:t>
            </a:r>
            <a:endParaRPr sz="800" b="0" i="0" u="none" strike="noStrike" cap="none">
              <a:solidFill>
                <a:schemeClr val="dk1"/>
              </a:solidFill>
              <a:latin typeface="Calibri"/>
              <a:ea typeface="Calibri"/>
              <a:cs typeface="Calibri"/>
              <a:sym typeface="Calibri"/>
            </a:endParaRPr>
          </a:p>
        </p:txBody>
      </p:sp>
      <p:sp>
        <p:nvSpPr>
          <p:cNvPr id="599" name="Google Shape;599;p18"/>
          <p:cNvSpPr/>
          <p:nvPr/>
        </p:nvSpPr>
        <p:spPr>
          <a:xfrm>
            <a:off x="2624328" y="4297680"/>
            <a:ext cx="190195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CASOM v2 middleware, context-aware MUX broker, &amp; socket interception.</a:t>
            </a:r>
            <a:endParaRPr sz="750" b="0" i="0" u="none" strike="noStrike" cap="none">
              <a:solidFill>
                <a:schemeClr val="dk1"/>
              </a:solidFill>
              <a:latin typeface="Calibri"/>
              <a:ea typeface="Calibri"/>
              <a:cs typeface="Calibri"/>
              <a:sym typeface="Calibri"/>
            </a:endParaRPr>
          </a:p>
        </p:txBody>
      </p:sp>
      <p:sp>
        <p:nvSpPr>
          <p:cNvPr id="600" name="Google Shape;600;p18"/>
          <p:cNvSpPr/>
          <p:nvPr/>
        </p:nvSpPr>
        <p:spPr>
          <a:xfrm>
            <a:off x="4745736" y="2944368"/>
            <a:ext cx="2084832" cy="1664208"/>
          </a:xfrm>
          <a:prstGeom prst="roundRect">
            <a:avLst>
              <a:gd name="adj" fmla="val 4396"/>
            </a:avLst>
          </a:prstGeom>
          <a:solidFill>
            <a:srgbClr val="F2F5FA"/>
          </a:solidFill>
          <a:ln w="9525" cap="flat" cmpd="sng">
            <a:solidFill>
              <a:srgbClr val="E2E8F2"/>
            </a:solidFill>
            <a:prstDash val="solid"/>
            <a:round/>
            <a:headEnd type="none" w="sm" len="sm"/>
            <a:tailEnd type="none" w="sm" len="sm"/>
          </a:ln>
          <a:effectLst>
            <a:outerShdw blurRad="101600" dist="25400" dir="27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8"/>
          <p:cNvSpPr/>
          <p:nvPr/>
        </p:nvSpPr>
        <p:spPr>
          <a:xfrm>
            <a:off x="5495544" y="3035808"/>
            <a:ext cx="585216" cy="585216"/>
          </a:xfrm>
          <a:prstGeom prst="ellipse">
            <a:avLst/>
          </a:prstGeom>
          <a:solidFill>
            <a:srgbClr val="16202E"/>
          </a:solidFill>
          <a:ln w="12700" cap="flat" cmpd="sng">
            <a:solidFill>
              <a:srgbClr val="C77F1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8"/>
          <p:cNvSpPr/>
          <p:nvPr/>
        </p:nvSpPr>
        <p:spPr>
          <a:xfrm>
            <a:off x="5495544" y="3035808"/>
            <a:ext cx="585216"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PN</a:t>
            </a:r>
            <a:endParaRPr sz="1200" b="0" i="0" u="none" strike="noStrike" cap="none">
              <a:solidFill>
                <a:schemeClr val="dk1"/>
              </a:solidFill>
              <a:latin typeface="Calibri"/>
              <a:ea typeface="Calibri"/>
              <a:cs typeface="Calibri"/>
              <a:sym typeface="Calibri"/>
            </a:endParaRPr>
          </a:p>
        </p:txBody>
      </p:sp>
      <p:sp>
        <p:nvSpPr>
          <p:cNvPr id="603" name="Google Shape;603;p18"/>
          <p:cNvSpPr/>
          <p:nvPr/>
        </p:nvSpPr>
        <p:spPr>
          <a:xfrm>
            <a:off x="4837176" y="3675888"/>
            <a:ext cx="1901952"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6202E"/>
              </a:buClr>
              <a:buSzPts val="900"/>
              <a:buFont typeface="Calibri"/>
              <a:buNone/>
            </a:pPr>
            <a:r>
              <a:rPr lang="en-US" sz="900" b="1" i="0" u="none" strike="noStrike" cap="none">
                <a:solidFill>
                  <a:srgbClr val="16202E"/>
                </a:solidFill>
                <a:latin typeface="Calibri"/>
                <a:ea typeface="Calibri"/>
                <a:cs typeface="Calibri"/>
                <a:sym typeface="Calibri"/>
              </a:rPr>
              <a:t>Patel Nikunjkumar</a:t>
            </a:r>
            <a:endParaRPr sz="900" b="0" i="0" u="none" strike="noStrike" cap="none">
              <a:solidFill>
                <a:schemeClr val="dk1"/>
              </a:solidFill>
              <a:latin typeface="Calibri"/>
              <a:ea typeface="Calibri"/>
              <a:cs typeface="Calibri"/>
              <a:sym typeface="Calibri"/>
            </a:endParaRPr>
          </a:p>
        </p:txBody>
      </p:sp>
      <p:sp>
        <p:nvSpPr>
          <p:cNvPr id="604" name="Google Shape;604;p18"/>
          <p:cNvSpPr/>
          <p:nvPr/>
        </p:nvSpPr>
        <p:spPr>
          <a:xfrm>
            <a:off x="4837176" y="3904488"/>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DB0CC"/>
              </a:buClr>
              <a:buSzPts val="750"/>
              <a:buFont typeface="Calibri"/>
              <a:buNone/>
            </a:pPr>
            <a:r>
              <a:rPr lang="en-US" sz="750" b="0" i="0" u="none" strike="noStrike" cap="none">
                <a:solidFill>
                  <a:srgbClr val="9DB0CC"/>
                </a:solidFill>
                <a:latin typeface="Calibri"/>
                <a:ea typeface="Calibri"/>
                <a:cs typeface="Calibri"/>
                <a:sym typeface="Calibri"/>
              </a:rPr>
              <a:t>G25AIT2072</a:t>
            </a:r>
            <a:endParaRPr sz="750" b="0" i="0" u="none" strike="noStrike" cap="none">
              <a:solidFill>
                <a:schemeClr val="dk1"/>
              </a:solidFill>
              <a:latin typeface="Calibri"/>
              <a:ea typeface="Calibri"/>
              <a:cs typeface="Calibri"/>
              <a:sym typeface="Calibri"/>
            </a:endParaRPr>
          </a:p>
        </p:txBody>
      </p:sp>
      <p:sp>
        <p:nvSpPr>
          <p:cNvPr id="605" name="Google Shape;605;p18"/>
          <p:cNvSpPr/>
          <p:nvPr/>
        </p:nvSpPr>
        <p:spPr>
          <a:xfrm>
            <a:off x="4837176" y="4096512"/>
            <a:ext cx="1901952" cy="182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77F12"/>
              </a:buClr>
              <a:buSzPts val="800"/>
              <a:buFont typeface="Calibri"/>
              <a:buNone/>
            </a:pPr>
            <a:r>
              <a:rPr lang="en-US" sz="800" b="1" i="0" u="none" strike="noStrike" cap="none">
                <a:solidFill>
                  <a:srgbClr val="C77F12"/>
                </a:solidFill>
                <a:latin typeface="Calibri"/>
                <a:ea typeface="Calibri"/>
                <a:cs typeface="Calibri"/>
                <a:sym typeface="Calibri"/>
              </a:rPr>
              <a:t>Defence lead</a:t>
            </a:r>
            <a:endParaRPr sz="800" b="0" i="0" u="none" strike="noStrike" cap="none">
              <a:solidFill>
                <a:schemeClr val="dk1"/>
              </a:solidFill>
              <a:latin typeface="Calibri"/>
              <a:ea typeface="Calibri"/>
              <a:cs typeface="Calibri"/>
              <a:sym typeface="Calibri"/>
            </a:endParaRPr>
          </a:p>
        </p:txBody>
      </p:sp>
      <p:sp>
        <p:nvSpPr>
          <p:cNvPr id="606" name="Google Shape;606;p18"/>
          <p:cNvSpPr/>
          <p:nvPr/>
        </p:nvSpPr>
        <p:spPr>
          <a:xfrm>
            <a:off x="4837176" y="4297680"/>
            <a:ext cx="1901952"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C6B82"/>
              </a:buClr>
              <a:buSzPts val="750"/>
              <a:buFont typeface="Calibri"/>
              <a:buNone/>
            </a:pPr>
            <a:r>
              <a:rPr lang="en-US" sz="750" b="0" i="0" u="none" strike="noStrike" cap="none">
                <a:solidFill>
                  <a:srgbClr val="5C6B82"/>
                </a:solidFill>
                <a:latin typeface="Calibri"/>
                <a:ea typeface="Calibri"/>
                <a:cs typeface="Calibri"/>
                <a:sym typeface="Calibri"/>
              </a:rPr>
              <a:t>Block offset validation, benchmark suites, &amp; decoy-chaffing evasion tests.</a:t>
            </a:r>
            <a:endParaRPr sz="750" b="0" i="0" u="none" strike="noStrike" cap="none">
              <a:solidFill>
                <a:schemeClr val="dk1"/>
              </a:solidFill>
              <a:latin typeface="Calibri"/>
              <a:ea typeface="Calibri"/>
              <a:cs typeface="Calibri"/>
              <a:sym typeface="Calibri"/>
            </a:endParaRPr>
          </a:p>
        </p:txBody>
      </p:sp>
      <p:pic>
        <p:nvPicPr>
          <p:cNvPr id="2" name="Google Shape;118;g3eb754e4d5b_11_0" descr="/mnt/user-data/uploads/Atreyee.jpeg">
            <a:extLst>
              <a:ext uri="{FF2B5EF4-FFF2-40B4-BE49-F238E27FC236}">
                <a16:creationId xmlns:a16="http://schemas.microsoft.com/office/drawing/2014/main" id="{4507C64A-6265-14EA-BED7-EC5EC6981F9B}"/>
              </a:ext>
            </a:extLst>
          </p:cNvPr>
          <p:cNvPicPr preferRelativeResize="0"/>
          <p:nvPr/>
        </p:nvPicPr>
        <p:blipFill rotWithShape="1">
          <a:blip r:embed="rId3">
            <a:alphaModFix/>
          </a:blip>
          <a:srcRect/>
          <a:stretch/>
        </p:blipFill>
        <p:spPr>
          <a:xfrm>
            <a:off x="983637" y="1146045"/>
            <a:ext cx="749808" cy="749808"/>
          </a:xfrm>
          <a:prstGeom prst="ellipse">
            <a:avLst/>
          </a:prstGeom>
          <a:noFill/>
          <a:ln>
            <a:noFill/>
          </a:ln>
        </p:spPr>
      </p:pic>
      <p:pic>
        <p:nvPicPr>
          <p:cNvPr id="3" name="Google Shape;128;g3eb754e4d5b_11_0" descr="/mnt/user-data/uploads/CharanTej.jpeg">
            <a:extLst>
              <a:ext uri="{FF2B5EF4-FFF2-40B4-BE49-F238E27FC236}">
                <a16:creationId xmlns:a16="http://schemas.microsoft.com/office/drawing/2014/main" id="{CCFE1A37-2AA1-D689-72E3-1A0795595B50}"/>
              </a:ext>
            </a:extLst>
          </p:cNvPr>
          <p:cNvPicPr preferRelativeResize="0"/>
          <p:nvPr/>
        </p:nvPicPr>
        <p:blipFill rotWithShape="1">
          <a:blip r:embed="rId4">
            <a:alphaModFix/>
          </a:blip>
          <a:srcRect/>
          <a:stretch/>
        </p:blipFill>
        <p:spPr>
          <a:xfrm>
            <a:off x="3213903" y="1146045"/>
            <a:ext cx="749808" cy="749808"/>
          </a:xfrm>
          <a:prstGeom prst="ellipse">
            <a:avLst/>
          </a:prstGeom>
          <a:noFill/>
          <a:ln>
            <a:noFill/>
          </a:ln>
        </p:spPr>
      </p:pic>
      <p:pic>
        <p:nvPicPr>
          <p:cNvPr id="4" name="Google Shape;138;g3eb754e4d5b_11_0" descr="/mnt/user-data/uploads/Ananth.jpeg">
            <a:extLst>
              <a:ext uri="{FF2B5EF4-FFF2-40B4-BE49-F238E27FC236}">
                <a16:creationId xmlns:a16="http://schemas.microsoft.com/office/drawing/2014/main" id="{B5A079F5-F197-D365-9D6D-99ABE42F636D}"/>
              </a:ext>
            </a:extLst>
          </p:cNvPr>
          <p:cNvPicPr preferRelativeResize="0"/>
          <p:nvPr/>
        </p:nvPicPr>
        <p:blipFill rotWithShape="1">
          <a:blip r:embed="rId5">
            <a:alphaModFix/>
          </a:blip>
          <a:srcRect/>
          <a:stretch/>
        </p:blipFill>
        <p:spPr>
          <a:xfrm>
            <a:off x="5418042" y="1146045"/>
            <a:ext cx="749808" cy="749808"/>
          </a:xfrm>
          <a:prstGeom prst="ellipse">
            <a:avLst/>
          </a:prstGeom>
          <a:noFill/>
          <a:ln>
            <a:noFill/>
          </a:ln>
        </p:spPr>
      </p:pic>
      <p:pic>
        <p:nvPicPr>
          <p:cNvPr id="5" name="Google Shape;148;g3eb754e4d5b_11_0" descr="/mnt/user-data/uploads/Manish.jpeg">
            <a:extLst>
              <a:ext uri="{FF2B5EF4-FFF2-40B4-BE49-F238E27FC236}">
                <a16:creationId xmlns:a16="http://schemas.microsoft.com/office/drawing/2014/main" id="{213C1906-E9FD-FFE7-2A32-789317D1C172}"/>
              </a:ext>
            </a:extLst>
          </p:cNvPr>
          <p:cNvPicPr preferRelativeResize="0"/>
          <p:nvPr/>
        </p:nvPicPr>
        <p:blipFill rotWithShape="1">
          <a:blip r:embed="rId6">
            <a:alphaModFix/>
          </a:blip>
          <a:srcRect/>
          <a:stretch/>
        </p:blipFill>
        <p:spPr>
          <a:xfrm>
            <a:off x="7630890" y="1146045"/>
            <a:ext cx="749808" cy="749808"/>
          </a:xfrm>
          <a:prstGeom prst="ellipse">
            <a:avLst/>
          </a:prstGeom>
          <a:noFill/>
          <a:ln>
            <a:noFill/>
          </a:ln>
        </p:spPr>
      </p:pic>
      <p:pic>
        <p:nvPicPr>
          <p:cNvPr id="6" name="Google Shape;168;g3eb754e4d5b_11_0" descr="/mnt/user-data/uploads/Rajesh.jpeg">
            <a:extLst>
              <a:ext uri="{FF2B5EF4-FFF2-40B4-BE49-F238E27FC236}">
                <a16:creationId xmlns:a16="http://schemas.microsoft.com/office/drawing/2014/main" id="{4445636F-C0E4-A262-2E59-741C349AC606}"/>
              </a:ext>
            </a:extLst>
          </p:cNvPr>
          <p:cNvPicPr preferRelativeResize="0"/>
          <p:nvPr/>
        </p:nvPicPr>
        <p:blipFill rotWithShape="1">
          <a:blip r:embed="rId7">
            <a:alphaModFix/>
          </a:blip>
          <a:srcRect/>
          <a:stretch/>
        </p:blipFill>
        <p:spPr>
          <a:xfrm>
            <a:off x="3189950" y="2971800"/>
            <a:ext cx="749808" cy="749808"/>
          </a:xfrm>
          <a:prstGeom prst="ellipse">
            <a:avLst/>
          </a:prstGeom>
          <a:noFill/>
          <a:ln>
            <a:noFill/>
          </a:ln>
        </p:spPr>
      </p:pic>
      <p:pic>
        <p:nvPicPr>
          <p:cNvPr id="7" name="Google Shape;158;g3eb754e4d5b_11_0" descr="/mnt/user-data/uploads/Tejaswini.jpeg">
            <a:extLst>
              <a:ext uri="{FF2B5EF4-FFF2-40B4-BE49-F238E27FC236}">
                <a16:creationId xmlns:a16="http://schemas.microsoft.com/office/drawing/2014/main" id="{8EFAD661-0E5F-711C-6CBA-CCAD6AB3BF05}"/>
              </a:ext>
            </a:extLst>
          </p:cNvPr>
          <p:cNvPicPr preferRelativeResize="0"/>
          <p:nvPr/>
        </p:nvPicPr>
        <p:blipFill rotWithShape="1">
          <a:blip r:embed="rId8">
            <a:alphaModFix/>
          </a:blip>
          <a:srcRect/>
          <a:stretch/>
        </p:blipFill>
        <p:spPr>
          <a:xfrm>
            <a:off x="983637" y="2971800"/>
            <a:ext cx="749808" cy="749808"/>
          </a:xfrm>
          <a:prstGeom prst="ellipse">
            <a:avLst/>
          </a:prstGeom>
          <a:noFill/>
          <a:ln>
            <a:noFill/>
          </a:ln>
        </p:spPr>
      </p:pic>
      <p:pic>
        <p:nvPicPr>
          <p:cNvPr id="8" name="Google Shape;178;g3eb754e4d5b_11_0" descr="/mnt/user-data/uploads/Nikunj.jpeg">
            <a:extLst>
              <a:ext uri="{FF2B5EF4-FFF2-40B4-BE49-F238E27FC236}">
                <a16:creationId xmlns:a16="http://schemas.microsoft.com/office/drawing/2014/main" id="{CEE81E9D-01B9-8FF8-2CB8-08579F126611}"/>
              </a:ext>
            </a:extLst>
          </p:cNvPr>
          <p:cNvPicPr preferRelativeResize="0"/>
          <p:nvPr/>
        </p:nvPicPr>
        <p:blipFill rotWithShape="1">
          <a:blip r:embed="rId9">
            <a:alphaModFix/>
          </a:blip>
          <a:srcRect/>
          <a:stretch/>
        </p:blipFill>
        <p:spPr>
          <a:xfrm>
            <a:off x="5413248" y="2971800"/>
            <a:ext cx="749808" cy="749808"/>
          </a:xfrm>
          <a:prstGeom prst="ellipse">
            <a:avLst/>
          </a:prstGeom>
          <a:noFill/>
          <a:ln>
            <a:noFill/>
          </a:ln>
        </p:spPr>
      </p:pic>
    </p:spTree>
    <p:extLst>
      <p:ext uri="{BB962C8B-B14F-4D97-AF65-F5344CB8AC3E}">
        <p14:creationId xmlns:p14="http://schemas.microsoft.com/office/powerpoint/2010/main" val="356345826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3992</Words>
  <Application>Microsoft Office PowerPoint</Application>
  <PresentationFormat>On-screen Show (16:9)</PresentationFormat>
  <Paragraphs>518</Paragraphs>
  <Slides>20</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Nikunj Patel</dc:creator>
  <cp:lastModifiedBy>Nikunj Patel</cp:lastModifiedBy>
  <cp:revision>13</cp:revision>
  <dcterms:modified xsi:type="dcterms:W3CDTF">2026-07-02T02:27:41Z</dcterms:modified>
</cp:coreProperties>
</file>